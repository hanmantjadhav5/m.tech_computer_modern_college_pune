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69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58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26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32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19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73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49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215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61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65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4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DF1B1-59F7-42DC-B519-44B41968118A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86E00-FD64-41E0-86B4-0BD23FF885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71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977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Meaning of Interpretation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 smtClean="0"/>
              <a:t>Meaning of Interpretation</a:t>
            </a:r>
          </a:p>
          <a:p>
            <a:pPr algn="just"/>
            <a:r>
              <a:rPr lang="en-US" sz="3200" b="1" dirty="0" smtClean="0"/>
              <a:t>Definition</a:t>
            </a:r>
            <a:r>
              <a:rPr lang="en-US" sz="3200" dirty="0" smtClean="0"/>
              <a:t>: Interpretation is the process of explaining the meaning of research findings and drawing conclusions based on the data analysis.</a:t>
            </a:r>
          </a:p>
          <a:p>
            <a:pPr algn="just"/>
            <a:r>
              <a:rPr lang="en-US" sz="3200" b="1" dirty="0" smtClean="0"/>
              <a:t>Purpose</a:t>
            </a:r>
            <a:r>
              <a:rPr lang="en-US" sz="3200" dirty="0" smtClean="0"/>
              <a:t>: Bridges the gap between data analysis and decision-making by contextualizing results.</a:t>
            </a:r>
          </a:p>
          <a:p>
            <a:pPr algn="just"/>
            <a:r>
              <a:rPr lang="en-US" sz="3200" b="1" dirty="0" smtClean="0"/>
              <a:t>Outcome</a:t>
            </a:r>
            <a:r>
              <a:rPr lang="en-US" sz="3200" dirty="0" smtClean="0"/>
              <a:t>: Provides actionable insights and supports informed decision-making.</a:t>
            </a:r>
          </a:p>
          <a:p>
            <a:pPr marL="0" indent="0" algn="just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3223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 smtClean="0"/>
              <a:t>Need for Interpretation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 smtClean="0"/>
              <a:t>Understanding Implications</a:t>
            </a:r>
            <a:r>
              <a:rPr lang="en-US" sz="3200" dirty="0" smtClean="0"/>
              <a:t>: To comprehend the broader significance of research findings.</a:t>
            </a:r>
          </a:p>
          <a:p>
            <a:pPr algn="just"/>
            <a:r>
              <a:rPr lang="en-US" sz="3200" b="1" dirty="0" smtClean="0"/>
              <a:t>Guiding Decisions</a:t>
            </a:r>
            <a:r>
              <a:rPr lang="en-US" sz="3200" dirty="0" smtClean="0"/>
              <a:t>: Helps policymakers, businesses, or researchers make informed decisions.</a:t>
            </a:r>
          </a:p>
          <a:p>
            <a:pPr algn="just"/>
            <a:r>
              <a:rPr lang="en-US" sz="3200" b="1" dirty="0" smtClean="0"/>
              <a:t>Validation of Hypotheses</a:t>
            </a:r>
            <a:r>
              <a:rPr lang="en-US" sz="3200" dirty="0" smtClean="0"/>
              <a:t>: Confirms whether the research objectives have been met.</a:t>
            </a:r>
          </a:p>
          <a:p>
            <a:pPr algn="just"/>
            <a:r>
              <a:rPr lang="en-US" sz="3200" b="1" dirty="0" smtClean="0"/>
              <a:t>Avoiding Misconceptions</a:t>
            </a:r>
            <a:r>
              <a:rPr lang="en-US" sz="3200" dirty="0" smtClean="0"/>
              <a:t>: Clarifies ambiguous or complex results for accurate understanding.</a:t>
            </a:r>
          </a:p>
          <a:p>
            <a:pPr marL="0" indent="0" algn="just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0211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943"/>
            <a:ext cx="10515600" cy="781287"/>
          </a:xfrm>
        </p:spPr>
        <p:txBody>
          <a:bodyPr>
            <a:normAutofit/>
          </a:bodyPr>
          <a:lstStyle/>
          <a:p>
            <a:pPr algn="ctr"/>
            <a:r>
              <a:rPr lang="en-IN" sz="3600" dirty="0" smtClean="0"/>
              <a:t>Techniques of Interpretation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319" y="822230"/>
            <a:ext cx="11245756" cy="5354733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/>
              <a:t>Comparison with Objectives</a:t>
            </a:r>
            <a:endParaRPr lang="en-US" sz="2400" dirty="0" smtClean="0"/>
          </a:p>
          <a:p>
            <a:pPr lvl="1" algn="just"/>
            <a:r>
              <a:rPr lang="en-US" dirty="0" smtClean="0"/>
              <a:t>Check if findings align with research questions or hypotheses.</a:t>
            </a:r>
          </a:p>
          <a:p>
            <a:pPr algn="just"/>
            <a:r>
              <a:rPr lang="en-US" sz="2400" b="1" dirty="0" smtClean="0"/>
              <a:t>Contextual Analysis</a:t>
            </a:r>
            <a:endParaRPr lang="en-US" sz="2400" dirty="0" smtClean="0"/>
          </a:p>
          <a:p>
            <a:pPr lvl="1" algn="just"/>
            <a:r>
              <a:rPr lang="en-US" dirty="0" smtClean="0"/>
              <a:t>Relate findings to theoretical frameworks, previous research, or practical scenarios.</a:t>
            </a:r>
          </a:p>
          <a:p>
            <a:pPr algn="just"/>
            <a:r>
              <a:rPr lang="en-US" sz="2400" b="1" dirty="0" smtClean="0"/>
              <a:t>Trend Analysis</a:t>
            </a:r>
            <a:endParaRPr lang="en-US" sz="2400" dirty="0" smtClean="0"/>
          </a:p>
          <a:p>
            <a:pPr lvl="1" algn="just"/>
            <a:r>
              <a:rPr lang="en-US" dirty="0" smtClean="0"/>
              <a:t>Examine patterns or trends in the data to derive conclusions.</a:t>
            </a:r>
          </a:p>
          <a:p>
            <a:pPr algn="just"/>
            <a:r>
              <a:rPr lang="en-US" sz="2400" b="1" dirty="0" smtClean="0"/>
              <a:t>Correlation and Causation</a:t>
            </a:r>
            <a:endParaRPr lang="en-US" sz="2400" dirty="0" smtClean="0"/>
          </a:p>
          <a:p>
            <a:pPr lvl="1" algn="just"/>
            <a:r>
              <a:rPr lang="en-US" dirty="0" smtClean="0"/>
              <a:t>Identify relationships but distinguish between correlation and causation.</a:t>
            </a:r>
          </a:p>
          <a:p>
            <a:pPr algn="just"/>
            <a:r>
              <a:rPr lang="en-US" sz="2400" b="1" dirty="0" smtClean="0"/>
              <a:t>Data Visualization</a:t>
            </a:r>
            <a:endParaRPr lang="en-US" sz="2400" dirty="0" smtClean="0"/>
          </a:p>
          <a:p>
            <a:pPr lvl="1" algn="just"/>
            <a:r>
              <a:rPr lang="en-US" dirty="0" smtClean="0"/>
              <a:t>Use charts, graphs, and </a:t>
            </a:r>
            <a:r>
              <a:rPr lang="en-US" dirty="0" err="1" smtClean="0"/>
              <a:t>infographics</a:t>
            </a:r>
            <a:r>
              <a:rPr lang="en-US" dirty="0" smtClean="0"/>
              <a:t> to enhance understanding.</a:t>
            </a:r>
          </a:p>
          <a:p>
            <a:pPr algn="just"/>
            <a:r>
              <a:rPr lang="en-US" sz="2400" b="1" dirty="0" smtClean="0"/>
              <a:t>Qualitative Narratives</a:t>
            </a:r>
            <a:endParaRPr lang="en-US" sz="2400" dirty="0" smtClean="0"/>
          </a:p>
          <a:p>
            <a:pPr lvl="1" algn="just"/>
            <a:r>
              <a:rPr lang="en-US" dirty="0" smtClean="0"/>
              <a:t>Analyze and interpret non-numerical data through content or thematic analysis.</a:t>
            </a: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3403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221" y="201352"/>
            <a:ext cx="10515600" cy="79493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Precautions in Interpretation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785" y="1160060"/>
            <a:ext cx="11450472" cy="529533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Avoid Bias</a:t>
            </a:r>
            <a:endParaRPr lang="en-US" dirty="0" smtClean="0"/>
          </a:p>
          <a:p>
            <a:pPr lvl="1" algn="just"/>
            <a:r>
              <a:rPr lang="en-US" dirty="0" smtClean="0"/>
              <a:t>Remain objective and avoid personal or confirmation biases.</a:t>
            </a:r>
          </a:p>
          <a:p>
            <a:pPr algn="just"/>
            <a:r>
              <a:rPr lang="en-US" b="1" dirty="0" smtClean="0"/>
              <a:t>Do Not Overgeneralize</a:t>
            </a:r>
            <a:endParaRPr lang="en-US" dirty="0" smtClean="0"/>
          </a:p>
          <a:p>
            <a:pPr lvl="1" algn="just"/>
            <a:r>
              <a:rPr lang="en-US" dirty="0" smtClean="0"/>
              <a:t>Limit conclusions to the scope of the data and research sample.</a:t>
            </a:r>
          </a:p>
          <a:p>
            <a:pPr algn="just"/>
            <a:r>
              <a:rPr lang="en-US" b="1" dirty="0" smtClean="0"/>
              <a:t>Ensure Data Accuracy</a:t>
            </a:r>
            <a:endParaRPr lang="en-US" dirty="0" smtClean="0"/>
          </a:p>
          <a:p>
            <a:pPr lvl="1" algn="just"/>
            <a:r>
              <a:rPr lang="en-US" dirty="0" smtClean="0"/>
              <a:t>Cross-check data analysis methods to ensure validity and reliability.</a:t>
            </a:r>
          </a:p>
          <a:p>
            <a:pPr algn="just"/>
            <a:r>
              <a:rPr lang="en-US" b="1" dirty="0" smtClean="0"/>
              <a:t>Acknowledge Limitations</a:t>
            </a:r>
            <a:endParaRPr lang="en-US" dirty="0" smtClean="0"/>
          </a:p>
          <a:p>
            <a:pPr lvl="1" algn="just"/>
            <a:r>
              <a:rPr lang="en-US" dirty="0" smtClean="0"/>
              <a:t>Clearly state any research constraints or limitations.</a:t>
            </a:r>
          </a:p>
          <a:p>
            <a:pPr algn="just"/>
            <a:r>
              <a:rPr lang="en-US" b="1" dirty="0" smtClean="0"/>
              <a:t>Maintain Ethical Standards</a:t>
            </a:r>
            <a:endParaRPr lang="en-US" dirty="0" smtClean="0"/>
          </a:p>
          <a:p>
            <a:pPr lvl="1" algn="just"/>
            <a:r>
              <a:rPr lang="en-US" dirty="0" smtClean="0"/>
              <a:t>Avoid manipulating results to fit desired outcomes.</a:t>
            </a:r>
          </a:p>
          <a:p>
            <a:pPr algn="just"/>
            <a:r>
              <a:rPr lang="en-US" b="1" dirty="0" smtClean="0"/>
              <a:t>Be Clear and Concise</a:t>
            </a:r>
            <a:endParaRPr lang="en-US" dirty="0" smtClean="0"/>
          </a:p>
          <a:p>
            <a:pPr lvl="1" algn="just"/>
            <a:r>
              <a:rPr lang="en-US" dirty="0" smtClean="0"/>
              <a:t>Use simple language and logical reasoning for clarity.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51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5817"/>
            <a:ext cx="10515600" cy="753991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Linear 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4525"/>
            <a:ext cx="10515600" cy="5112438"/>
          </a:xfrm>
        </p:spPr>
        <p:txBody>
          <a:bodyPr/>
          <a:lstStyle/>
          <a:p>
            <a:pPr algn="just"/>
            <a:r>
              <a:rPr lang="en-US" b="1" dirty="0" smtClean="0"/>
              <a:t>Definition of Regression</a:t>
            </a:r>
          </a:p>
          <a:p>
            <a:pPr algn="just"/>
            <a:r>
              <a:rPr lang="en-US" b="1" dirty="0" smtClean="0"/>
              <a:t>Regression</a:t>
            </a:r>
            <a:r>
              <a:rPr lang="en-US" dirty="0" smtClean="0"/>
              <a:t>: A statistical method used to model and analyze relationships between dependent and independent variables.</a:t>
            </a:r>
          </a:p>
          <a:p>
            <a:pPr algn="just"/>
            <a:r>
              <a:rPr lang="en-US" b="1" dirty="0" smtClean="0"/>
              <a:t>Purpose</a:t>
            </a:r>
            <a:r>
              <a:rPr lang="en-US" dirty="0" smtClean="0"/>
              <a:t>: To predict the value of one variable based on the value(s) of others.</a:t>
            </a:r>
          </a:p>
          <a:p>
            <a:pPr algn="just"/>
            <a:r>
              <a:rPr lang="en-US" b="1" dirty="0" smtClean="0"/>
              <a:t>Types</a:t>
            </a:r>
            <a:r>
              <a:rPr lang="en-US" dirty="0" smtClean="0"/>
              <a:t>: Linear regression (straight-line relationship) and non-linear regression (curved relationships).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05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0501"/>
            <a:ext cx="10515600" cy="5576462"/>
          </a:xfrm>
        </p:spPr>
        <p:txBody>
          <a:bodyPr>
            <a:noAutofit/>
          </a:bodyPr>
          <a:lstStyle/>
          <a:p>
            <a:pPr algn="just"/>
            <a:r>
              <a:rPr lang="en-US" sz="3600" b="1" dirty="0" smtClean="0"/>
              <a:t>Purpose and Use of Regression</a:t>
            </a:r>
          </a:p>
          <a:p>
            <a:pPr algn="just"/>
            <a:r>
              <a:rPr lang="en-US" sz="3600" b="1" dirty="0" smtClean="0"/>
              <a:t>Purpose</a:t>
            </a:r>
            <a:r>
              <a:rPr lang="en-US" sz="3600" dirty="0" smtClean="0"/>
              <a:t>:</a:t>
            </a:r>
          </a:p>
          <a:p>
            <a:pPr lvl="1" algn="just"/>
            <a:r>
              <a:rPr lang="en-US" sz="3600" dirty="0" smtClean="0"/>
              <a:t>Predict outcomes (dependent variable) based on predictors (independent variables).</a:t>
            </a:r>
          </a:p>
          <a:p>
            <a:pPr lvl="1" algn="just"/>
            <a:r>
              <a:rPr lang="en-US" sz="3600" dirty="0" smtClean="0"/>
              <a:t>Understand the relationship between variables.</a:t>
            </a:r>
          </a:p>
          <a:p>
            <a:pPr algn="just"/>
            <a:r>
              <a:rPr lang="en-US" sz="3600" b="1" dirty="0" smtClean="0"/>
              <a:t>Applications</a:t>
            </a:r>
            <a:r>
              <a:rPr lang="en-US" sz="3600" dirty="0" smtClean="0"/>
              <a:t>:</a:t>
            </a:r>
          </a:p>
          <a:p>
            <a:pPr lvl="1" algn="just"/>
            <a:r>
              <a:rPr lang="en-US" sz="3600" b="1" dirty="0" smtClean="0"/>
              <a:t>Business</a:t>
            </a:r>
            <a:r>
              <a:rPr lang="en-US" sz="3600" dirty="0" smtClean="0"/>
              <a:t>: Sales forecasting, cost estimation.</a:t>
            </a:r>
          </a:p>
          <a:p>
            <a:pPr lvl="1" algn="just"/>
            <a:r>
              <a:rPr lang="en-US" sz="3600" b="1" dirty="0" smtClean="0"/>
              <a:t>Science</a:t>
            </a:r>
            <a:r>
              <a:rPr lang="en-US" sz="3600" dirty="0" smtClean="0"/>
              <a:t>: Analyzing experimental data.</a:t>
            </a:r>
          </a:p>
          <a:p>
            <a:pPr lvl="1" algn="just"/>
            <a:r>
              <a:rPr lang="en-US" sz="3600" b="1" dirty="0" smtClean="0"/>
              <a:t>Social Sciences</a:t>
            </a:r>
            <a:r>
              <a:rPr lang="en-US" sz="3600" dirty="0" smtClean="0"/>
              <a:t>: Understanding demographic influences.</a:t>
            </a:r>
          </a:p>
          <a:p>
            <a:pPr algn="just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6462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6036"/>
            <a:ext cx="10515600" cy="5480927"/>
          </a:xfrm>
        </p:spPr>
        <p:txBody>
          <a:bodyPr>
            <a:normAutofit/>
          </a:bodyPr>
          <a:lstStyle/>
          <a:p>
            <a:pPr algn="just"/>
            <a:r>
              <a:rPr lang="en-IN" sz="3200" b="1" dirty="0" smtClean="0"/>
              <a:t>Linear Regression</a:t>
            </a:r>
          </a:p>
          <a:p>
            <a:pPr algn="just"/>
            <a:r>
              <a:rPr lang="en-IN" sz="3200" b="1" dirty="0" smtClean="0"/>
              <a:t>Definition</a:t>
            </a:r>
            <a:r>
              <a:rPr lang="en-IN" sz="3200" dirty="0" smtClean="0"/>
              <a:t>: Models the relationship between two variables (simple linear regression) or multiple variables (multiple linear regression) using a straight line.</a:t>
            </a:r>
          </a:p>
          <a:p>
            <a:pPr algn="just"/>
            <a:r>
              <a:rPr lang="en-IN" sz="3200" b="1" dirty="0" smtClean="0"/>
              <a:t>Equation</a:t>
            </a:r>
            <a:r>
              <a:rPr lang="en-IN" sz="3200" dirty="0" smtClean="0"/>
              <a:t>: Y=</a:t>
            </a:r>
            <a:r>
              <a:rPr lang="en-IN" sz="3200" dirty="0" err="1" smtClean="0"/>
              <a:t>a+bX+eY</a:t>
            </a:r>
            <a:r>
              <a:rPr lang="en-IN" sz="3200" dirty="0" smtClean="0"/>
              <a:t> = a + </a:t>
            </a:r>
            <a:r>
              <a:rPr lang="en-IN" sz="3200" dirty="0" err="1" smtClean="0"/>
              <a:t>bX</a:t>
            </a:r>
            <a:r>
              <a:rPr lang="en-IN" sz="3200" dirty="0" smtClean="0"/>
              <a:t> + </a:t>
            </a:r>
            <a:r>
              <a:rPr lang="en-IN" sz="3200" dirty="0" err="1" smtClean="0"/>
              <a:t>eY</a:t>
            </a:r>
            <a:r>
              <a:rPr lang="en-IN" sz="3200" dirty="0" smtClean="0"/>
              <a:t>=</a:t>
            </a:r>
            <a:r>
              <a:rPr lang="en-IN" sz="3200" dirty="0" err="1" smtClean="0"/>
              <a:t>a+bX+e</a:t>
            </a:r>
            <a:r>
              <a:rPr lang="en-IN" sz="3200" dirty="0" smtClean="0"/>
              <a:t> Where:</a:t>
            </a:r>
          </a:p>
          <a:p>
            <a:pPr lvl="1" algn="just"/>
            <a:r>
              <a:rPr lang="en-IN" sz="3200" dirty="0" smtClean="0"/>
              <a:t>YYY: Dependent variable</a:t>
            </a:r>
          </a:p>
          <a:p>
            <a:pPr lvl="1" algn="just"/>
            <a:r>
              <a:rPr lang="en-IN" sz="3200" dirty="0" err="1" smtClean="0"/>
              <a:t>aaa</a:t>
            </a:r>
            <a:r>
              <a:rPr lang="en-IN" sz="3200" dirty="0" smtClean="0"/>
              <a:t>: Intercept (constant)</a:t>
            </a:r>
          </a:p>
          <a:p>
            <a:pPr lvl="1" algn="just"/>
            <a:r>
              <a:rPr lang="en-IN" sz="3200" dirty="0" err="1" smtClean="0"/>
              <a:t>bbb</a:t>
            </a:r>
            <a:r>
              <a:rPr lang="en-IN" sz="3200" dirty="0" smtClean="0"/>
              <a:t>: Regression coefficient (slope)</a:t>
            </a:r>
          </a:p>
          <a:p>
            <a:pPr lvl="1" algn="just"/>
            <a:r>
              <a:rPr lang="en-IN" sz="3200" dirty="0" smtClean="0"/>
              <a:t>XXX: Independent variable</a:t>
            </a:r>
          </a:p>
          <a:p>
            <a:pPr lvl="1" algn="just"/>
            <a:r>
              <a:rPr lang="en-IN" sz="3200" dirty="0" err="1" smtClean="0"/>
              <a:t>eee</a:t>
            </a:r>
            <a:r>
              <a:rPr lang="en-IN" sz="3200" dirty="0" smtClean="0"/>
              <a:t>: Error term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71227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4149"/>
            <a:ext cx="10515600" cy="5562814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 smtClean="0"/>
              <a:t>Interpretation of Regression Coefficient</a:t>
            </a:r>
          </a:p>
          <a:p>
            <a:pPr algn="just"/>
            <a:r>
              <a:rPr lang="en-US" sz="3600" b="1" dirty="0" smtClean="0"/>
              <a:t>Slope (</a:t>
            </a:r>
            <a:r>
              <a:rPr lang="en-US" sz="3600" b="1" dirty="0" err="1" smtClean="0"/>
              <a:t>bbb</a:t>
            </a:r>
            <a:r>
              <a:rPr lang="en-US" sz="3600" b="1" dirty="0" smtClean="0"/>
              <a:t>)</a:t>
            </a:r>
            <a:r>
              <a:rPr lang="en-US" sz="3600" dirty="0" smtClean="0"/>
              <a:t>: Indicates the change in YYY for a one-unit change in XXX.</a:t>
            </a:r>
          </a:p>
          <a:p>
            <a:pPr lvl="1" algn="just"/>
            <a:r>
              <a:rPr lang="en-US" sz="3600" dirty="0" smtClean="0"/>
              <a:t>Positive: YYY increases with XXX.</a:t>
            </a:r>
          </a:p>
          <a:p>
            <a:pPr lvl="1" algn="just"/>
            <a:r>
              <a:rPr lang="en-US" sz="3600" dirty="0" smtClean="0"/>
              <a:t>Negative: YYY decreases with XXX.</a:t>
            </a:r>
          </a:p>
          <a:p>
            <a:pPr algn="just"/>
            <a:r>
              <a:rPr lang="en-US" sz="3600" b="1" dirty="0" smtClean="0"/>
              <a:t>Intercept (</a:t>
            </a:r>
            <a:r>
              <a:rPr lang="en-US" sz="3600" b="1" dirty="0" err="1" smtClean="0"/>
              <a:t>aaa</a:t>
            </a:r>
            <a:r>
              <a:rPr lang="en-US" sz="3600" b="1" dirty="0" smtClean="0"/>
              <a:t>)</a:t>
            </a:r>
            <a:r>
              <a:rPr lang="en-US" sz="3600" dirty="0" smtClean="0"/>
              <a:t>: Value of YYY when X=0X = 0X=0.</a:t>
            </a:r>
          </a:p>
          <a:p>
            <a:pPr algn="just"/>
            <a:r>
              <a:rPr lang="en-US" sz="3600" b="1" dirty="0" smtClean="0"/>
              <a:t>Significance Testing</a:t>
            </a:r>
            <a:r>
              <a:rPr lang="en-US" sz="3600" dirty="0" smtClean="0"/>
              <a:t>: Assesses whether coefficients are significantly different from zero.</a:t>
            </a:r>
          </a:p>
          <a:p>
            <a:pPr marL="0" indent="0" algn="just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8829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0627"/>
            <a:ext cx="10515600" cy="5426336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/>
              <a:t>Regression Analysis</a:t>
            </a:r>
          </a:p>
          <a:p>
            <a:pPr algn="just"/>
            <a:r>
              <a:rPr lang="en-US" sz="3200" b="1" dirty="0" smtClean="0"/>
              <a:t>Steps</a:t>
            </a:r>
            <a:r>
              <a:rPr lang="en-US" sz="3200" dirty="0" smtClean="0"/>
              <a:t>:</a:t>
            </a:r>
          </a:p>
          <a:p>
            <a:pPr lvl="1" algn="just"/>
            <a:r>
              <a:rPr lang="en-US" sz="3200" dirty="0" smtClean="0"/>
              <a:t>Define the dependent and independent variables.</a:t>
            </a:r>
          </a:p>
          <a:p>
            <a:pPr lvl="1" algn="just"/>
            <a:r>
              <a:rPr lang="en-US" sz="3200" dirty="0" smtClean="0"/>
              <a:t>Collect and prepare data.</a:t>
            </a:r>
          </a:p>
          <a:p>
            <a:pPr lvl="1" algn="just"/>
            <a:r>
              <a:rPr lang="en-US" sz="3200" dirty="0" smtClean="0"/>
              <a:t>Fit the regression model.</a:t>
            </a:r>
          </a:p>
          <a:p>
            <a:pPr lvl="1" algn="just"/>
            <a:r>
              <a:rPr lang="en-US" sz="3200" dirty="0" smtClean="0"/>
              <a:t>Evaluate the model using R-squared, p-values, and residuals.</a:t>
            </a:r>
          </a:p>
          <a:p>
            <a:pPr lvl="1" algn="just"/>
            <a:r>
              <a:rPr lang="en-US" sz="3200" dirty="0" smtClean="0"/>
              <a:t>Interpret the results.</a:t>
            </a:r>
          </a:p>
          <a:p>
            <a:pPr marL="0" indent="0" algn="just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07374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9684"/>
            <a:ext cx="10515600" cy="5467279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/>
              <a:t>Curve Fitting and Developing Correlation</a:t>
            </a:r>
          </a:p>
          <a:p>
            <a:pPr algn="just"/>
            <a:r>
              <a:rPr lang="en-US" sz="3200" b="1" dirty="0" smtClean="0"/>
              <a:t>Curve Fitting</a:t>
            </a:r>
            <a:r>
              <a:rPr lang="en-US" sz="3200" dirty="0" smtClean="0"/>
              <a:t>:</a:t>
            </a:r>
          </a:p>
          <a:p>
            <a:pPr lvl="1" algn="just"/>
            <a:r>
              <a:rPr lang="en-US" sz="3200" dirty="0" smtClean="0"/>
              <a:t>Process of finding the best-fit curve to represent the relationship between variables.</a:t>
            </a:r>
          </a:p>
          <a:p>
            <a:pPr lvl="1" algn="just"/>
            <a:r>
              <a:rPr lang="en-US" sz="3200" dirty="0" smtClean="0"/>
              <a:t>Techniques include least squares method and polynomial regression.</a:t>
            </a:r>
          </a:p>
          <a:p>
            <a:pPr algn="just"/>
            <a:r>
              <a:rPr lang="en-US" sz="3200" b="1" dirty="0" smtClean="0"/>
              <a:t>Correlation</a:t>
            </a:r>
            <a:r>
              <a:rPr lang="en-US" sz="3200" dirty="0" smtClean="0"/>
              <a:t>:</a:t>
            </a:r>
          </a:p>
          <a:p>
            <a:pPr lvl="1" algn="just"/>
            <a:r>
              <a:rPr lang="en-US" sz="3200" dirty="0" smtClean="0"/>
              <a:t>Measures the strength and direction of a linear relationship between variables (Pearson's </a:t>
            </a:r>
            <a:r>
              <a:rPr lang="en-US" sz="3200" dirty="0" err="1" smtClean="0"/>
              <a:t>rrr</a:t>
            </a:r>
            <a:r>
              <a:rPr lang="en-US" sz="3200" dirty="0" smtClean="0"/>
              <a:t>).</a:t>
            </a:r>
          </a:p>
          <a:p>
            <a:pPr lvl="1" algn="just"/>
            <a:r>
              <a:rPr lang="en-US" sz="3200" dirty="0" smtClean="0"/>
              <a:t>Regression complements correlation by quantifying the relationship.</a:t>
            </a:r>
          </a:p>
          <a:p>
            <a:pPr marL="0" indent="0" algn="just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41486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algn="just"/>
            <a:r>
              <a:rPr lang="en-IN" sz="3600" b="1" dirty="0" smtClean="0"/>
              <a:t>Parameter Estimation</a:t>
            </a:r>
          </a:p>
          <a:p>
            <a:pPr algn="just"/>
            <a:r>
              <a:rPr lang="en-IN" sz="3600" b="1" dirty="0" smtClean="0"/>
              <a:t>Definition</a:t>
            </a:r>
            <a:r>
              <a:rPr lang="en-IN" sz="3600" dirty="0" smtClean="0"/>
              <a:t>: Determining the values of regression coefficients (</a:t>
            </a:r>
            <a:r>
              <a:rPr lang="en-IN" sz="3600" dirty="0" err="1" smtClean="0"/>
              <a:t>aaa</a:t>
            </a:r>
            <a:r>
              <a:rPr lang="en-IN" sz="3600" dirty="0" smtClean="0"/>
              <a:t> and </a:t>
            </a:r>
            <a:r>
              <a:rPr lang="en-IN" sz="3600" dirty="0" err="1" smtClean="0"/>
              <a:t>bbb</a:t>
            </a:r>
            <a:r>
              <a:rPr lang="en-IN" sz="3600" dirty="0" smtClean="0"/>
              <a:t>) that minimize the error term (</a:t>
            </a:r>
            <a:r>
              <a:rPr lang="en-IN" sz="3600" dirty="0" err="1" smtClean="0"/>
              <a:t>eee</a:t>
            </a:r>
            <a:r>
              <a:rPr lang="en-IN" sz="3600" dirty="0" smtClean="0"/>
              <a:t>).</a:t>
            </a:r>
          </a:p>
          <a:p>
            <a:pPr algn="just"/>
            <a:r>
              <a:rPr lang="en-IN" sz="3600" b="1" dirty="0" smtClean="0"/>
              <a:t>Methods</a:t>
            </a:r>
            <a:r>
              <a:rPr lang="en-IN" sz="3600" dirty="0" smtClean="0"/>
              <a:t>:</a:t>
            </a:r>
          </a:p>
          <a:p>
            <a:pPr lvl="1" algn="just"/>
            <a:r>
              <a:rPr lang="en-IN" sz="3600" dirty="0" smtClean="0"/>
              <a:t>Least Squares Method: Minimizes the sum of squared residuals.</a:t>
            </a:r>
          </a:p>
          <a:p>
            <a:pPr lvl="1" algn="just"/>
            <a:r>
              <a:rPr lang="en-IN" sz="3600" dirty="0" smtClean="0"/>
              <a:t>Maximum Likelihood Estimation (MLE): Optimizes probability-based models.</a:t>
            </a:r>
          </a:p>
          <a:p>
            <a:pPr marL="0" indent="0" algn="just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21401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6161"/>
            <a:ext cx="10515600" cy="5330802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/>
              <a:t>Multivariate Statistics</a:t>
            </a:r>
          </a:p>
          <a:p>
            <a:pPr algn="just"/>
            <a:r>
              <a:rPr lang="en-US" sz="3200" b="1" dirty="0" smtClean="0"/>
              <a:t>Definition</a:t>
            </a:r>
            <a:r>
              <a:rPr lang="en-US" sz="3200" dirty="0" smtClean="0"/>
              <a:t>: Statistical methods involving multiple dependent and/or independent variables.</a:t>
            </a:r>
          </a:p>
          <a:p>
            <a:pPr algn="just"/>
            <a:r>
              <a:rPr lang="en-US" sz="3200" b="1" dirty="0" smtClean="0"/>
              <a:t>Examples in Regression</a:t>
            </a:r>
            <a:r>
              <a:rPr lang="en-US" sz="3200" dirty="0" smtClean="0"/>
              <a:t>:</a:t>
            </a:r>
          </a:p>
          <a:p>
            <a:pPr lvl="1" algn="just"/>
            <a:r>
              <a:rPr lang="en-US" sz="3200" dirty="0" smtClean="0"/>
              <a:t>Multiple Linear Regression: More than one independent variable.</a:t>
            </a:r>
          </a:p>
          <a:p>
            <a:pPr lvl="1" algn="just"/>
            <a:r>
              <a:rPr lang="en-US" sz="3200" dirty="0" smtClean="0"/>
              <a:t>Multivariate Regression: Predicts multiple dependent variables.</a:t>
            </a:r>
          </a:p>
          <a:p>
            <a:pPr marL="0" indent="0" algn="just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22163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596" y="747451"/>
            <a:ext cx="11008057" cy="5475927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 smtClean="0"/>
              <a:t>Moments and Response Curve Methods</a:t>
            </a:r>
          </a:p>
          <a:p>
            <a:pPr algn="just"/>
            <a:r>
              <a:rPr lang="en-US" sz="3200" b="1" dirty="0" smtClean="0"/>
              <a:t>Moments</a:t>
            </a:r>
            <a:r>
              <a:rPr lang="en-US" sz="3200" dirty="0" smtClean="0"/>
              <a:t>:</a:t>
            </a:r>
          </a:p>
          <a:p>
            <a:pPr lvl="1" algn="just"/>
            <a:r>
              <a:rPr lang="en-US" sz="3200" dirty="0" smtClean="0"/>
              <a:t>Used in curve fitting to determine characteristics like mean and variance.</a:t>
            </a:r>
          </a:p>
          <a:p>
            <a:pPr lvl="1" algn="just"/>
            <a:r>
              <a:rPr lang="en-US" sz="3200" dirty="0" smtClean="0"/>
              <a:t>Higher moments (e.g., </a:t>
            </a:r>
            <a:r>
              <a:rPr lang="en-US" sz="3200" dirty="0" err="1" smtClean="0"/>
              <a:t>skewness</a:t>
            </a:r>
            <a:r>
              <a:rPr lang="en-US" sz="3200" dirty="0" smtClean="0"/>
              <a:t>, kurtosis) provide insights into data distribution.</a:t>
            </a:r>
          </a:p>
          <a:p>
            <a:pPr algn="just"/>
            <a:r>
              <a:rPr lang="en-US" sz="3200" b="1" dirty="0" smtClean="0"/>
              <a:t>Response Curve Methods</a:t>
            </a:r>
            <a:r>
              <a:rPr lang="en-US" sz="3200" dirty="0" smtClean="0"/>
              <a:t>:</a:t>
            </a:r>
          </a:p>
          <a:p>
            <a:pPr lvl="1" algn="just"/>
            <a:r>
              <a:rPr lang="en-US" sz="3200" dirty="0" smtClean="0"/>
              <a:t>Analyzes how the dependent variable responds to changes in predictors.</a:t>
            </a:r>
          </a:p>
          <a:p>
            <a:pPr lvl="1" algn="just"/>
            <a:r>
              <a:rPr lang="en-US" sz="3200" dirty="0" smtClean="0"/>
              <a:t>Common in experimental and biological sciences.</a:t>
            </a:r>
          </a:p>
          <a:p>
            <a:pPr marL="0" indent="0" algn="just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27910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5343"/>
            <a:ext cx="10515600" cy="522162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/>
              <a:t>Linear regression is a powerful tool for predicting outcomes, understanding relationships, and making data-driven decisions in diverse fields.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3408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739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Meaning of Interpretation</vt:lpstr>
      <vt:lpstr>Need for Interpretation</vt:lpstr>
      <vt:lpstr>Techniques of Interpretation</vt:lpstr>
      <vt:lpstr>Precautions in Interpretation</vt:lpstr>
      <vt:lpstr>Linear Regression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Meaning of Interpretation</dc:title>
  <dc:creator>Choudaki, Deepali</dc:creator>
  <cp:lastModifiedBy>Choudaki, Deepali</cp:lastModifiedBy>
  <cp:revision>5</cp:revision>
  <dcterms:created xsi:type="dcterms:W3CDTF">2024-12-13T12:10:14Z</dcterms:created>
  <dcterms:modified xsi:type="dcterms:W3CDTF">2024-12-13T12:23:21Z</dcterms:modified>
</cp:coreProperties>
</file>