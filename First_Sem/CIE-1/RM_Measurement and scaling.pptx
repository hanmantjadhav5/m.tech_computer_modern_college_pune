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Lst>
  <p:sldSz cy="6858000" cx="9144000"/>
  <p:notesSz cx="6858000" cy="9144000"/>
  <p:embeddedFontLst>
    <p:embeddedFont>
      <p:font typeface="Roboto"/>
      <p:regular r:id="rId38"/>
      <p:bold r:id="rId39"/>
      <p:italic r:id="rId40"/>
      <p:boldItalic r:id="rId41"/>
    </p:embeddedFont>
    <p:embeddedFont>
      <p:font typeface="Courgette"/>
      <p:regular r:id="rId42"/>
    </p:embeddedFont>
    <p:embeddedFont>
      <p:font typeface="Gill Sans"/>
      <p:regular r:id="rId43"/>
      <p:bold r:id="rId4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Roboto-italic.fntdata"/><Relationship Id="rId20" Type="http://schemas.openxmlformats.org/officeDocument/2006/relationships/slide" Target="slides/slide15.xml"/><Relationship Id="rId42" Type="http://schemas.openxmlformats.org/officeDocument/2006/relationships/font" Target="fonts/Courgette-regular.fntdata"/><Relationship Id="rId41" Type="http://schemas.openxmlformats.org/officeDocument/2006/relationships/font" Target="fonts/Roboto-boldItalic.fntdata"/><Relationship Id="rId22" Type="http://schemas.openxmlformats.org/officeDocument/2006/relationships/slide" Target="slides/slide17.xml"/><Relationship Id="rId44" Type="http://schemas.openxmlformats.org/officeDocument/2006/relationships/font" Target="fonts/GillSans-bold.fntdata"/><Relationship Id="rId21" Type="http://schemas.openxmlformats.org/officeDocument/2006/relationships/slide" Target="slides/slide16.xml"/><Relationship Id="rId43" Type="http://schemas.openxmlformats.org/officeDocument/2006/relationships/font" Target="fonts/GillSans-regular.fntdata"/><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font" Target="fonts/Roboto-bold.fntdata"/><Relationship Id="rId16" Type="http://schemas.openxmlformats.org/officeDocument/2006/relationships/slide" Target="slides/slide11.xml"/><Relationship Id="rId38" Type="http://schemas.openxmlformats.org/officeDocument/2006/relationships/font" Target="fonts/Roboto-regular.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 name="Google Shape;86;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92" name="Google Shape;92;p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3" name="Google Shape;93;p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9" name="Google Shape;99;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04" name="Google Shape;104;p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5" name="Google Shape;105;p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11" name="Google Shape;111;p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2" name="Google Shape;112;p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8" name="Google Shape;118;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23" name="Google Shape;123;p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4" name="Google Shape;124;p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32" name="Google Shape;132;p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3" name="Google Shape;133;p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39" name="Google Shape;139;p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0" name="Google Shape;140;p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45" name="Google Shape;145;p1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6" name="Google Shape;146;p1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54" name="Google Shape;154;p1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5" name="Google Shape;155;p1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61" name="Google Shape;161;p1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2" name="Google Shape;162;p1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69" name="Google Shape;169;p1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0" name="Google Shape;170;p1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77" name="Google Shape;177;p1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8" name="Google Shape;178;p1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86" name="Google Shape;186;p1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7" name="Google Shape;187;p1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1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3" name="Google Shape;193;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1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9" name="Google Shape;199;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1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5" name="Google Shape;205;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1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1" name="Google Shape;211;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17" name="Google Shape;217;p2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8" name="Google Shape;218;p2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26" name="Google Shape;226;p2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7" name="Google Shape;227;p2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34" name="Google Shape;234;p2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5" name="Google Shape;235;p2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43" name="Google Shape;243;p2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4" name="Google Shape;244;p2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49" name="Google Shape;249;p2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0" name="Google Shape;250;p2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55" name="Google Shape;255;p2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6" name="Google Shape;256;p2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64" name="Google Shape;264;p2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5" name="Google Shape;265;p2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70" name="Google Shape;270;p2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1" name="Google Shape;271;p2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p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79" name="Google Shape;279;p2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0" name="Google Shape;280;p2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p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92" name="Google Shape;292;p2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3" name="Google Shape;293;p2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p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99" name="Google Shape;299;p3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0" name="Google Shape;300;p3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3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6" name="Google Shape;306;p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3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311" name="Google Shape;311;p3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2" name="Google Shape;312;p3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4"/>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4"/>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5"/>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5"/>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6"/>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6"/>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6"/>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6"/>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61" name="Google Shape;61;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2" name="Google Shape;62;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10"/>
          <p:cNvSpPr/>
          <p:nvPr>
            <p:ph idx="2" type="pic"/>
          </p:nvPr>
        </p:nvSpPr>
        <p:spPr>
          <a:xfrm>
            <a:off x="1792288" y="612775"/>
            <a:ext cx="5486400" cy="4114800"/>
          </a:xfrm>
          <a:prstGeom prst="rect">
            <a:avLst/>
          </a:prstGeom>
          <a:noFill/>
          <a:ln>
            <a:noFill/>
          </a:ln>
        </p:spPr>
      </p:sp>
      <p:sp>
        <p:nvSpPr>
          <p:cNvPr id="68" name="Google Shape;68;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9" name="Google Shape;69;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5" name="Google Shape;75;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1" name="Google Shape;81;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13.png"/><Relationship Id="rId4" Type="http://schemas.openxmlformats.org/officeDocument/2006/relationships/image" Target="../media/image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1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7.jpg"/><Relationship Id="rId4" Type="http://schemas.openxmlformats.org/officeDocument/2006/relationships/image" Target="../media/image11.png"/><Relationship Id="rId5" Type="http://schemas.openxmlformats.org/officeDocument/2006/relationships/image" Target="../media/image1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Times New Roman"/>
              <a:buNone/>
            </a:pPr>
            <a:r>
              <a:rPr b="1" lang="en-US">
                <a:solidFill>
                  <a:schemeClr val="dk1"/>
                </a:solidFill>
                <a:latin typeface="Times New Roman"/>
                <a:ea typeface="Times New Roman"/>
                <a:cs typeface="Times New Roman"/>
                <a:sym typeface="Times New Roman"/>
              </a:rPr>
              <a:t>ATTITUDE MEASUREMENT AND SCALING</a:t>
            </a:r>
            <a:br>
              <a:rPr b="1" lang="en-US">
                <a:solidFill>
                  <a:schemeClr val="dk1"/>
                </a:solidFill>
                <a:latin typeface="Times New Roman"/>
                <a:ea typeface="Times New Roman"/>
                <a:cs typeface="Times New Roman"/>
                <a:sym typeface="Times New Roman"/>
              </a:rPr>
            </a:br>
            <a:endParaRPr>
              <a:latin typeface="Times New Roman"/>
              <a:ea typeface="Times New Roman"/>
              <a:cs typeface="Times New Roman"/>
              <a:sym typeface="Times New Roman"/>
            </a:endParaRPr>
          </a:p>
        </p:txBody>
      </p:sp>
      <p:sp>
        <p:nvSpPr>
          <p:cNvPr id="89" name="Google Shape;89;p1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p>
            <a:pPr indent="0" lvl="0" marL="0" rtl="0" algn="ctr">
              <a:spcBef>
                <a:spcPts val="0"/>
              </a:spcBef>
              <a:spcAft>
                <a:spcPts val="0"/>
              </a:spcAft>
              <a:buClr>
                <a:srgbClr val="C00000"/>
              </a:buClr>
              <a:buSzPts val="2800"/>
              <a:buNone/>
            </a:pPr>
            <a:r>
              <a:rPr b="1" i="1" lang="en-US" sz="2800">
                <a:solidFill>
                  <a:srgbClr val="C00000"/>
                </a:solidFill>
                <a:latin typeface="Times New Roman"/>
                <a:ea typeface="Times New Roman"/>
                <a:cs typeface="Times New Roman"/>
                <a:sym typeface="Times New Roman"/>
              </a:rPr>
              <a:t>Presentation by:</a:t>
            </a:r>
            <a:endParaRPr/>
          </a:p>
          <a:p>
            <a:pPr indent="0" lvl="0" marL="0" rtl="0" algn="ctr">
              <a:spcBef>
                <a:spcPts val="560"/>
              </a:spcBef>
              <a:spcAft>
                <a:spcPts val="0"/>
              </a:spcAft>
              <a:buClr>
                <a:srgbClr val="C00000"/>
              </a:buClr>
              <a:buSzPts val="2800"/>
              <a:buNone/>
            </a:pPr>
            <a:r>
              <a:rPr b="1" i="1" lang="en-US" sz="2800">
                <a:solidFill>
                  <a:srgbClr val="C00000"/>
                </a:solidFill>
                <a:latin typeface="Times New Roman"/>
                <a:ea typeface="Times New Roman"/>
                <a:cs typeface="Times New Roman"/>
                <a:sym typeface="Times New Roman"/>
              </a:rPr>
              <a:t>Dr. Deepali Ubale</a:t>
            </a:r>
            <a:endParaRPr b="1" i="1" sz="2800">
              <a:solidFill>
                <a:srgbClr val="C00000"/>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4"/>
          <p:cNvSpPr txBox="1"/>
          <p:nvPr>
            <p:ph type="title"/>
          </p:nvPr>
        </p:nvSpPr>
        <p:spPr>
          <a:xfrm>
            <a:off x="228600" y="274638"/>
            <a:ext cx="86868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Times New Roman"/>
              <a:buNone/>
            </a:pPr>
            <a:r>
              <a:rPr b="1" lang="en-US">
                <a:latin typeface="Times New Roman"/>
                <a:ea typeface="Times New Roman"/>
                <a:cs typeface="Times New Roman"/>
                <a:sym typeface="Times New Roman"/>
              </a:rPr>
              <a:t>Meaning of Measurement and Scaling</a:t>
            </a:r>
            <a:endParaRPr/>
          </a:p>
        </p:txBody>
      </p:sp>
      <p:sp>
        <p:nvSpPr>
          <p:cNvPr id="96" name="Google Shape;96;p14"/>
          <p:cNvSpPr txBox="1"/>
          <p:nvPr>
            <p:ph idx="1" type="body"/>
          </p:nvPr>
        </p:nvSpPr>
        <p:spPr>
          <a:xfrm>
            <a:off x="228600" y="1600200"/>
            <a:ext cx="8686800" cy="4876800"/>
          </a:xfrm>
          <a:prstGeom prst="rect">
            <a:avLst/>
          </a:prstGeom>
          <a:noFill/>
          <a:ln>
            <a:noFill/>
          </a:ln>
        </p:spPr>
        <p:txBody>
          <a:bodyPr anchorCtr="0" anchor="t" bIns="45700" lIns="91425" spcFirstLastPara="1" rIns="91425" wrap="square" tIns="45700">
            <a:normAutofit/>
          </a:bodyPr>
          <a:lstStyle/>
          <a:p>
            <a:pPr indent="-274320" lvl="0" marL="274320" rtl="0" algn="just">
              <a:spcBef>
                <a:spcPts val="0"/>
              </a:spcBef>
              <a:spcAft>
                <a:spcPts val="0"/>
              </a:spcAft>
              <a:buClr>
                <a:schemeClr val="dk1"/>
              </a:buClr>
              <a:buSzPts val="2800"/>
              <a:buNone/>
            </a:pPr>
            <a:r>
              <a:rPr b="1" lang="en-US" sz="2800">
                <a:latin typeface="Times New Roman"/>
                <a:ea typeface="Times New Roman"/>
                <a:cs typeface="Times New Roman"/>
                <a:sym typeface="Times New Roman"/>
              </a:rPr>
              <a:t>	Measurement: </a:t>
            </a:r>
            <a:r>
              <a:rPr lang="en-US" sz="2800">
                <a:latin typeface="Times New Roman"/>
                <a:ea typeface="Times New Roman"/>
                <a:cs typeface="Times New Roman"/>
                <a:sym typeface="Times New Roman"/>
              </a:rPr>
              <a:t>The term ‘measurement’ means assigning numbers or some other symbols to the characteristics of certain objects. When numbers are used, the researcher must have a rule for assigning a number to an observation in a way that provides an accurate description.</a:t>
            </a:r>
            <a:endParaRPr/>
          </a:p>
          <a:p>
            <a:pPr indent="-274320" lvl="0" marL="274320" rtl="0" algn="just">
              <a:spcBef>
                <a:spcPts val="580"/>
              </a:spcBef>
              <a:spcAft>
                <a:spcPts val="0"/>
              </a:spcAft>
              <a:buClr>
                <a:schemeClr val="dk1"/>
              </a:buClr>
              <a:buSzPts val="2800"/>
              <a:buFont typeface="Noto Sans Symbols"/>
              <a:buNone/>
            </a:pPr>
            <a:r>
              <a:rPr lang="en-US" sz="2800">
                <a:latin typeface="Times New Roman"/>
                <a:ea typeface="Times New Roman"/>
                <a:cs typeface="Times New Roman"/>
                <a:sym typeface="Times New Roman"/>
              </a:rPr>
              <a:t>	</a:t>
            </a:r>
            <a:r>
              <a:rPr i="1" lang="en-US" sz="2800">
                <a:latin typeface="Times New Roman"/>
                <a:ea typeface="Times New Roman"/>
                <a:cs typeface="Times New Roman"/>
                <a:sym typeface="Times New Roman"/>
              </a:rPr>
              <a:t>Definition</a:t>
            </a:r>
            <a:r>
              <a:rPr lang="en-US" sz="2800">
                <a:latin typeface="Times New Roman"/>
                <a:ea typeface="Times New Roman"/>
                <a:cs typeface="Times New Roman"/>
                <a:sym typeface="Times New Roman"/>
              </a:rPr>
              <a:t>: “When you measure what you are speaking about and express it in numbers, you know something about it, but when you cannot (or do not) measure it, when you cannot express it in numbers, then your knowledge is of a meager and unsatisfactory kind”.</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15"/>
          <p:cNvSpPr txBox="1"/>
          <p:nvPr>
            <p:ph idx="1" type="body"/>
          </p:nvPr>
        </p:nvSpPr>
        <p:spPr>
          <a:xfrm>
            <a:off x="228600" y="1143000"/>
            <a:ext cx="8458200" cy="4648200"/>
          </a:xfrm>
          <a:prstGeom prst="rect">
            <a:avLst/>
          </a:prstGeom>
          <a:noFill/>
          <a:ln>
            <a:noFill/>
          </a:ln>
        </p:spPr>
        <p:txBody>
          <a:bodyPr anchorCtr="0" anchor="t" bIns="45700" lIns="91425" spcFirstLastPara="1" rIns="91425" wrap="square" tIns="45700">
            <a:normAutofit/>
          </a:bodyPr>
          <a:lstStyle/>
          <a:p>
            <a:pPr indent="-342900" lvl="0" marL="342900" rtl="0" algn="just">
              <a:spcBef>
                <a:spcPts val="0"/>
              </a:spcBef>
              <a:spcAft>
                <a:spcPts val="0"/>
              </a:spcAft>
              <a:buClr>
                <a:schemeClr val="dk1"/>
              </a:buClr>
              <a:buSzPts val="2800"/>
              <a:buChar char="•"/>
            </a:pPr>
            <a:r>
              <a:rPr b="1" lang="en-US" sz="2800"/>
              <a:t>“</a:t>
            </a:r>
            <a:r>
              <a:rPr lang="en-US" sz="2800">
                <a:latin typeface="Times New Roman"/>
                <a:ea typeface="Times New Roman"/>
                <a:cs typeface="Times New Roman"/>
                <a:sym typeface="Times New Roman"/>
              </a:rPr>
              <a:t>Measurement is the assignment of numerals to objects or events according to rules”.</a:t>
            </a:r>
            <a:endParaRPr/>
          </a:p>
          <a:p>
            <a:pPr indent="-342900" lvl="0" marL="342900" rtl="0" algn="just">
              <a:spcBef>
                <a:spcPts val="560"/>
              </a:spcBef>
              <a:spcAft>
                <a:spcPts val="0"/>
              </a:spcAft>
              <a:buClr>
                <a:schemeClr val="dk1"/>
              </a:buClr>
              <a:buSzPts val="2800"/>
              <a:buNone/>
            </a:pPr>
            <a:r>
              <a:t/>
            </a:r>
            <a:endParaRPr sz="2800">
              <a:latin typeface="Times New Roman"/>
              <a:ea typeface="Times New Roman"/>
              <a:cs typeface="Times New Roman"/>
              <a:sym typeface="Times New Roman"/>
            </a:endParaRPr>
          </a:p>
          <a:p>
            <a:pPr indent="-342900" lvl="0" marL="342900" rtl="0" algn="just">
              <a:spcBef>
                <a:spcPts val="560"/>
              </a:spcBef>
              <a:spcAft>
                <a:spcPts val="0"/>
              </a:spcAft>
              <a:buClr>
                <a:schemeClr val="dk1"/>
              </a:buClr>
              <a:buSzPts val="2800"/>
              <a:buChar char="•"/>
            </a:pPr>
            <a:r>
              <a:rPr lang="en-US" sz="2800">
                <a:latin typeface="Times New Roman"/>
                <a:ea typeface="Times New Roman"/>
                <a:cs typeface="Times New Roman"/>
                <a:sym typeface="Times New Roman"/>
              </a:rPr>
              <a:t>Measurement is the assignment of numbers to represent properties”.</a:t>
            </a:r>
            <a:endParaRPr/>
          </a:p>
          <a:p>
            <a:pPr indent="-342900" lvl="0" marL="342900" rtl="0" algn="just">
              <a:spcBef>
                <a:spcPts val="560"/>
              </a:spcBef>
              <a:spcAft>
                <a:spcPts val="0"/>
              </a:spcAft>
              <a:buClr>
                <a:schemeClr val="dk1"/>
              </a:buClr>
              <a:buSzPts val="2800"/>
              <a:buNone/>
            </a:pPr>
            <a:r>
              <a:t/>
            </a:r>
            <a:endParaRPr b="1" sz="2800">
              <a:latin typeface="Times New Roman"/>
              <a:ea typeface="Times New Roman"/>
              <a:cs typeface="Times New Roman"/>
              <a:sym typeface="Times New Roman"/>
            </a:endParaRPr>
          </a:p>
          <a:p>
            <a:pPr indent="-342900" lvl="0" marL="342900" rtl="0" algn="just">
              <a:spcBef>
                <a:spcPts val="560"/>
              </a:spcBef>
              <a:spcAft>
                <a:spcPts val="0"/>
              </a:spcAft>
              <a:buClr>
                <a:schemeClr val="dk1"/>
              </a:buClr>
              <a:buSzPts val="2800"/>
              <a:buChar char="•"/>
            </a:pPr>
            <a:r>
              <a:rPr b="1" lang="en-US" sz="2800">
                <a:latin typeface="Times New Roman"/>
                <a:ea typeface="Times New Roman"/>
                <a:cs typeface="Times New Roman"/>
                <a:sym typeface="Times New Roman"/>
              </a:rPr>
              <a:t>Scaling:</a:t>
            </a:r>
            <a:r>
              <a:rPr lang="en-US" sz="2800">
                <a:latin typeface="Times New Roman"/>
                <a:ea typeface="Times New Roman"/>
                <a:cs typeface="Times New Roman"/>
                <a:sym typeface="Times New Roman"/>
              </a:rPr>
              <a:t> Scaling is an extension of measurement. Scaling involves creating a continuum on which measurements on objects are located.</a:t>
            </a:r>
            <a:endParaRPr b="1" sz="2800">
              <a:latin typeface="Times New Roman"/>
              <a:ea typeface="Times New Roman"/>
              <a:cs typeface="Times New Roman"/>
              <a:sym typeface="Times New Roman"/>
            </a:endParaRPr>
          </a:p>
          <a:p>
            <a:pPr indent="-165100" lvl="0" marL="342900" rtl="0" algn="just">
              <a:spcBef>
                <a:spcPts val="560"/>
              </a:spcBef>
              <a:spcAft>
                <a:spcPts val="0"/>
              </a:spcAft>
              <a:buClr>
                <a:schemeClr val="dk1"/>
              </a:buClr>
              <a:buSzPts val="2800"/>
              <a:buNone/>
            </a:pPr>
            <a:r>
              <a:t/>
            </a:r>
            <a:endParaRPr sz="2800">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16"/>
          <p:cNvSpPr txBox="1"/>
          <p:nvPr>
            <p:ph type="title"/>
          </p:nvPr>
        </p:nvSpPr>
        <p:spPr>
          <a:xfrm>
            <a:off x="191729" y="152400"/>
            <a:ext cx="8495071" cy="8382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Times New Roman"/>
              <a:buNone/>
            </a:pPr>
            <a:r>
              <a:rPr b="1" lang="en-US">
                <a:latin typeface="Times New Roman"/>
                <a:ea typeface="Times New Roman"/>
                <a:cs typeface="Times New Roman"/>
                <a:sym typeface="Times New Roman"/>
              </a:rPr>
              <a:t>Nominal scale</a:t>
            </a:r>
            <a:endParaRPr/>
          </a:p>
        </p:txBody>
      </p:sp>
      <p:sp>
        <p:nvSpPr>
          <p:cNvPr id="108" name="Google Shape;108;p16"/>
          <p:cNvSpPr txBox="1"/>
          <p:nvPr>
            <p:ph idx="1" type="body"/>
          </p:nvPr>
        </p:nvSpPr>
        <p:spPr>
          <a:xfrm>
            <a:off x="304800" y="1066800"/>
            <a:ext cx="8610600" cy="5486400"/>
          </a:xfrm>
          <a:prstGeom prst="rect">
            <a:avLst/>
          </a:prstGeom>
          <a:no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2800"/>
              <a:buFont typeface="Noto Sans Symbols"/>
              <a:buNone/>
            </a:pPr>
            <a:r>
              <a:rPr lang="en-US" sz="2800">
                <a:latin typeface="Times New Roman"/>
                <a:ea typeface="Times New Roman"/>
                <a:cs typeface="Times New Roman"/>
                <a:sym typeface="Times New Roman"/>
              </a:rPr>
              <a:t>This is the lowest level of measurement. Here, numbers are assigned for the purpose of identification of the objects. Any object which is assigned a higher number is in no way superior to the one which is assigned a lower number.</a:t>
            </a:r>
            <a:endParaRPr/>
          </a:p>
          <a:p>
            <a:pPr indent="-274320" lvl="0" marL="274320" rtl="0" algn="l">
              <a:spcBef>
                <a:spcPts val="580"/>
              </a:spcBef>
              <a:spcAft>
                <a:spcPts val="0"/>
              </a:spcAft>
              <a:buClr>
                <a:schemeClr val="dk1"/>
              </a:buClr>
              <a:buSzPts val="2400"/>
              <a:buFont typeface="Noto Sans Symbols"/>
              <a:buNone/>
            </a:pPr>
            <a:r>
              <a:rPr lang="en-US" sz="2400">
                <a:latin typeface="Times New Roman"/>
                <a:ea typeface="Times New Roman"/>
                <a:cs typeface="Times New Roman"/>
                <a:sym typeface="Times New Roman"/>
              </a:rPr>
              <a:t>Example: Are you married? 	(a) Yes		(b) No		</a:t>
            </a:r>
            <a:endParaRPr/>
          </a:p>
          <a:p>
            <a:pPr indent="-280988" lvl="0" marL="914400" rtl="0" algn="l">
              <a:spcBef>
                <a:spcPts val="580"/>
              </a:spcBef>
              <a:spcAft>
                <a:spcPts val="0"/>
              </a:spcAft>
              <a:buClr>
                <a:schemeClr val="dk1"/>
              </a:buClr>
              <a:buSzPts val="2400"/>
              <a:buFont typeface="Noto Sans Symbols"/>
              <a:buChar char="⚫"/>
            </a:pPr>
            <a:r>
              <a:rPr lang="en-US" sz="2400">
                <a:latin typeface="Times New Roman"/>
                <a:ea typeface="Times New Roman"/>
                <a:cs typeface="Times New Roman"/>
                <a:sym typeface="Times New Roman"/>
              </a:rPr>
              <a:t>Married person may be assigned a no. 1. </a:t>
            </a:r>
            <a:endParaRPr/>
          </a:p>
          <a:p>
            <a:pPr indent="-280988" lvl="0" marL="914400" rtl="0" algn="l">
              <a:spcBef>
                <a:spcPts val="580"/>
              </a:spcBef>
              <a:spcAft>
                <a:spcPts val="0"/>
              </a:spcAft>
              <a:buClr>
                <a:schemeClr val="dk1"/>
              </a:buClr>
              <a:buSzPts val="2400"/>
              <a:buFont typeface="Noto Sans Symbols"/>
              <a:buChar char="⚫"/>
            </a:pPr>
            <a:r>
              <a:rPr lang="en-US" sz="2400">
                <a:latin typeface="Times New Roman"/>
                <a:ea typeface="Times New Roman"/>
                <a:cs typeface="Times New Roman"/>
                <a:sym typeface="Times New Roman"/>
              </a:rPr>
              <a:t>Unmarried person may be assigned a no. 2.</a:t>
            </a:r>
            <a:endParaRPr/>
          </a:p>
          <a:p>
            <a:pPr indent="7938" lvl="0" marL="342900" rtl="0" algn="just">
              <a:spcBef>
                <a:spcPts val="580"/>
              </a:spcBef>
              <a:spcAft>
                <a:spcPts val="0"/>
              </a:spcAft>
              <a:buClr>
                <a:schemeClr val="dk1"/>
              </a:buClr>
              <a:buSzPts val="2400"/>
              <a:buFont typeface="Noto Sans Symbols"/>
              <a:buNone/>
            </a:pPr>
            <a:r>
              <a:rPr lang="en-US" sz="2400">
                <a:latin typeface="Times New Roman"/>
                <a:ea typeface="Times New Roman"/>
                <a:cs typeface="Times New Roman"/>
                <a:sym typeface="Times New Roman"/>
              </a:rPr>
              <a:t>The assigned numbers cannot be added, subtracted, multiplied or divided. The only arithmetic operations that can be carried out are the count of each category. Therefore, a frequency distribution table can be prepared for the nominal scale variables and mode of the distribution can be worked out.</a:t>
            </a:r>
            <a:endParaRPr/>
          </a:p>
          <a:p>
            <a:pPr indent="-96520" lvl="0" marL="274320" rtl="0" algn="l">
              <a:spcBef>
                <a:spcPts val="580"/>
              </a:spcBef>
              <a:spcAft>
                <a:spcPts val="0"/>
              </a:spcAft>
              <a:buClr>
                <a:schemeClr val="dk1"/>
              </a:buClr>
              <a:buSzPts val="2800"/>
              <a:buFont typeface="Noto Sans Symbols"/>
              <a:buNone/>
            </a:pPr>
            <a:r>
              <a:t/>
            </a:r>
            <a:endParaRPr sz="2800">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1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Times New Roman"/>
              <a:buNone/>
            </a:pPr>
            <a:r>
              <a:rPr b="1" lang="en-US">
                <a:latin typeface="Times New Roman"/>
                <a:ea typeface="Times New Roman"/>
                <a:cs typeface="Times New Roman"/>
                <a:sym typeface="Times New Roman"/>
              </a:rPr>
              <a:t>Ordinal scale</a:t>
            </a:r>
            <a:endParaRPr/>
          </a:p>
        </p:txBody>
      </p:sp>
      <p:sp>
        <p:nvSpPr>
          <p:cNvPr id="115" name="Google Shape;115;p17"/>
          <p:cNvSpPr txBox="1"/>
          <p:nvPr>
            <p:ph idx="1" type="body"/>
          </p:nvPr>
        </p:nvSpPr>
        <p:spPr>
          <a:xfrm>
            <a:off x="457200" y="1600200"/>
            <a:ext cx="8382000" cy="4419600"/>
          </a:xfrm>
          <a:prstGeom prst="rect">
            <a:avLst/>
          </a:prstGeom>
          <a:noFill/>
          <a:ln>
            <a:noFill/>
          </a:ln>
        </p:spPr>
        <p:txBody>
          <a:bodyPr anchorCtr="0" anchor="t" bIns="45700" lIns="91425" spcFirstLastPara="1" rIns="91425" wrap="square" tIns="45700">
            <a:normAutofit/>
          </a:bodyPr>
          <a:lstStyle/>
          <a:p>
            <a:pPr indent="0" lvl="0" marL="0" rtl="0" algn="just">
              <a:spcBef>
                <a:spcPts val="0"/>
              </a:spcBef>
              <a:spcAft>
                <a:spcPts val="0"/>
              </a:spcAft>
              <a:buClr>
                <a:schemeClr val="dk1"/>
              </a:buClr>
              <a:buSzPts val="2800"/>
              <a:buFont typeface="Noto Sans Symbols"/>
              <a:buNone/>
            </a:pPr>
            <a:r>
              <a:rPr lang="en-US" sz="2800">
                <a:latin typeface="Times New Roman"/>
                <a:ea typeface="Times New Roman"/>
                <a:cs typeface="Times New Roman"/>
                <a:sym typeface="Times New Roman"/>
              </a:rPr>
              <a:t>This is the next higher level of measurement. One of the limitations of the nominal scale measurements is that we cannot say whether the assigned number to an object is higher or lower than the one assigned to another option. The ordinal scale measurement takes care of this limitation. An ordinal scale measurement tells whether an object has more or less of characteristics than some other objects.</a:t>
            </a:r>
            <a:endParaRPr/>
          </a:p>
          <a:p>
            <a:pPr indent="0" lvl="0" marL="0" rtl="0" algn="just">
              <a:spcBef>
                <a:spcPts val="580"/>
              </a:spcBef>
              <a:spcAft>
                <a:spcPts val="0"/>
              </a:spcAft>
              <a:buClr>
                <a:schemeClr val="dk1"/>
              </a:buClr>
              <a:buSzPts val="2800"/>
              <a:buFont typeface="Noto Sans Symbols"/>
              <a:buNone/>
            </a:pPr>
            <a:r>
              <a:rPr lang="en-US" sz="2800">
                <a:latin typeface="Times New Roman"/>
                <a:ea typeface="Times New Roman"/>
                <a:cs typeface="Times New Roman"/>
                <a:sym typeface="Times New Roman"/>
              </a:rPr>
              <a:t>-Gives superior inferior relation- X, XII, graduation, PG</a:t>
            </a:r>
            <a:endParaRPr/>
          </a:p>
          <a:p>
            <a:pPr indent="-96520" lvl="0" marL="274320" rtl="0" algn="l">
              <a:spcBef>
                <a:spcPts val="580"/>
              </a:spcBef>
              <a:spcAft>
                <a:spcPts val="0"/>
              </a:spcAft>
              <a:buClr>
                <a:schemeClr val="dk1"/>
              </a:buClr>
              <a:buSzPts val="2800"/>
              <a:buFont typeface="Noto Sans Symbols"/>
              <a:buNone/>
            </a:pPr>
            <a:r>
              <a:t/>
            </a:r>
            <a:endParaRPr sz="2800">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18"/>
          <p:cNvSpPr txBox="1"/>
          <p:nvPr>
            <p:ph idx="1" type="body"/>
          </p:nvPr>
        </p:nvSpPr>
        <p:spPr>
          <a:xfrm>
            <a:off x="228600" y="808037"/>
            <a:ext cx="8610600" cy="5745163"/>
          </a:xfrm>
          <a:prstGeom prst="rect">
            <a:avLst/>
          </a:prstGeom>
          <a:noFill/>
          <a:ln>
            <a:noFill/>
          </a:ln>
        </p:spPr>
        <p:txBody>
          <a:bodyPr anchorCtr="0" anchor="t" bIns="45700" lIns="91425" spcFirstLastPara="1" rIns="91425" wrap="square" tIns="45700">
            <a:noAutofit/>
          </a:bodyPr>
          <a:lstStyle/>
          <a:p>
            <a:pPr indent="-342900" lvl="0" marL="342900" rtl="0" algn="just">
              <a:spcBef>
                <a:spcPts val="0"/>
              </a:spcBef>
              <a:spcAft>
                <a:spcPts val="0"/>
              </a:spcAft>
              <a:buClr>
                <a:schemeClr val="dk1"/>
              </a:buClr>
              <a:buSzPts val="2800"/>
              <a:buChar char="•"/>
            </a:pPr>
            <a:r>
              <a:rPr lang="en-US" sz="2800">
                <a:latin typeface="Times New Roman"/>
                <a:ea typeface="Times New Roman"/>
                <a:cs typeface="Times New Roman"/>
                <a:sym typeface="Times New Roman"/>
              </a:rPr>
              <a:t>Numerals, letters, or other symbols are used to rank objects.</a:t>
            </a:r>
            <a:endParaRPr/>
          </a:p>
          <a:p>
            <a:pPr indent="-342900" lvl="0" marL="342900" rtl="0" algn="just">
              <a:spcBef>
                <a:spcPts val="560"/>
              </a:spcBef>
              <a:spcAft>
                <a:spcPts val="0"/>
              </a:spcAft>
              <a:buClr>
                <a:schemeClr val="dk1"/>
              </a:buClr>
              <a:buSzPts val="2800"/>
              <a:buChar char="•"/>
            </a:pPr>
            <a:r>
              <a:rPr lang="en-US" sz="2800">
                <a:latin typeface="Times New Roman"/>
                <a:ea typeface="Times New Roman"/>
                <a:cs typeface="Times New Roman"/>
                <a:sym typeface="Times New Roman"/>
              </a:rPr>
              <a:t>Categories have some explicit relationship among them.</a:t>
            </a:r>
            <a:endParaRPr/>
          </a:p>
          <a:p>
            <a:pPr indent="-342900" lvl="0" marL="342900" rtl="0" algn="just">
              <a:spcBef>
                <a:spcPts val="560"/>
              </a:spcBef>
              <a:spcAft>
                <a:spcPts val="0"/>
              </a:spcAft>
              <a:buClr>
                <a:schemeClr val="dk1"/>
              </a:buClr>
              <a:buSzPts val="2800"/>
              <a:buNone/>
            </a:pPr>
            <a:r>
              <a:rPr lang="en-US" sz="2800">
                <a:latin typeface="Times New Roman"/>
                <a:ea typeface="Times New Roman"/>
                <a:cs typeface="Times New Roman"/>
                <a:sym typeface="Times New Roman"/>
              </a:rPr>
              <a:t>	</a:t>
            </a:r>
            <a:r>
              <a:rPr i="1" lang="en-US" sz="2800">
                <a:latin typeface="Times New Roman"/>
                <a:ea typeface="Times New Roman"/>
                <a:cs typeface="Times New Roman"/>
                <a:sym typeface="Times New Roman"/>
              </a:rPr>
              <a:t>Example:</a:t>
            </a:r>
            <a:r>
              <a:rPr lang="en-US" sz="2800">
                <a:latin typeface="Times New Roman"/>
                <a:ea typeface="Times New Roman"/>
                <a:cs typeface="Times New Roman"/>
                <a:sym typeface="Times New Roman"/>
              </a:rPr>
              <a:t> Taller shorter, greater lesser, faster slower etc.</a:t>
            </a:r>
            <a:endParaRPr/>
          </a:p>
          <a:p>
            <a:pPr indent="-342900" lvl="0" marL="342900" rtl="0" algn="just">
              <a:spcBef>
                <a:spcPts val="560"/>
              </a:spcBef>
              <a:spcAft>
                <a:spcPts val="0"/>
              </a:spcAft>
              <a:buClr>
                <a:schemeClr val="dk1"/>
              </a:buClr>
              <a:buSzPts val="2800"/>
              <a:buChar char="•"/>
            </a:pPr>
            <a:r>
              <a:rPr lang="en-US" sz="2800">
                <a:latin typeface="Times New Roman"/>
                <a:ea typeface="Times New Roman"/>
                <a:cs typeface="Times New Roman"/>
                <a:sym typeface="Times New Roman"/>
              </a:rPr>
              <a:t>Ordinal measurement do not provide on information on how much more or less of the characteristics various objects possess. </a:t>
            </a:r>
            <a:endParaRPr/>
          </a:p>
          <a:p>
            <a:pPr indent="-342900" lvl="0" marL="342900" rtl="0" algn="just">
              <a:spcBef>
                <a:spcPts val="560"/>
              </a:spcBef>
              <a:spcAft>
                <a:spcPts val="0"/>
              </a:spcAft>
              <a:buClr>
                <a:schemeClr val="dk1"/>
              </a:buClr>
              <a:buSzPts val="2800"/>
              <a:buNone/>
            </a:pPr>
            <a:r>
              <a:rPr lang="en-US" sz="2800">
                <a:latin typeface="Times New Roman"/>
                <a:ea typeface="Times New Roman"/>
                <a:cs typeface="Times New Roman"/>
                <a:sym typeface="Times New Roman"/>
              </a:rPr>
              <a:t>	</a:t>
            </a:r>
            <a:r>
              <a:rPr i="1" lang="en-US" sz="2800">
                <a:latin typeface="Times New Roman"/>
                <a:ea typeface="Times New Roman"/>
                <a:cs typeface="Times New Roman"/>
                <a:sym typeface="Times New Roman"/>
              </a:rPr>
              <a:t>Example: </a:t>
            </a:r>
            <a:r>
              <a:rPr lang="en-US" sz="2800">
                <a:latin typeface="Times New Roman"/>
                <a:ea typeface="Times New Roman"/>
                <a:cs typeface="Times New Roman"/>
                <a:sym typeface="Times New Roman"/>
              </a:rPr>
              <a:t>If there are four different types of cement and if they are ordered on the basis of quality as Grade A, Grade B, Grade C, Grade D-then again it is an ordinal scale.</a:t>
            </a:r>
            <a:endParaRPr/>
          </a:p>
          <a:p>
            <a:pPr indent="-165100" lvl="0" marL="342900" rtl="0" algn="just">
              <a:spcBef>
                <a:spcPts val="560"/>
              </a:spcBef>
              <a:spcAft>
                <a:spcPts val="0"/>
              </a:spcAft>
              <a:buClr>
                <a:schemeClr val="dk1"/>
              </a:buClr>
              <a:buSzPts val="2800"/>
              <a:buNone/>
            </a:pPr>
            <a:r>
              <a:t/>
            </a:r>
            <a:endParaRPr sz="2800">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1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Times New Roman"/>
              <a:buNone/>
            </a:pPr>
            <a:r>
              <a:rPr b="1" lang="en-US">
                <a:latin typeface="Times New Roman"/>
                <a:ea typeface="Times New Roman"/>
                <a:cs typeface="Times New Roman"/>
                <a:sym typeface="Times New Roman"/>
              </a:rPr>
              <a:t>Types of Measurement Scale</a:t>
            </a:r>
            <a:endParaRPr/>
          </a:p>
        </p:txBody>
      </p:sp>
      <p:pic>
        <p:nvPicPr>
          <p:cNvPr id="127" name="Google Shape;127;p19"/>
          <p:cNvPicPr preferRelativeResize="0"/>
          <p:nvPr>
            <p:ph idx="1" type="body"/>
          </p:nvPr>
        </p:nvPicPr>
        <p:blipFill rotWithShape="1">
          <a:blip r:embed="rId3">
            <a:alphaModFix/>
          </a:blip>
          <a:srcRect b="0" l="0" r="0" t="0"/>
          <a:stretch/>
        </p:blipFill>
        <p:spPr>
          <a:xfrm>
            <a:off x="-457200" y="3429000"/>
            <a:ext cx="5562600" cy="2819400"/>
          </a:xfrm>
          <a:prstGeom prst="rect">
            <a:avLst/>
          </a:prstGeom>
          <a:noFill/>
          <a:ln>
            <a:noFill/>
          </a:ln>
        </p:spPr>
      </p:pic>
      <p:sp>
        <p:nvSpPr>
          <p:cNvPr id="128" name="Google Shape;128;p19"/>
          <p:cNvSpPr/>
          <p:nvPr/>
        </p:nvSpPr>
        <p:spPr>
          <a:xfrm>
            <a:off x="381000" y="1295400"/>
            <a:ext cx="8305800" cy="181588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1" lang="en-US" sz="2800" u="none" cap="none" strike="noStrike">
                <a:solidFill>
                  <a:schemeClr val="dk1"/>
                </a:solidFill>
                <a:latin typeface="Times New Roman"/>
                <a:ea typeface="Times New Roman"/>
                <a:cs typeface="Times New Roman"/>
                <a:sym typeface="Times New Roman"/>
              </a:rPr>
              <a:t>Example</a:t>
            </a:r>
            <a:r>
              <a:rPr b="1" i="0" lang="en-US" sz="2800" u="none" cap="none" strike="noStrike">
                <a:solidFill>
                  <a:schemeClr val="dk1"/>
                </a:solidFill>
                <a:latin typeface="Times New Roman"/>
                <a:ea typeface="Times New Roman"/>
                <a:cs typeface="Times New Roman"/>
                <a:sym typeface="Times New Roman"/>
              </a:rPr>
              <a:t>: </a:t>
            </a:r>
            <a:r>
              <a:rPr b="0" i="0" lang="en-US" sz="2800" u="none" cap="none" strike="noStrike">
                <a:solidFill>
                  <a:schemeClr val="dk1"/>
                </a:solidFill>
                <a:latin typeface="Times New Roman"/>
                <a:ea typeface="Times New Roman"/>
                <a:cs typeface="Times New Roman"/>
                <a:sym typeface="Times New Roman"/>
              </a:rPr>
              <a:t>Rank the following attributes while choosing a restaurant for dinner. The most important attribute may be ranked one, the next important may be assigned a rank of 2 and so on.</a:t>
            </a:r>
            <a:endParaRPr/>
          </a:p>
        </p:txBody>
      </p:sp>
      <p:sp>
        <p:nvSpPr>
          <p:cNvPr id="129" name="Google Shape;129;p19"/>
          <p:cNvSpPr/>
          <p:nvPr/>
        </p:nvSpPr>
        <p:spPr>
          <a:xfrm>
            <a:off x="4343400" y="3060680"/>
            <a:ext cx="4572000" cy="3416320"/>
          </a:xfrm>
          <a:prstGeom prst="rect">
            <a:avLst/>
          </a:prstGeom>
          <a:noFill/>
          <a:ln>
            <a:noFill/>
          </a:ln>
        </p:spPr>
        <p:txBody>
          <a:bodyPr anchorCtr="0" anchor="t" bIns="45700" lIns="91425" spcFirstLastPara="1" rIns="91425" wrap="square" tIns="45700">
            <a:noAutofit/>
          </a:bodyPr>
          <a:lstStyle/>
          <a:p>
            <a:pPr indent="0" lvl="0" marL="0" marR="0" rtl="0" algn="just">
              <a:spcBef>
                <a:spcPts val="0"/>
              </a:spcBef>
              <a:spcAft>
                <a:spcPts val="0"/>
              </a:spcAft>
              <a:buNone/>
            </a:pPr>
            <a:r>
              <a:rPr lang="en-US" sz="2400">
                <a:solidFill>
                  <a:schemeClr val="dk1"/>
                </a:solidFill>
                <a:latin typeface="Times New Roman"/>
                <a:ea typeface="Times New Roman"/>
                <a:cs typeface="Times New Roman"/>
                <a:sym typeface="Times New Roman"/>
              </a:rPr>
              <a:t>In the ordinal scale, the assigned ranks cannot be added, multiplied, subtracted or</a:t>
            </a:r>
            <a:endParaRPr/>
          </a:p>
          <a:p>
            <a:pPr indent="0" lvl="0" marL="0" marR="0" rtl="0" algn="just">
              <a:spcBef>
                <a:spcPts val="0"/>
              </a:spcBef>
              <a:spcAft>
                <a:spcPts val="0"/>
              </a:spcAft>
              <a:buNone/>
            </a:pPr>
            <a:r>
              <a:rPr lang="en-US" sz="2400">
                <a:solidFill>
                  <a:schemeClr val="dk1"/>
                </a:solidFill>
                <a:latin typeface="Times New Roman"/>
                <a:ea typeface="Times New Roman"/>
                <a:cs typeface="Times New Roman"/>
                <a:sym typeface="Times New Roman"/>
              </a:rPr>
              <a:t>divided. One can compute median, percentiles and quartiles of the distribution.  The other major statistical analysis which can be carried out is the rank order correlation coefficient, sign test.</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0"/>
          <p:cNvSpPr txBox="1"/>
          <p:nvPr>
            <p:ph type="title"/>
          </p:nvPr>
        </p:nvSpPr>
        <p:spPr>
          <a:xfrm>
            <a:off x="457200" y="274638"/>
            <a:ext cx="8229600" cy="792162"/>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Times New Roman"/>
              <a:buNone/>
            </a:pPr>
            <a:r>
              <a:rPr b="1" lang="en-US">
                <a:latin typeface="Times New Roman"/>
                <a:ea typeface="Times New Roman"/>
                <a:cs typeface="Times New Roman"/>
                <a:sym typeface="Times New Roman"/>
              </a:rPr>
              <a:t>Interval scale</a:t>
            </a:r>
            <a:endParaRPr/>
          </a:p>
        </p:txBody>
      </p:sp>
      <p:sp>
        <p:nvSpPr>
          <p:cNvPr id="136" name="Google Shape;136;p20"/>
          <p:cNvSpPr txBox="1"/>
          <p:nvPr>
            <p:ph idx="1" type="body"/>
          </p:nvPr>
        </p:nvSpPr>
        <p:spPr>
          <a:xfrm>
            <a:off x="228600" y="1524000"/>
            <a:ext cx="8686800" cy="5105400"/>
          </a:xfrm>
          <a:prstGeom prst="rect">
            <a:avLst/>
          </a:prstGeom>
          <a:no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2800"/>
              <a:buFont typeface="Noto Sans Symbols"/>
              <a:buNone/>
            </a:pPr>
            <a:r>
              <a:rPr lang="en-US" sz="2800">
                <a:latin typeface="Times New Roman"/>
                <a:ea typeface="Times New Roman"/>
                <a:cs typeface="Times New Roman"/>
                <a:sym typeface="Times New Roman"/>
              </a:rPr>
              <a:t>The interval scale measurement is the next higher level of measurement. </a:t>
            </a:r>
            <a:endParaRPr/>
          </a:p>
          <a:p>
            <a:pPr indent="-274320" lvl="0" marL="274320" rtl="0" algn="just">
              <a:spcBef>
                <a:spcPts val="580"/>
              </a:spcBef>
              <a:spcAft>
                <a:spcPts val="0"/>
              </a:spcAft>
              <a:buClr>
                <a:schemeClr val="dk1"/>
              </a:buClr>
              <a:buSzPts val="2800"/>
              <a:buFont typeface="Noto Sans Symbols"/>
              <a:buChar char="⚫"/>
            </a:pPr>
            <a:r>
              <a:rPr lang="en-US" sz="2800">
                <a:latin typeface="Times New Roman"/>
                <a:ea typeface="Times New Roman"/>
                <a:cs typeface="Times New Roman"/>
                <a:sym typeface="Times New Roman"/>
              </a:rPr>
              <a:t>It takes care of the limitation of the ordinal scale measurement where the difference between the score on the ordinal scale does not have any meaningful interpretation. </a:t>
            </a:r>
            <a:endParaRPr/>
          </a:p>
          <a:p>
            <a:pPr indent="-274320" lvl="0" marL="274320" rtl="0" algn="just">
              <a:spcBef>
                <a:spcPts val="580"/>
              </a:spcBef>
              <a:spcAft>
                <a:spcPts val="0"/>
              </a:spcAft>
              <a:buClr>
                <a:schemeClr val="dk1"/>
              </a:buClr>
              <a:buSzPts val="2800"/>
              <a:buFont typeface="Noto Sans Symbols"/>
              <a:buChar char="⚫"/>
            </a:pPr>
            <a:r>
              <a:rPr lang="en-US" sz="2800">
                <a:latin typeface="Times New Roman"/>
                <a:ea typeface="Times New Roman"/>
                <a:cs typeface="Times New Roman"/>
                <a:sym typeface="Times New Roman"/>
              </a:rPr>
              <a:t>It is assumed that the respondent is able to answer the questions on a continuum scale. </a:t>
            </a:r>
            <a:endParaRPr/>
          </a:p>
          <a:p>
            <a:pPr indent="-96520" lvl="0" marL="274320" rtl="0" algn="just">
              <a:spcBef>
                <a:spcPts val="580"/>
              </a:spcBef>
              <a:spcAft>
                <a:spcPts val="0"/>
              </a:spcAft>
              <a:buClr>
                <a:schemeClr val="dk1"/>
              </a:buClr>
              <a:buSzPts val="2800"/>
              <a:buFont typeface="Noto Sans Symbols"/>
              <a:buNone/>
            </a:pPr>
            <a:r>
              <a:t/>
            </a:r>
            <a:endParaRPr sz="2800">
              <a:latin typeface="Times New Roman"/>
              <a:ea typeface="Times New Roman"/>
              <a:cs typeface="Times New Roman"/>
              <a:sym typeface="Times New Roman"/>
            </a:endParaRPr>
          </a:p>
          <a:p>
            <a:pPr indent="-274320" lvl="0" marL="274320" rtl="0" algn="ctr">
              <a:spcBef>
                <a:spcPts val="580"/>
              </a:spcBef>
              <a:spcAft>
                <a:spcPts val="0"/>
              </a:spcAft>
              <a:buClr>
                <a:schemeClr val="dk1"/>
              </a:buClr>
              <a:buSzPts val="2800"/>
              <a:buFont typeface="Noto Sans Symbols"/>
              <a:buNone/>
            </a:pPr>
            <a:r>
              <a:t/>
            </a:r>
            <a:endParaRPr sz="2800">
              <a:latin typeface="Times New Roman"/>
              <a:ea typeface="Times New Roman"/>
              <a:cs typeface="Times New Roman"/>
              <a:sym typeface="Times New Roman"/>
            </a:endParaRPr>
          </a:p>
          <a:p>
            <a:pPr indent="-96520" lvl="0" marL="274320" rtl="0" algn="l">
              <a:spcBef>
                <a:spcPts val="580"/>
              </a:spcBef>
              <a:spcAft>
                <a:spcPts val="0"/>
              </a:spcAft>
              <a:buClr>
                <a:schemeClr val="dk1"/>
              </a:buClr>
              <a:buSzPts val="2800"/>
              <a:buFont typeface="Noto Sans Symbols"/>
              <a:buNone/>
            </a:pPr>
            <a:r>
              <a:t/>
            </a:r>
            <a:endParaRPr sz="2800">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1"/>
          <p:cNvSpPr txBox="1"/>
          <p:nvPr>
            <p:ph idx="1" type="body"/>
          </p:nvPr>
        </p:nvSpPr>
        <p:spPr>
          <a:xfrm>
            <a:off x="228600" y="1371600"/>
            <a:ext cx="8686800" cy="5257800"/>
          </a:xfrm>
          <a:prstGeom prst="rect">
            <a:avLst/>
          </a:prstGeom>
          <a:noFill/>
          <a:ln>
            <a:noFill/>
          </a:ln>
        </p:spPr>
        <p:txBody>
          <a:bodyPr anchorCtr="0" anchor="t" bIns="45700" lIns="91425" spcFirstLastPara="1" rIns="91425" wrap="square" tIns="45700">
            <a:noAutofit/>
          </a:bodyPr>
          <a:lstStyle/>
          <a:p>
            <a:pPr indent="-274320" lvl="0" marL="274320" rtl="0" algn="just">
              <a:spcBef>
                <a:spcPts val="0"/>
              </a:spcBef>
              <a:spcAft>
                <a:spcPts val="0"/>
              </a:spcAft>
              <a:buClr>
                <a:schemeClr val="dk1"/>
              </a:buClr>
              <a:buSzPts val="2800"/>
              <a:buFont typeface="Noto Sans Symbols"/>
              <a:buChar char="⚫"/>
            </a:pPr>
            <a:r>
              <a:rPr lang="en-US" sz="2800">
                <a:latin typeface="Times New Roman"/>
                <a:ea typeface="Times New Roman"/>
                <a:cs typeface="Times New Roman"/>
                <a:sym typeface="Times New Roman"/>
              </a:rPr>
              <a:t>The mathematical form of the data on the interval scale may be written as</a:t>
            </a:r>
            <a:endParaRPr/>
          </a:p>
          <a:p>
            <a:pPr indent="-274320" lvl="0" marL="274320" rtl="0" algn="l">
              <a:spcBef>
                <a:spcPts val="580"/>
              </a:spcBef>
              <a:spcAft>
                <a:spcPts val="0"/>
              </a:spcAft>
              <a:buClr>
                <a:schemeClr val="dk1"/>
              </a:buClr>
              <a:buSzPts val="2800"/>
              <a:buFont typeface="Noto Sans Symbols"/>
              <a:buNone/>
            </a:pPr>
            <a:r>
              <a:t/>
            </a:r>
            <a:endParaRPr i="1" sz="2800">
              <a:latin typeface="Times New Roman"/>
              <a:ea typeface="Times New Roman"/>
              <a:cs typeface="Times New Roman"/>
              <a:sym typeface="Times New Roman"/>
            </a:endParaRPr>
          </a:p>
          <a:p>
            <a:pPr indent="-274320" lvl="0" marL="274320" rtl="0" algn="ctr">
              <a:spcBef>
                <a:spcPts val="580"/>
              </a:spcBef>
              <a:spcAft>
                <a:spcPts val="0"/>
              </a:spcAft>
              <a:buClr>
                <a:schemeClr val="dk1"/>
              </a:buClr>
              <a:buSzPts val="2800"/>
              <a:buFont typeface="Noto Sans Symbols"/>
              <a:buNone/>
            </a:pPr>
            <a:r>
              <a:rPr i="1" lang="en-US" sz="2800">
                <a:latin typeface="Times New Roman"/>
                <a:ea typeface="Times New Roman"/>
                <a:cs typeface="Times New Roman"/>
                <a:sym typeface="Times New Roman"/>
              </a:rPr>
              <a:t>Y = a + b X 		where a ≠ 0</a:t>
            </a:r>
            <a:endParaRPr/>
          </a:p>
          <a:p>
            <a:pPr indent="-274320" lvl="0" marL="274320" rtl="0" algn="ctr">
              <a:spcBef>
                <a:spcPts val="580"/>
              </a:spcBef>
              <a:spcAft>
                <a:spcPts val="0"/>
              </a:spcAft>
              <a:buClr>
                <a:schemeClr val="dk1"/>
              </a:buClr>
              <a:buSzPts val="2800"/>
              <a:buFont typeface="Noto Sans Symbols"/>
              <a:buNone/>
            </a:pPr>
            <a:r>
              <a:t/>
            </a:r>
            <a:endParaRPr i="1" sz="2800">
              <a:latin typeface="Times New Roman"/>
              <a:ea typeface="Times New Roman"/>
              <a:cs typeface="Times New Roman"/>
              <a:sym typeface="Times New Roman"/>
            </a:endParaRPr>
          </a:p>
          <a:p>
            <a:pPr indent="-274320" lvl="0" marL="274320" rtl="0" algn="just">
              <a:spcBef>
                <a:spcPts val="580"/>
              </a:spcBef>
              <a:spcAft>
                <a:spcPts val="0"/>
              </a:spcAft>
              <a:buClr>
                <a:schemeClr val="dk1"/>
              </a:buClr>
              <a:buSzPts val="2800"/>
              <a:buFont typeface="Noto Sans Symbols"/>
              <a:buChar char="⚫"/>
            </a:pPr>
            <a:r>
              <a:rPr lang="en-US" sz="2800">
                <a:latin typeface="Times New Roman"/>
                <a:ea typeface="Times New Roman"/>
                <a:cs typeface="Times New Roman"/>
                <a:sym typeface="Times New Roman"/>
              </a:rPr>
              <a:t>Ratio of the score on this scale does not have a meaningful interpretation.</a:t>
            </a:r>
            <a:endParaRPr/>
          </a:p>
          <a:p>
            <a:pPr indent="-274320" lvl="0" marL="274320" rtl="0" algn="ctr">
              <a:spcBef>
                <a:spcPts val="580"/>
              </a:spcBef>
              <a:spcAft>
                <a:spcPts val="0"/>
              </a:spcAft>
              <a:buClr>
                <a:schemeClr val="dk1"/>
              </a:buClr>
              <a:buSzPts val="2800"/>
              <a:buFont typeface="Noto Sans Symbols"/>
              <a:buNone/>
            </a:pPr>
            <a:r>
              <a:t/>
            </a:r>
            <a:endParaRPr sz="2800">
              <a:latin typeface="Times New Roman"/>
              <a:ea typeface="Times New Roman"/>
              <a:cs typeface="Times New Roman"/>
              <a:sym typeface="Times New Roman"/>
            </a:endParaRPr>
          </a:p>
          <a:p>
            <a:pPr indent="-96520" lvl="0" marL="274320" rtl="0" algn="l">
              <a:spcBef>
                <a:spcPts val="580"/>
              </a:spcBef>
              <a:spcAft>
                <a:spcPts val="0"/>
              </a:spcAft>
              <a:buClr>
                <a:schemeClr val="dk1"/>
              </a:buClr>
              <a:buSzPts val="2800"/>
              <a:buFont typeface="Noto Sans Symbols"/>
              <a:buNone/>
            </a:pPr>
            <a:r>
              <a:t/>
            </a:r>
            <a:endParaRPr sz="2800">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pic>
        <p:nvPicPr>
          <p:cNvPr id="148" name="Google Shape;148;p22"/>
          <p:cNvPicPr preferRelativeResize="0"/>
          <p:nvPr>
            <p:ph idx="1" type="body"/>
          </p:nvPr>
        </p:nvPicPr>
        <p:blipFill rotWithShape="1">
          <a:blip r:embed="rId3">
            <a:alphaModFix/>
          </a:blip>
          <a:srcRect b="0" l="0" r="0" t="0"/>
          <a:stretch/>
        </p:blipFill>
        <p:spPr>
          <a:xfrm>
            <a:off x="304800" y="2286000"/>
            <a:ext cx="8305800" cy="1057275"/>
          </a:xfrm>
          <a:prstGeom prst="rect">
            <a:avLst/>
          </a:prstGeom>
          <a:noFill/>
          <a:ln>
            <a:noFill/>
          </a:ln>
        </p:spPr>
      </p:pic>
      <p:sp>
        <p:nvSpPr>
          <p:cNvPr id="149" name="Google Shape;149;p22"/>
          <p:cNvSpPr/>
          <p:nvPr/>
        </p:nvSpPr>
        <p:spPr>
          <a:xfrm>
            <a:off x="7696200" y="0"/>
            <a:ext cx="1447800" cy="381000"/>
          </a:xfrm>
          <a:prstGeom prst="roundRect">
            <a:avLst>
              <a:gd fmla="val 16667" name="adj"/>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imes New Roman"/>
              <a:ea typeface="Times New Roman"/>
              <a:cs typeface="Times New Roman"/>
              <a:sym typeface="Times New Roman"/>
            </a:endParaRPr>
          </a:p>
        </p:txBody>
      </p:sp>
      <p:sp>
        <p:nvSpPr>
          <p:cNvPr id="150" name="Google Shape;150;p22"/>
          <p:cNvSpPr/>
          <p:nvPr/>
        </p:nvSpPr>
        <p:spPr>
          <a:xfrm>
            <a:off x="609600" y="1676400"/>
            <a:ext cx="7620000" cy="800219"/>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i="1" lang="en-US" sz="2800">
                <a:solidFill>
                  <a:schemeClr val="dk1"/>
                </a:solidFill>
                <a:latin typeface="Times New Roman"/>
                <a:ea typeface="Times New Roman"/>
                <a:cs typeface="Times New Roman"/>
                <a:sym typeface="Times New Roman"/>
              </a:rPr>
              <a:t>Example: </a:t>
            </a:r>
            <a:endParaRPr/>
          </a:p>
          <a:p>
            <a:pPr indent="0" lvl="0" marL="0" marR="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sp>
        <p:nvSpPr>
          <p:cNvPr id="151" name="Google Shape;151;p22"/>
          <p:cNvSpPr/>
          <p:nvPr/>
        </p:nvSpPr>
        <p:spPr>
          <a:xfrm>
            <a:off x="533400" y="3429000"/>
            <a:ext cx="8001000" cy="2246769"/>
          </a:xfrm>
          <a:prstGeom prst="rect">
            <a:avLst/>
          </a:prstGeom>
          <a:noFill/>
          <a:ln>
            <a:noFill/>
          </a:ln>
        </p:spPr>
        <p:txBody>
          <a:bodyPr anchorCtr="0" anchor="t" bIns="45700" lIns="91425" spcFirstLastPara="1" rIns="91425" wrap="square" tIns="45700">
            <a:noAutofit/>
          </a:bodyPr>
          <a:lstStyle/>
          <a:p>
            <a:pPr indent="0" lvl="0" marL="0" marR="0" rtl="0" algn="just">
              <a:spcBef>
                <a:spcPts val="0"/>
              </a:spcBef>
              <a:spcAft>
                <a:spcPts val="0"/>
              </a:spcAft>
              <a:buNone/>
            </a:pPr>
            <a:r>
              <a:rPr lang="en-US" sz="2800">
                <a:solidFill>
                  <a:schemeClr val="dk1"/>
                </a:solidFill>
                <a:latin typeface="Times New Roman"/>
                <a:ea typeface="Times New Roman"/>
                <a:cs typeface="Times New Roman"/>
                <a:sym typeface="Times New Roman"/>
              </a:rPr>
              <a:t>The numbers on this scale can be added, subtracted, multiplied or divided. One can compute arithmetic mean, standard deviation, correlation coefficient and conduct a t-test, Z-test, regression analysis and factor analysis.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23"/>
          <p:cNvSpPr txBox="1"/>
          <p:nvPr>
            <p:ph type="title"/>
          </p:nvPr>
        </p:nvSpPr>
        <p:spPr>
          <a:xfrm>
            <a:off x="457200" y="274638"/>
            <a:ext cx="8229600" cy="944562"/>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Times New Roman"/>
              <a:buNone/>
            </a:pPr>
            <a:r>
              <a:rPr b="1" lang="en-US">
                <a:latin typeface="Times New Roman"/>
                <a:ea typeface="Times New Roman"/>
                <a:cs typeface="Times New Roman"/>
                <a:sym typeface="Times New Roman"/>
              </a:rPr>
              <a:t>Ratio scale</a:t>
            </a:r>
            <a:endParaRPr/>
          </a:p>
        </p:txBody>
      </p:sp>
      <p:sp>
        <p:nvSpPr>
          <p:cNvPr id="158" name="Google Shape;158;p23"/>
          <p:cNvSpPr txBox="1"/>
          <p:nvPr>
            <p:ph idx="1" type="body"/>
          </p:nvPr>
        </p:nvSpPr>
        <p:spPr>
          <a:xfrm>
            <a:off x="457200" y="1295400"/>
            <a:ext cx="8382000" cy="5181600"/>
          </a:xfrm>
          <a:prstGeom prst="rect">
            <a:avLst/>
          </a:prstGeom>
          <a:no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2800"/>
              <a:buFont typeface="Noto Sans Symbols"/>
              <a:buNone/>
            </a:pPr>
            <a:r>
              <a:rPr lang="en-US" sz="2800">
                <a:latin typeface="Times New Roman"/>
                <a:ea typeface="Times New Roman"/>
                <a:cs typeface="Times New Roman"/>
                <a:sym typeface="Times New Roman"/>
              </a:rPr>
              <a:t>This is the highest level of measurement and takes care of the limitations of the interval scale measurement, where the ratio of the measurements on the scale does not have a meaningful interpretation.</a:t>
            </a:r>
            <a:endParaRPr/>
          </a:p>
          <a:p>
            <a:pPr indent="-274320" lvl="0" marL="274320" rtl="0" algn="l">
              <a:spcBef>
                <a:spcPts val="580"/>
              </a:spcBef>
              <a:spcAft>
                <a:spcPts val="0"/>
              </a:spcAft>
              <a:buClr>
                <a:schemeClr val="dk1"/>
              </a:buClr>
              <a:buSzPts val="2800"/>
              <a:buFont typeface="Noto Sans Symbols"/>
              <a:buChar char="⚫"/>
            </a:pPr>
            <a:r>
              <a:rPr lang="en-US" sz="2800">
                <a:latin typeface="Times New Roman"/>
                <a:ea typeface="Times New Roman"/>
                <a:cs typeface="Times New Roman"/>
                <a:sym typeface="Times New Roman"/>
              </a:rPr>
              <a:t>The mathematical form of the ratio scale data is given by </a:t>
            </a:r>
            <a:r>
              <a:rPr i="1" lang="en-US" sz="2800">
                <a:latin typeface="Times New Roman"/>
                <a:ea typeface="Times New Roman"/>
                <a:cs typeface="Times New Roman"/>
                <a:sym typeface="Times New Roman"/>
              </a:rPr>
              <a:t>Y = b X.</a:t>
            </a:r>
            <a:endParaRPr/>
          </a:p>
          <a:p>
            <a:pPr indent="-274320" lvl="0" marL="274320" rtl="0" algn="l">
              <a:spcBef>
                <a:spcPts val="580"/>
              </a:spcBef>
              <a:spcAft>
                <a:spcPts val="0"/>
              </a:spcAft>
              <a:buClr>
                <a:schemeClr val="dk1"/>
              </a:buClr>
              <a:buSzPts val="2800"/>
              <a:buFont typeface="Noto Sans Symbols"/>
              <a:buChar char="⚫"/>
            </a:pPr>
            <a:r>
              <a:rPr lang="en-US" sz="2800">
                <a:latin typeface="Times New Roman"/>
                <a:ea typeface="Times New Roman"/>
                <a:cs typeface="Times New Roman"/>
                <a:sym typeface="Times New Roman"/>
              </a:rPr>
              <a:t>In ratio scale, there is a natural zero (origin).</a:t>
            </a:r>
            <a:endParaRPr/>
          </a:p>
          <a:p>
            <a:pPr indent="-274320" lvl="0" marL="274320" rtl="0" algn="l">
              <a:spcBef>
                <a:spcPts val="580"/>
              </a:spcBef>
              <a:spcAft>
                <a:spcPts val="0"/>
              </a:spcAft>
              <a:buClr>
                <a:schemeClr val="dk1"/>
              </a:buClr>
              <a:buSzPts val="2400"/>
              <a:buFont typeface="Noto Sans Symbols"/>
              <a:buNone/>
            </a:pPr>
            <a:r>
              <a:rPr lang="en-US" sz="2400">
                <a:latin typeface="Times New Roman"/>
                <a:ea typeface="Times New Roman"/>
                <a:cs typeface="Times New Roman"/>
                <a:sym typeface="Times New Roman"/>
              </a:rPr>
              <a:t>Example: How many chemist shops are there in your locality?</a:t>
            </a:r>
            <a:endParaRPr/>
          </a:p>
          <a:p>
            <a:pPr indent="-36513" lvl="0" marL="342900" rtl="0" algn="l">
              <a:spcBef>
                <a:spcPts val="580"/>
              </a:spcBef>
              <a:spcAft>
                <a:spcPts val="0"/>
              </a:spcAft>
              <a:buClr>
                <a:schemeClr val="dk1"/>
              </a:buClr>
              <a:buSzPts val="2400"/>
              <a:buFont typeface="Noto Sans Symbols"/>
              <a:buNone/>
            </a:pPr>
            <a:r>
              <a:rPr lang="en-US" sz="2400">
                <a:latin typeface="Times New Roman"/>
                <a:ea typeface="Times New Roman"/>
                <a:cs typeface="Times New Roman"/>
                <a:sym typeface="Times New Roman"/>
              </a:rPr>
              <a:t>How many students are there in the MBA programme at IIFT?</a:t>
            </a:r>
            <a:endParaRPr/>
          </a:p>
          <a:p>
            <a:pPr indent="-280988" lvl="0" marL="280988" rtl="0" algn="l">
              <a:spcBef>
                <a:spcPts val="580"/>
              </a:spcBef>
              <a:spcAft>
                <a:spcPts val="0"/>
              </a:spcAft>
              <a:buClr>
                <a:schemeClr val="dk1"/>
              </a:buClr>
              <a:buSzPts val="2800"/>
              <a:buFont typeface="Noto Sans Symbols"/>
              <a:buChar char="⚫"/>
            </a:pPr>
            <a:r>
              <a:rPr lang="en-US" sz="2800">
                <a:latin typeface="Times New Roman"/>
                <a:ea typeface="Times New Roman"/>
                <a:cs typeface="Times New Roman"/>
                <a:sym typeface="Times New Roman"/>
              </a:rPr>
              <a:t>All mathematical and statistical operations can be carried out using the ratio scale data.</a:t>
            </a:r>
            <a:endParaRPr/>
          </a:p>
          <a:p>
            <a:pPr indent="-96520" lvl="0" marL="274320" rtl="0" algn="l">
              <a:spcBef>
                <a:spcPts val="580"/>
              </a:spcBef>
              <a:spcAft>
                <a:spcPts val="0"/>
              </a:spcAft>
              <a:buClr>
                <a:schemeClr val="dk1"/>
              </a:buClr>
              <a:buSzPts val="2800"/>
              <a:buFont typeface="Noto Sans Symbols"/>
              <a:buNone/>
            </a:pPr>
            <a:r>
              <a:t/>
            </a:r>
            <a:endParaRPr sz="2800">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2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Times New Roman"/>
              <a:buNone/>
            </a:pPr>
            <a:r>
              <a:rPr b="1" lang="en-US">
                <a:latin typeface="Times New Roman"/>
                <a:ea typeface="Times New Roman"/>
                <a:cs typeface="Times New Roman"/>
                <a:sym typeface="Times New Roman"/>
              </a:rPr>
              <a:t>Classification of Scales</a:t>
            </a:r>
            <a:endParaRPr/>
          </a:p>
        </p:txBody>
      </p:sp>
      <p:sp>
        <p:nvSpPr>
          <p:cNvPr id="165" name="Google Shape;165;p24"/>
          <p:cNvSpPr txBox="1"/>
          <p:nvPr>
            <p:ph idx="1" type="body"/>
          </p:nvPr>
        </p:nvSpPr>
        <p:spPr>
          <a:xfrm>
            <a:off x="381000" y="1905000"/>
            <a:ext cx="8382000" cy="4114800"/>
          </a:xfrm>
          <a:prstGeom prst="rect">
            <a:avLst/>
          </a:prstGeom>
          <a:noFill/>
          <a:ln>
            <a:noFill/>
          </a:ln>
        </p:spPr>
        <p:txBody>
          <a:bodyPr anchorCtr="0" anchor="t" bIns="45700" lIns="91425" spcFirstLastPara="1" rIns="91425" wrap="square" tIns="45700">
            <a:normAutofit/>
          </a:bodyPr>
          <a:lstStyle/>
          <a:p>
            <a:pPr indent="-342900" lvl="0" marL="342900" rtl="0" algn="ctr">
              <a:spcBef>
                <a:spcPts val="0"/>
              </a:spcBef>
              <a:spcAft>
                <a:spcPts val="0"/>
              </a:spcAft>
              <a:buClr>
                <a:schemeClr val="dk1"/>
              </a:buClr>
              <a:buSzPts val="2800"/>
              <a:buFont typeface="Noto Sans Symbols"/>
              <a:buNone/>
            </a:pPr>
            <a:r>
              <a:rPr b="1" lang="en-US" sz="2800">
                <a:latin typeface="Times New Roman"/>
                <a:ea typeface="Times New Roman"/>
                <a:cs typeface="Times New Roman"/>
                <a:sym typeface="Times New Roman"/>
              </a:rPr>
              <a:t>Single item vs multiple item scale</a:t>
            </a:r>
            <a:endParaRPr/>
          </a:p>
          <a:p>
            <a:pPr indent="-342900" lvl="0" marL="342900" rtl="0" algn="just">
              <a:spcBef>
                <a:spcPts val="1800"/>
              </a:spcBef>
              <a:spcAft>
                <a:spcPts val="0"/>
              </a:spcAft>
              <a:buClr>
                <a:schemeClr val="dk1"/>
              </a:buClr>
              <a:buSzPts val="2800"/>
              <a:buChar char="•"/>
            </a:pPr>
            <a:r>
              <a:rPr lang="en-US" sz="2800">
                <a:latin typeface="Times New Roman"/>
                <a:ea typeface="Times New Roman"/>
                <a:cs typeface="Times New Roman"/>
                <a:sym typeface="Times New Roman"/>
              </a:rPr>
              <a:t>In the single item scale, there is only one item to measure a given construct.</a:t>
            </a:r>
            <a:endParaRPr/>
          </a:p>
          <a:p>
            <a:pPr indent="-342900" lvl="0" marL="342900" rtl="0" algn="just">
              <a:spcBef>
                <a:spcPts val="1800"/>
              </a:spcBef>
              <a:spcAft>
                <a:spcPts val="0"/>
              </a:spcAft>
              <a:buClr>
                <a:schemeClr val="dk1"/>
              </a:buClr>
              <a:buSzPts val="2800"/>
              <a:buChar char="•"/>
            </a:pPr>
            <a:r>
              <a:rPr lang="en-US" sz="2800">
                <a:latin typeface="Times New Roman"/>
                <a:ea typeface="Times New Roman"/>
                <a:cs typeface="Times New Roman"/>
                <a:sym typeface="Times New Roman"/>
              </a:rPr>
              <a:t>In multiple item scale, there are many items that play a role in forming the underlying construct that the researcher is trying to measure. This is because each of the item forms some part of the construct which the researcher is trying to measure.</a:t>
            </a:r>
            <a:endParaRPr/>
          </a:p>
          <a:p>
            <a:pPr indent="-165100" lvl="0" marL="342900" rtl="0" algn="l">
              <a:spcBef>
                <a:spcPts val="560"/>
              </a:spcBef>
              <a:spcAft>
                <a:spcPts val="0"/>
              </a:spcAft>
              <a:buClr>
                <a:schemeClr val="dk1"/>
              </a:buClr>
              <a:buSzPts val="2800"/>
              <a:buNone/>
            </a:pPr>
            <a:r>
              <a:t/>
            </a:r>
            <a:endParaRPr sz="2800">
              <a:latin typeface="Times New Roman"/>
              <a:ea typeface="Times New Roman"/>
              <a:cs typeface="Times New Roman"/>
              <a:sym typeface="Times New Roman"/>
            </a:endParaRPr>
          </a:p>
        </p:txBody>
      </p:sp>
      <p:sp>
        <p:nvSpPr>
          <p:cNvPr id="166" name="Google Shape;166;p24"/>
          <p:cNvSpPr/>
          <p:nvPr/>
        </p:nvSpPr>
        <p:spPr>
          <a:xfrm>
            <a:off x="7696200" y="0"/>
            <a:ext cx="1447800" cy="381000"/>
          </a:xfrm>
          <a:prstGeom prst="roundRect">
            <a:avLst>
              <a:gd fmla="val 16667" name="adj"/>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25"/>
          <p:cNvSpPr txBox="1"/>
          <p:nvPr>
            <p:ph type="title"/>
          </p:nvPr>
        </p:nvSpPr>
        <p:spPr>
          <a:xfrm>
            <a:off x="457200" y="0"/>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Times New Roman"/>
              <a:buNone/>
            </a:pPr>
            <a:r>
              <a:rPr b="1" lang="en-US">
                <a:latin typeface="Times New Roman"/>
                <a:ea typeface="Times New Roman"/>
                <a:cs typeface="Times New Roman"/>
                <a:sym typeface="Times New Roman"/>
              </a:rPr>
              <a:t>Classification of Scales</a:t>
            </a:r>
            <a:endParaRPr/>
          </a:p>
        </p:txBody>
      </p:sp>
      <p:sp>
        <p:nvSpPr>
          <p:cNvPr id="173" name="Google Shape;173;p25"/>
          <p:cNvSpPr txBox="1"/>
          <p:nvPr>
            <p:ph idx="1" type="body"/>
          </p:nvPr>
        </p:nvSpPr>
        <p:spPr>
          <a:xfrm>
            <a:off x="914400" y="1219200"/>
            <a:ext cx="7772400" cy="533400"/>
          </a:xfrm>
          <a:prstGeom prst="rect">
            <a:avLst/>
          </a:prstGeom>
          <a:noFill/>
          <a:ln>
            <a:noFill/>
          </a:ln>
        </p:spPr>
        <p:txBody>
          <a:bodyPr anchorCtr="0" anchor="t" bIns="45700" lIns="91425" spcFirstLastPara="1" rIns="91425" wrap="square" tIns="45700">
            <a:normAutofit lnSpcReduction="10000"/>
          </a:bodyPr>
          <a:lstStyle/>
          <a:p>
            <a:pPr indent="-342900" lvl="0" marL="342900" rtl="0" algn="l">
              <a:spcBef>
                <a:spcPts val="0"/>
              </a:spcBef>
              <a:spcAft>
                <a:spcPts val="0"/>
              </a:spcAft>
              <a:buClr>
                <a:schemeClr val="dk1"/>
              </a:buClr>
              <a:buSzPts val="3200"/>
              <a:buFont typeface="Noto Sans Symbols"/>
              <a:buNone/>
            </a:pPr>
            <a:r>
              <a:rPr b="1" lang="en-US">
                <a:latin typeface="Times New Roman"/>
                <a:ea typeface="Times New Roman"/>
                <a:cs typeface="Times New Roman"/>
                <a:sym typeface="Times New Roman"/>
              </a:rPr>
              <a:t>Comparative vs non-comparative scales</a:t>
            </a:r>
            <a:endParaRPr/>
          </a:p>
          <a:p>
            <a:pPr indent="-139700" lvl="0" marL="342900" rtl="0" algn="l">
              <a:spcBef>
                <a:spcPts val="640"/>
              </a:spcBef>
              <a:spcAft>
                <a:spcPts val="0"/>
              </a:spcAft>
              <a:buClr>
                <a:schemeClr val="dk1"/>
              </a:buClr>
              <a:buSzPts val="3200"/>
              <a:buNone/>
            </a:pPr>
            <a:r>
              <a:t/>
            </a:r>
            <a:endParaRPr>
              <a:latin typeface="Times New Roman"/>
              <a:ea typeface="Times New Roman"/>
              <a:cs typeface="Times New Roman"/>
              <a:sym typeface="Times New Roman"/>
            </a:endParaRPr>
          </a:p>
        </p:txBody>
      </p:sp>
      <p:pic>
        <p:nvPicPr>
          <p:cNvPr id="174" name="Google Shape;174;p25"/>
          <p:cNvPicPr preferRelativeResize="0"/>
          <p:nvPr/>
        </p:nvPicPr>
        <p:blipFill rotWithShape="1">
          <a:blip r:embed="rId3">
            <a:alphaModFix/>
          </a:blip>
          <a:srcRect b="0" l="0" r="0" t="0"/>
          <a:stretch/>
        </p:blipFill>
        <p:spPr>
          <a:xfrm>
            <a:off x="0" y="1905000"/>
            <a:ext cx="9144000" cy="47244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26"/>
          <p:cNvSpPr txBox="1"/>
          <p:nvPr>
            <p:ph type="title"/>
          </p:nvPr>
        </p:nvSpPr>
        <p:spPr>
          <a:xfrm>
            <a:off x="457200" y="0"/>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Times New Roman"/>
              <a:buNone/>
            </a:pPr>
            <a:r>
              <a:rPr b="1" lang="en-US">
                <a:latin typeface="Times New Roman"/>
                <a:ea typeface="Times New Roman"/>
                <a:cs typeface="Times New Roman"/>
                <a:sym typeface="Times New Roman"/>
              </a:rPr>
              <a:t>Classification of Scales</a:t>
            </a:r>
            <a:endParaRPr/>
          </a:p>
        </p:txBody>
      </p:sp>
      <p:sp>
        <p:nvSpPr>
          <p:cNvPr id="181" name="Google Shape;181;p26"/>
          <p:cNvSpPr txBox="1"/>
          <p:nvPr>
            <p:ph idx="1" type="body"/>
          </p:nvPr>
        </p:nvSpPr>
        <p:spPr>
          <a:xfrm>
            <a:off x="0" y="914400"/>
            <a:ext cx="8839200" cy="1676400"/>
          </a:xfrm>
          <a:prstGeom prst="rect">
            <a:avLst/>
          </a:prstGeom>
          <a:noFill/>
          <a:ln>
            <a:noFill/>
          </a:ln>
        </p:spPr>
        <p:txBody>
          <a:bodyPr anchorCtr="0" anchor="t" bIns="45700" lIns="91425" spcFirstLastPara="1" rIns="91425" wrap="square" tIns="45700">
            <a:noAutofit/>
          </a:bodyPr>
          <a:lstStyle/>
          <a:p>
            <a:pPr indent="-274320" lvl="0" marL="274320" rtl="0" algn="just">
              <a:spcBef>
                <a:spcPts val="0"/>
              </a:spcBef>
              <a:spcAft>
                <a:spcPts val="0"/>
              </a:spcAft>
              <a:buClr>
                <a:schemeClr val="dk1"/>
              </a:buClr>
              <a:buSzPts val="2800"/>
              <a:buNone/>
            </a:pPr>
            <a:r>
              <a:rPr b="1" lang="en-US" sz="2800">
                <a:latin typeface="Times New Roman"/>
                <a:ea typeface="Times New Roman"/>
                <a:cs typeface="Times New Roman"/>
                <a:sym typeface="Times New Roman"/>
              </a:rPr>
              <a:t>	Comparative scales – </a:t>
            </a:r>
            <a:r>
              <a:rPr lang="en-US" sz="2800">
                <a:latin typeface="Times New Roman"/>
                <a:ea typeface="Times New Roman"/>
                <a:cs typeface="Times New Roman"/>
                <a:sym typeface="Times New Roman"/>
              </a:rPr>
              <a:t>In comparative scales it is assumed that respondents make use of a standard frame of reference before answering the question.</a:t>
            </a:r>
            <a:endParaRPr/>
          </a:p>
          <a:p>
            <a:pPr indent="-274320" lvl="0" marL="274320" rtl="0" algn="just">
              <a:spcBef>
                <a:spcPts val="580"/>
              </a:spcBef>
              <a:spcAft>
                <a:spcPts val="0"/>
              </a:spcAft>
              <a:buClr>
                <a:schemeClr val="dk1"/>
              </a:buClr>
              <a:buSzPts val="2800"/>
              <a:buFont typeface="Noto Sans Symbols"/>
              <a:buNone/>
            </a:pPr>
            <a:r>
              <a:rPr i="1" lang="en-US" sz="2800">
                <a:latin typeface="Times New Roman"/>
                <a:ea typeface="Times New Roman"/>
                <a:cs typeface="Times New Roman"/>
                <a:sym typeface="Times New Roman"/>
              </a:rPr>
              <a:t>Example:</a:t>
            </a:r>
            <a:endParaRPr/>
          </a:p>
          <a:p>
            <a:pPr indent="-96520" lvl="0" marL="274320" rtl="0" algn="just">
              <a:spcBef>
                <a:spcPts val="580"/>
              </a:spcBef>
              <a:spcAft>
                <a:spcPts val="0"/>
              </a:spcAft>
              <a:buClr>
                <a:schemeClr val="dk1"/>
              </a:buClr>
              <a:buSzPts val="2800"/>
              <a:buFont typeface="Noto Sans Symbols"/>
              <a:buNone/>
            </a:pPr>
            <a:r>
              <a:t/>
            </a:r>
            <a:endParaRPr sz="2800">
              <a:latin typeface="Times New Roman"/>
              <a:ea typeface="Times New Roman"/>
              <a:cs typeface="Times New Roman"/>
              <a:sym typeface="Times New Roman"/>
            </a:endParaRPr>
          </a:p>
        </p:txBody>
      </p:sp>
      <p:sp>
        <p:nvSpPr>
          <p:cNvPr id="182" name="Google Shape;182;p26"/>
          <p:cNvSpPr txBox="1"/>
          <p:nvPr/>
        </p:nvSpPr>
        <p:spPr>
          <a:xfrm>
            <a:off x="914400" y="274638"/>
            <a:ext cx="7772400" cy="1143000"/>
          </a:xfrm>
          <a:prstGeom prst="rect">
            <a:avLst/>
          </a:prstGeom>
          <a:noFill/>
          <a:ln>
            <a:noFill/>
          </a:ln>
        </p:spPr>
        <p:txBody>
          <a:bodyPr anchorCtr="0" anchor="b" bIns="91425" lIns="91425" spcFirstLastPara="1" rIns="91425" wrap="square" tIns="45700">
            <a:normAutofit/>
          </a:bodyPr>
          <a:lstStyle/>
          <a:p>
            <a:pPr indent="0" lvl="0" marL="0" marR="0" rtl="0" algn="ctr">
              <a:spcBef>
                <a:spcPts val="0"/>
              </a:spcBef>
              <a:spcAft>
                <a:spcPts val="0"/>
              </a:spcAft>
              <a:buNone/>
            </a:pPr>
            <a:r>
              <a:t/>
            </a:r>
            <a:endParaRPr sz="4000">
              <a:solidFill>
                <a:schemeClr val="dk2"/>
              </a:solidFill>
              <a:latin typeface="Times New Roman"/>
              <a:ea typeface="Times New Roman"/>
              <a:cs typeface="Times New Roman"/>
              <a:sym typeface="Times New Roman"/>
            </a:endParaRPr>
          </a:p>
        </p:txBody>
      </p:sp>
      <p:pic>
        <p:nvPicPr>
          <p:cNvPr id="183" name="Google Shape;183;p26"/>
          <p:cNvPicPr preferRelativeResize="0"/>
          <p:nvPr/>
        </p:nvPicPr>
        <p:blipFill rotWithShape="1">
          <a:blip r:embed="rId3">
            <a:alphaModFix/>
          </a:blip>
          <a:srcRect b="0" l="0" r="0" t="0"/>
          <a:stretch/>
        </p:blipFill>
        <p:spPr>
          <a:xfrm>
            <a:off x="228600" y="2667000"/>
            <a:ext cx="8686800" cy="40386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2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274320" lvl="0" marL="274320" rtl="0" algn="ctr">
              <a:spcBef>
                <a:spcPts val="0"/>
              </a:spcBef>
              <a:spcAft>
                <a:spcPts val="0"/>
              </a:spcAft>
              <a:buClr>
                <a:schemeClr val="dk1"/>
              </a:buClr>
              <a:buSzPts val="4400"/>
              <a:buFont typeface="Times New Roman"/>
              <a:buNone/>
            </a:pPr>
            <a:r>
              <a:rPr b="1" lang="en-US">
                <a:latin typeface="Times New Roman"/>
                <a:ea typeface="Times New Roman"/>
                <a:cs typeface="Times New Roman"/>
                <a:sym typeface="Times New Roman"/>
              </a:rPr>
              <a:t>Formats of Comparative Scales </a:t>
            </a:r>
            <a:r>
              <a:rPr lang="en-US">
                <a:latin typeface="Times New Roman"/>
                <a:ea typeface="Times New Roman"/>
                <a:cs typeface="Times New Roman"/>
                <a:sym typeface="Times New Roman"/>
              </a:rPr>
              <a:t> </a:t>
            </a:r>
            <a:endParaRPr/>
          </a:p>
        </p:txBody>
      </p:sp>
      <p:sp>
        <p:nvSpPr>
          <p:cNvPr id="190" name="Google Shape;190;p2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Clr>
                <a:schemeClr val="dk1"/>
              </a:buClr>
              <a:buSzPts val="2800"/>
              <a:buFont typeface="Noto Sans Symbols"/>
              <a:buChar char="⚫"/>
            </a:pPr>
            <a:r>
              <a:rPr lang="en-US" sz="2800">
                <a:latin typeface="Times New Roman"/>
                <a:ea typeface="Times New Roman"/>
                <a:cs typeface="Times New Roman"/>
                <a:sym typeface="Times New Roman"/>
              </a:rPr>
              <a:t>Paired comparison scales : Ex. Dominos &amp; Pizza hut</a:t>
            </a:r>
            <a:endParaRPr/>
          </a:p>
          <a:p>
            <a:pPr indent="-274320" lvl="0" marL="274320" rtl="0" algn="l">
              <a:spcBef>
                <a:spcPts val="580"/>
              </a:spcBef>
              <a:spcAft>
                <a:spcPts val="0"/>
              </a:spcAft>
              <a:buClr>
                <a:schemeClr val="dk1"/>
              </a:buClr>
              <a:buSzPts val="2800"/>
              <a:buFont typeface="Noto Sans Symbols"/>
              <a:buChar char="⚫"/>
            </a:pPr>
            <a:r>
              <a:rPr lang="en-US" sz="2800">
                <a:latin typeface="Times New Roman"/>
                <a:ea typeface="Times New Roman"/>
                <a:cs typeface="Times New Roman"/>
                <a:sym typeface="Times New Roman"/>
              </a:rPr>
              <a:t>Rank order scale: ex. Ranking of television serial from 1 to 10 scale</a:t>
            </a:r>
            <a:endParaRPr/>
          </a:p>
          <a:p>
            <a:pPr indent="-274320" lvl="0" marL="274320" rtl="0" algn="l">
              <a:spcBef>
                <a:spcPts val="580"/>
              </a:spcBef>
              <a:spcAft>
                <a:spcPts val="0"/>
              </a:spcAft>
              <a:buClr>
                <a:schemeClr val="dk1"/>
              </a:buClr>
              <a:buSzPts val="2800"/>
              <a:buFont typeface="Noto Sans Symbols"/>
              <a:buChar char="⚫"/>
            </a:pPr>
            <a:r>
              <a:rPr lang="en-US" sz="2800">
                <a:latin typeface="Times New Roman"/>
                <a:ea typeface="Times New Roman"/>
                <a:cs typeface="Times New Roman"/>
                <a:sym typeface="Times New Roman"/>
              </a:rPr>
              <a:t>Constant sum rating scale: </a:t>
            </a:r>
            <a:endParaRPr/>
          </a:p>
          <a:p>
            <a:pPr indent="0" lvl="0" marL="0" rtl="0" algn="l">
              <a:spcBef>
                <a:spcPts val="580"/>
              </a:spcBef>
              <a:spcAft>
                <a:spcPts val="0"/>
              </a:spcAft>
              <a:buClr>
                <a:schemeClr val="dk1"/>
              </a:buClr>
              <a:buSzPts val="2800"/>
              <a:buNone/>
            </a:pPr>
            <a:r>
              <a:t/>
            </a:r>
            <a:endParaRPr sz="2800">
              <a:latin typeface="Times New Roman"/>
              <a:ea typeface="Times New Roman"/>
              <a:cs typeface="Times New Roman"/>
              <a:sym typeface="Times New Roman"/>
            </a:endParaRPr>
          </a:p>
          <a:p>
            <a:pPr indent="-274320" lvl="0" marL="274320" rtl="0" algn="just">
              <a:spcBef>
                <a:spcPts val="580"/>
              </a:spcBef>
              <a:spcAft>
                <a:spcPts val="0"/>
              </a:spcAft>
              <a:buClr>
                <a:schemeClr val="dk1"/>
              </a:buClr>
              <a:buSzPts val="2800"/>
              <a:buNone/>
            </a:pPr>
            <a:r>
              <a:rPr b="1" lang="en-US" sz="2800">
                <a:latin typeface="Times New Roman"/>
                <a:ea typeface="Times New Roman"/>
                <a:cs typeface="Times New Roman"/>
                <a:sym typeface="Times New Roman"/>
              </a:rPr>
              <a:t>	</a:t>
            </a:r>
            <a:endParaRPr sz="2800">
              <a:latin typeface="Times New Roman"/>
              <a:ea typeface="Times New Roman"/>
              <a:cs typeface="Times New Roman"/>
              <a:sym typeface="Times New Roman"/>
            </a:endParaRPr>
          </a:p>
          <a:p>
            <a:pPr indent="-274320" lvl="0" marL="274320" rtl="0" algn="l">
              <a:spcBef>
                <a:spcPts val="580"/>
              </a:spcBef>
              <a:spcAft>
                <a:spcPts val="0"/>
              </a:spcAft>
              <a:buClr>
                <a:schemeClr val="dk1"/>
              </a:buClr>
              <a:buSzPts val="2800"/>
              <a:buFont typeface="Noto Sans Symbols"/>
              <a:buNone/>
            </a:pPr>
            <a:r>
              <a:t/>
            </a:r>
            <a:endParaRPr b="1" sz="2800">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28"/>
          <p:cNvSpPr txBox="1"/>
          <p:nvPr>
            <p:ph type="title"/>
          </p:nvPr>
        </p:nvSpPr>
        <p:spPr>
          <a:xfrm>
            <a:off x="457200" y="274638"/>
            <a:ext cx="8229600" cy="639762"/>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Times New Roman"/>
              <a:buNone/>
            </a:pPr>
            <a:r>
              <a:rPr lang="en-US" sz="4400">
                <a:latin typeface="Times New Roman"/>
                <a:ea typeface="Times New Roman"/>
                <a:cs typeface="Times New Roman"/>
                <a:sym typeface="Times New Roman"/>
              </a:rPr>
              <a:t>Constant sum rating scale</a:t>
            </a:r>
            <a:endParaRPr/>
          </a:p>
        </p:txBody>
      </p:sp>
      <p:sp>
        <p:nvSpPr>
          <p:cNvPr id="196" name="Google Shape;196;p28"/>
          <p:cNvSpPr txBox="1"/>
          <p:nvPr>
            <p:ph idx="1" type="body"/>
          </p:nvPr>
        </p:nvSpPr>
        <p:spPr>
          <a:xfrm>
            <a:off x="76200" y="914400"/>
            <a:ext cx="8915400" cy="5668962"/>
          </a:xfrm>
          <a:prstGeom prst="rect">
            <a:avLst/>
          </a:prstGeom>
          <a:noFill/>
          <a:ln>
            <a:noFill/>
          </a:ln>
        </p:spPr>
        <p:txBody>
          <a:bodyPr anchorCtr="0" anchor="t" bIns="45700" lIns="91425" spcFirstLastPara="1" rIns="91425" wrap="square" tIns="45700">
            <a:noAutofit/>
          </a:bodyPr>
          <a:lstStyle/>
          <a:p>
            <a:pPr indent="0" lvl="0" marL="0" rtl="0" algn="just">
              <a:spcBef>
                <a:spcPts val="0"/>
              </a:spcBef>
              <a:spcAft>
                <a:spcPts val="0"/>
              </a:spcAft>
              <a:buClr>
                <a:srgbClr val="000000"/>
              </a:buClr>
              <a:buSzPts val="2800"/>
              <a:buNone/>
            </a:pPr>
            <a:r>
              <a:rPr b="0" i="0" lang="en-US" sz="2800">
                <a:solidFill>
                  <a:srgbClr val="000000"/>
                </a:solidFill>
                <a:latin typeface="Times New Roman"/>
                <a:ea typeface="Times New Roman"/>
                <a:cs typeface="Times New Roman"/>
                <a:sym typeface="Times New Roman"/>
              </a:rPr>
              <a:t>Constant sum scales are a less frequently used question in surveys when compared to basic </a:t>
            </a:r>
            <a:r>
              <a:rPr lang="en-US" sz="2800">
                <a:solidFill>
                  <a:srgbClr val="000000"/>
                </a:solidFill>
                <a:latin typeface="Times New Roman"/>
                <a:ea typeface="Times New Roman"/>
                <a:cs typeface="Times New Roman"/>
                <a:sym typeface="Times New Roman"/>
              </a:rPr>
              <a:t>L</a:t>
            </a:r>
            <a:r>
              <a:rPr b="0" i="0" lang="en-US" sz="2800">
                <a:solidFill>
                  <a:srgbClr val="000000"/>
                </a:solidFill>
                <a:latin typeface="Times New Roman"/>
                <a:ea typeface="Times New Roman"/>
                <a:cs typeface="Times New Roman"/>
                <a:sym typeface="Times New Roman"/>
              </a:rPr>
              <a:t>ikert scales, or checklists (i.e. multiple response options). They are an excellent way to create variance among a data set and truly understand which factors are key and which are not for customers or respondents.</a:t>
            </a:r>
            <a:endParaRPr/>
          </a:p>
          <a:p>
            <a:pPr indent="0" lvl="0" marL="0" rtl="0" algn="just">
              <a:spcBef>
                <a:spcPts val="560"/>
              </a:spcBef>
              <a:spcAft>
                <a:spcPts val="0"/>
              </a:spcAft>
              <a:buClr>
                <a:schemeClr val="dk1"/>
              </a:buClr>
              <a:buSzPts val="2800"/>
              <a:buNone/>
            </a:pPr>
            <a:r>
              <a:t/>
            </a:r>
            <a:endParaRPr b="0" i="0" sz="2800">
              <a:solidFill>
                <a:srgbClr val="000000"/>
              </a:solidFill>
              <a:latin typeface="Times New Roman"/>
              <a:ea typeface="Times New Roman"/>
              <a:cs typeface="Times New Roman"/>
              <a:sym typeface="Times New Roman"/>
            </a:endParaRPr>
          </a:p>
          <a:p>
            <a:pPr indent="0" lvl="0" marL="0" rtl="0" algn="just">
              <a:spcBef>
                <a:spcPts val="560"/>
              </a:spcBef>
              <a:spcAft>
                <a:spcPts val="0"/>
              </a:spcAft>
              <a:buClr>
                <a:srgbClr val="000000"/>
              </a:buClr>
              <a:buSzPts val="2800"/>
              <a:buNone/>
            </a:pPr>
            <a:r>
              <a:rPr b="0" i="0" lang="en-US" sz="2800">
                <a:solidFill>
                  <a:srgbClr val="000000"/>
                </a:solidFill>
                <a:latin typeface="Times New Roman"/>
                <a:ea typeface="Times New Roman"/>
                <a:cs typeface="Times New Roman"/>
                <a:sym typeface="Times New Roman"/>
              </a:rPr>
              <a:t>They are especially helpful if you need to ask a question to a customer or respondent where you believe several factors are critical or of high importance. You are more likely to create differentiation in the data with a constant sum when compared to other question types.</a:t>
            </a:r>
            <a:endParaRPr sz="2800">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29"/>
          <p:cNvSpPr txBox="1"/>
          <p:nvPr>
            <p:ph type="title"/>
          </p:nvPr>
        </p:nvSpPr>
        <p:spPr>
          <a:xfrm>
            <a:off x="457200" y="274638"/>
            <a:ext cx="8229600" cy="457199"/>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2800"/>
              <a:buFont typeface="Roboto"/>
              <a:buNone/>
            </a:pPr>
            <a:r>
              <a:rPr b="0" i="0" lang="en-US" sz="2800">
                <a:solidFill>
                  <a:srgbClr val="000000"/>
                </a:solidFill>
                <a:latin typeface="Roboto"/>
                <a:ea typeface="Roboto"/>
                <a:cs typeface="Roboto"/>
                <a:sym typeface="Roboto"/>
              </a:rPr>
              <a:t>Example of a Single Response Question</a:t>
            </a:r>
            <a:endParaRPr sz="2800"/>
          </a:p>
        </p:txBody>
      </p:sp>
      <p:sp>
        <p:nvSpPr>
          <p:cNvPr id="202" name="Google Shape;202;p29"/>
          <p:cNvSpPr txBox="1"/>
          <p:nvPr>
            <p:ph idx="1" type="body"/>
          </p:nvPr>
        </p:nvSpPr>
        <p:spPr>
          <a:xfrm>
            <a:off x="304800" y="914400"/>
            <a:ext cx="8686800" cy="5668962"/>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000000"/>
              </a:buClr>
              <a:buSzPts val="2400"/>
              <a:buNone/>
            </a:pPr>
            <a:r>
              <a:rPr b="0" i="0" lang="en-US" sz="2400">
                <a:solidFill>
                  <a:srgbClr val="000000"/>
                </a:solidFill>
                <a:latin typeface="Times New Roman"/>
                <a:ea typeface="Times New Roman"/>
                <a:cs typeface="Times New Roman"/>
                <a:sym typeface="Times New Roman"/>
              </a:rPr>
              <a:t>Let's say you want to understand what factor(s) matter most to a consumer when purchasing a home. There are several ways you can ask this.</a:t>
            </a:r>
            <a:endParaRPr/>
          </a:p>
          <a:p>
            <a:pPr indent="0" lvl="0" marL="0" rtl="0" algn="l">
              <a:spcBef>
                <a:spcPts val="480"/>
              </a:spcBef>
              <a:spcAft>
                <a:spcPts val="0"/>
              </a:spcAft>
              <a:buClr>
                <a:schemeClr val="dk1"/>
              </a:buClr>
              <a:buSzPts val="2400"/>
              <a:buNone/>
            </a:pPr>
            <a:r>
              <a:t/>
            </a:r>
            <a:endParaRPr sz="2400">
              <a:solidFill>
                <a:srgbClr val="000000"/>
              </a:solidFill>
              <a:latin typeface="Times New Roman"/>
              <a:ea typeface="Times New Roman"/>
              <a:cs typeface="Times New Roman"/>
              <a:sym typeface="Times New Roman"/>
            </a:endParaRPr>
          </a:p>
          <a:p>
            <a:pPr indent="-342900" lvl="0" marL="342900" rtl="0" algn="l">
              <a:spcBef>
                <a:spcPts val="480"/>
              </a:spcBef>
              <a:spcAft>
                <a:spcPts val="0"/>
              </a:spcAft>
              <a:buClr>
                <a:srgbClr val="000000"/>
              </a:buClr>
              <a:buSzPts val="2400"/>
              <a:buChar char="•"/>
            </a:pPr>
            <a:r>
              <a:rPr b="0" i="0" lang="en-US" sz="2400">
                <a:solidFill>
                  <a:srgbClr val="000000"/>
                </a:solidFill>
                <a:latin typeface="Times New Roman"/>
                <a:ea typeface="Times New Roman"/>
                <a:cs typeface="Times New Roman"/>
                <a:sym typeface="Times New Roman"/>
              </a:rPr>
              <a:t>One option is a single response question:</a:t>
            </a:r>
            <a:endParaRPr/>
          </a:p>
          <a:p>
            <a:pPr indent="-342900" lvl="0" marL="342900" rtl="0" algn="l">
              <a:spcBef>
                <a:spcPts val="480"/>
              </a:spcBef>
              <a:spcAft>
                <a:spcPts val="0"/>
              </a:spcAft>
              <a:buClr>
                <a:srgbClr val="000000"/>
              </a:buClr>
              <a:buSzPts val="2400"/>
              <a:buChar char="•"/>
            </a:pPr>
            <a:r>
              <a:rPr b="0" i="0" lang="en-US" sz="2400">
                <a:solidFill>
                  <a:srgbClr val="000000"/>
                </a:solidFill>
                <a:latin typeface="Times New Roman"/>
                <a:ea typeface="Times New Roman"/>
                <a:cs typeface="Times New Roman"/>
                <a:sym typeface="Times New Roman"/>
              </a:rPr>
              <a:t>Q: What one factor is most important to you when buying a home? Select one.</a:t>
            </a:r>
            <a:endParaRPr/>
          </a:p>
          <a:p>
            <a:pPr indent="-342900" lvl="0" marL="342900" rtl="0" algn="l">
              <a:spcBef>
                <a:spcPts val="480"/>
              </a:spcBef>
              <a:spcAft>
                <a:spcPts val="0"/>
              </a:spcAft>
              <a:buClr>
                <a:srgbClr val="000000"/>
              </a:buClr>
              <a:buSzPts val="2400"/>
              <a:buChar char="•"/>
            </a:pPr>
            <a:r>
              <a:rPr b="0" i="0" lang="en-US" sz="2400">
                <a:solidFill>
                  <a:srgbClr val="000000"/>
                </a:solidFill>
                <a:latin typeface="Times New Roman"/>
                <a:ea typeface="Times New Roman"/>
                <a:cs typeface="Times New Roman"/>
                <a:sym typeface="Times New Roman"/>
              </a:rPr>
              <a:t>A: Price, Location, School District, Inside Features, etc.</a:t>
            </a:r>
            <a:endParaRPr/>
          </a:p>
          <a:p>
            <a:pPr indent="0" lvl="0" marL="0" rtl="0" algn="l">
              <a:spcBef>
                <a:spcPts val="480"/>
              </a:spcBef>
              <a:spcAft>
                <a:spcPts val="0"/>
              </a:spcAft>
              <a:buClr>
                <a:schemeClr val="dk1"/>
              </a:buClr>
              <a:buSzPts val="2400"/>
              <a:buNone/>
            </a:pPr>
            <a:r>
              <a:t/>
            </a:r>
            <a:endParaRPr sz="2400">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30"/>
          <p:cNvSpPr txBox="1"/>
          <p:nvPr>
            <p:ph type="title"/>
          </p:nvPr>
        </p:nvSpPr>
        <p:spPr>
          <a:xfrm>
            <a:off x="457200" y="274638"/>
            <a:ext cx="8229600" cy="563562"/>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t/>
            </a:r>
            <a:endParaRPr/>
          </a:p>
        </p:txBody>
      </p:sp>
      <p:sp>
        <p:nvSpPr>
          <p:cNvPr id="208" name="Google Shape;208;p30"/>
          <p:cNvSpPr txBox="1"/>
          <p:nvPr>
            <p:ph idx="1" type="body"/>
          </p:nvPr>
        </p:nvSpPr>
        <p:spPr>
          <a:xfrm>
            <a:off x="152400" y="1143000"/>
            <a:ext cx="8839200" cy="5440362"/>
          </a:xfrm>
          <a:prstGeom prst="rect">
            <a:avLst/>
          </a:prstGeom>
          <a:noFill/>
          <a:ln>
            <a:noFill/>
          </a:ln>
        </p:spPr>
        <p:txBody>
          <a:bodyPr anchorCtr="0" anchor="t" bIns="45700" lIns="91425" spcFirstLastPara="1" rIns="91425" wrap="square" tIns="45700">
            <a:normAutofit fontScale="85000" lnSpcReduction="10000"/>
          </a:bodyPr>
          <a:lstStyle/>
          <a:p>
            <a:pPr indent="-342900" lvl="0" marL="342900" rtl="0" algn="just">
              <a:spcBef>
                <a:spcPts val="0"/>
              </a:spcBef>
              <a:spcAft>
                <a:spcPts val="0"/>
              </a:spcAft>
              <a:buClr>
                <a:srgbClr val="000000"/>
              </a:buClr>
              <a:buSzPct val="100000"/>
              <a:buChar char="•"/>
            </a:pPr>
            <a:r>
              <a:rPr b="0" i="0" lang="en-US">
                <a:solidFill>
                  <a:srgbClr val="000000"/>
                </a:solidFill>
                <a:latin typeface="Times New Roman"/>
                <a:ea typeface="Times New Roman"/>
                <a:cs typeface="Times New Roman"/>
                <a:sym typeface="Times New Roman"/>
              </a:rPr>
              <a:t>You are likely to get a mix of different responses here and your results may look like: price (40%), location (25%), school district (10%), inside features, (5%), etc. However, you do lack some context as to exactly how much more important price is compared to others. For some price may be very important but for others, it is not. However, a single response is likely to create more differentiation than a multiple response or likert scale option.</a:t>
            </a:r>
            <a:endParaRPr/>
          </a:p>
          <a:p>
            <a:pPr indent="-342900" lvl="0" marL="342900" rtl="0" algn="just">
              <a:spcBef>
                <a:spcPts val="544"/>
              </a:spcBef>
              <a:spcAft>
                <a:spcPts val="0"/>
              </a:spcAft>
              <a:buClr>
                <a:srgbClr val="000000"/>
              </a:buClr>
              <a:buSzPct val="100000"/>
              <a:buChar char="•"/>
            </a:pPr>
            <a:r>
              <a:rPr b="0" i="0" lang="en-US">
                <a:solidFill>
                  <a:srgbClr val="000000"/>
                </a:solidFill>
                <a:latin typeface="Times New Roman"/>
                <a:ea typeface="Times New Roman"/>
                <a:cs typeface="Times New Roman"/>
                <a:sym typeface="Times New Roman"/>
              </a:rPr>
              <a:t>But there is always a risk that each option comes back with an equal share within the margin of error. The results may appear as price (20%), location (20%), school district (20%), inside features (20%), etc. It is near impossible for anyone to understand which of these choices may be more or less important than the other.</a:t>
            </a:r>
            <a:endParaRPr/>
          </a:p>
          <a:p>
            <a:pPr indent="-170180" lvl="0" marL="342900" rtl="0" algn="just">
              <a:spcBef>
                <a:spcPts val="544"/>
              </a:spcBef>
              <a:spcAft>
                <a:spcPts val="0"/>
              </a:spcAft>
              <a:buClr>
                <a:schemeClr val="dk1"/>
              </a:buClr>
              <a:buSzPct val="100000"/>
              <a:buNone/>
            </a:pPr>
            <a:r>
              <a:t/>
            </a:r>
            <a:endParaRPr>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31"/>
          <p:cNvSpPr txBox="1"/>
          <p:nvPr>
            <p:ph type="title"/>
          </p:nvPr>
        </p:nvSpPr>
        <p:spPr>
          <a:xfrm>
            <a:off x="457200" y="274638"/>
            <a:ext cx="8229600" cy="56356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2800"/>
              <a:buFont typeface="Times New Roman"/>
              <a:buNone/>
            </a:pPr>
            <a:r>
              <a:rPr b="0" i="0" lang="en-US" sz="2800">
                <a:solidFill>
                  <a:srgbClr val="000000"/>
                </a:solidFill>
                <a:latin typeface="Times New Roman"/>
                <a:ea typeface="Times New Roman"/>
                <a:cs typeface="Times New Roman"/>
                <a:sym typeface="Times New Roman"/>
              </a:rPr>
              <a:t>Example of a Multiple Response Option</a:t>
            </a:r>
            <a:endParaRPr sz="2800">
              <a:latin typeface="Times New Roman"/>
              <a:ea typeface="Times New Roman"/>
              <a:cs typeface="Times New Roman"/>
              <a:sym typeface="Times New Roman"/>
            </a:endParaRPr>
          </a:p>
        </p:txBody>
      </p:sp>
      <p:sp>
        <p:nvSpPr>
          <p:cNvPr id="214" name="Google Shape;214;p31"/>
          <p:cNvSpPr txBox="1"/>
          <p:nvPr>
            <p:ph idx="1" type="body"/>
          </p:nvPr>
        </p:nvSpPr>
        <p:spPr>
          <a:xfrm>
            <a:off x="304800" y="990600"/>
            <a:ext cx="8534400" cy="5410200"/>
          </a:xfrm>
          <a:prstGeom prst="rect">
            <a:avLst/>
          </a:prstGeom>
          <a:noFill/>
          <a:ln>
            <a:noFill/>
          </a:ln>
        </p:spPr>
        <p:txBody>
          <a:bodyPr anchorCtr="0" anchor="t" bIns="45700" lIns="91425" spcFirstLastPara="1" rIns="91425" wrap="square" tIns="45700">
            <a:normAutofit/>
          </a:bodyPr>
          <a:lstStyle/>
          <a:p>
            <a:pPr indent="-342900" lvl="0" marL="342900" rtl="0" algn="just">
              <a:spcBef>
                <a:spcPts val="0"/>
              </a:spcBef>
              <a:spcAft>
                <a:spcPts val="0"/>
              </a:spcAft>
              <a:buClr>
                <a:srgbClr val="000000"/>
              </a:buClr>
              <a:buSzPts val="2400"/>
              <a:buChar char="•"/>
            </a:pPr>
            <a:r>
              <a:rPr b="0" i="0" lang="en-US" sz="2400">
                <a:solidFill>
                  <a:srgbClr val="000000"/>
                </a:solidFill>
                <a:latin typeface="Times New Roman"/>
                <a:ea typeface="Times New Roman"/>
                <a:cs typeface="Times New Roman"/>
                <a:sym typeface="Times New Roman"/>
              </a:rPr>
              <a:t>Q: What factor(s) are most important to you when buying a home? Select all that apply.</a:t>
            </a:r>
            <a:endParaRPr/>
          </a:p>
          <a:p>
            <a:pPr indent="-342900" lvl="0" marL="342900" rtl="0" algn="just">
              <a:spcBef>
                <a:spcPts val="480"/>
              </a:spcBef>
              <a:spcAft>
                <a:spcPts val="0"/>
              </a:spcAft>
              <a:buClr>
                <a:srgbClr val="000000"/>
              </a:buClr>
              <a:buSzPts val="2400"/>
              <a:buChar char="•"/>
            </a:pPr>
            <a:r>
              <a:rPr b="0" i="0" lang="en-US" sz="2400">
                <a:solidFill>
                  <a:srgbClr val="000000"/>
                </a:solidFill>
                <a:latin typeface="Times New Roman"/>
                <a:ea typeface="Times New Roman"/>
                <a:cs typeface="Times New Roman"/>
                <a:sym typeface="Times New Roman"/>
              </a:rPr>
              <a:t>A: Price, Location, School District, Inside Features, etc.</a:t>
            </a:r>
            <a:endParaRPr/>
          </a:p>
          <a:p>
            <a:pPr indent="-342900" lvl="0" marL="342900" rtl="0" algn="just">
              <a:spcBef>
                <a:spcPts val="480"/>
              </a:spcBef>
              <a:spcAft>
                <a:spcPts val="0"/>
              </a:spcAft>
              <a:buClr>
                <a:srgbClr val="000000"/>
              </a:buClr>
              <a:buSzPts val="2400"/>
              <a:buChar char="•"/>
            </a:pPr>
            <a:r>
              <a:rPr b="0" i="0" lang="en-US" sz="2400">
                <a:solidFill>
                  <a:srgbClr val="000000"/>
                </a:solidFill>
                <a:latin typeface="Times New Roman"/>
                <a:ea typeface="Times New Roman"/>
                <a:cs typeface="Times New Roman"/>
                <a:sym typeface="Times New Roman"/>
              </a:rPr>
              <a:t>Here, if all of the categories are deemed very important by the respondent you may end up with response breakdowns like price (96%), location (93%), school district (85%), inside features (83%), etc. This creates even less variance among responses making it more difficult to differentiate.</a:t>
            </a:r>
            <a:endParaRPr/>
          </a:p>
          <a:p>
            <a:pPr indent="-342900" lvl="0" marL="342900" rtl="0" algn="just">
              <a:spcBef>
                <a:spcPts val="480"/>
              </a:spcBef>
              <a:spcAft>
                <a:spcPts val="0"/>
              </a:spcAft>
              <a:buClr>
                <a:srgbClr val="000000"/>
              </a:buClr>
              <a:buSzPts val="2400"/>
              <a:buChar char="•"/>
            </a:pPr>
            <a:r>
              <a:rPr b="0" i="0" lang="en-US" sz="2400">
                <a:solidFill>
                  <a:srgbClr val="000000"/>
                </a:solidFill>
                <a:latin typeface="Times New Roman"/>
                <a:ea typeface="Times New Roman"/>
                <a:cs typeface="Times New Roman"/>
                <a:sym typeface="Times New Roman"/>
              </a:rPr>
              <a:t>Similar to the single response question, this also runs the risk of diluting the analysis by respondents seemingly selecting everything as important.</a:t>
            </a:r>
            <a:endParaRPr/>
          </a:p>
          <a:p>
            <a:pPr indent="0" lvl="0" marL="0" rtl="0" algn="just">
              <a:spcBef>
                <a:spcPts val="480"/>
              </a:spcBef>
              <a:spcAft>
                <a:spcPts val="0"/>
              </a:spcAft>
              <a:buClr>
                <a:schemeClr val="dk1"/>
              </a:buClr>
              <a:buSzPts val="2400"/>
              <a:buNone/>
            </a:pPr>
            <a:r>
              <a:t/>
            </a:r>
            <a:endParaRPr sz="2400">
              <a:latin typeface="Times New Roman"/>
              <a:ea typeface="Times New Roman"/>
              <a:cs typeface="Times New Roman"/>
              <a:sym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32"/>
          <p:cNvSpPr txBox="1"/>
          <p:nvPr>
            <p:ph type="title"/>
          </p:nvPr>
        </p:nvSpPr>
        <p:spPr>
          <a:xfrm>
            <a:off x="457200" y="0"/>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Times New Roman"/>
              <a:buNone/>
            </a:pPr>
            <a:r>
              <a:rPr b="1" lang="en-US">
                <a:latin typeface="Times New Roman"/>
                <a:ea typeface="Times New Roman"/>
                <a:cs typeface="Times New Roman"/>
                <a:sym typeface="Times New Roman"/>
              </a:rPr>
              <a:t>Classification of Scales</a:t>
            </a:r>
            <a:endParaRPr/>
          </a:p>
        </p:txBody>
      </p:sp>
      <p:sp>
        <p:nvSpPr>
          <p:cNvPr id="221" name="Google Shape;221;p32"/>
          <p:cNvSpPr txBox="1"/>
          <p:nvPr>
            <p:ph idx="1" type="body"/>
          </p:nvPr>
        </p:nvSpPr>
        <p:spPr>
          <a:xfrm>
            <a:off x="76200" y="1524000"/>
            <a:ext cx="8839200" cy="1676400"/>
          </a:xfrm>
          <a:prstGeom prst="rect">
            <a:avLst/>
          </a:prstGeom>
          <a:noFill/>
          <a:ln>
            <a:noFill/>
          </a:ln>
        </p:spPr>
        <p:txBody>
          <a:bodyPr anchorCtr="0" anchor="t" bIns="45700" lIns="91425" spcFirstLastPara="1" rIns="91425" wrap="square" tIns="45700">
            <a:noAutofit/>
          </a:bodyPr>
          <a:lstStyle/>
          <a:p>
            <a:pPr indent="-274320" lvl="0" marL="274320" rtl="0" algn="just">
              <a:spcBef>
                <a:spcPts val="0"/>
              </a:spcBef>
              <a:spcAft>
                <a:spcPts val="0"/>
              </a:spcAft>
              <a:buClr>
                <a:schemeClr val="dk1"/>
              </a:buClr>
              <a:buSzPts val="2800"/>
              <a:buNone/>
            </a:pPr>
            <a:r>
              <a:rPr b="1" lang="en-US" sz="2800">
                <a:latin typeface="Times New Roman"/>
                <a:ea typeface="Times New Roman"/>
                <a:cs typeface="Times New Roman"/>
                <a:sym typeface="Times New Roman"/>
              </a:rPr>
              <a:t>	Non-Comparative Scales – </a:t>
            </a:r>
            <a:r>
              <a:rPr lang="en-US" sz="2800">
                <a:latin typeface="Times New Roman"/>
                <a:ea typeface="Times New Roman"/>
                <a:cs typeface="Times New Roman"/>
                <a:sym typeface="Times New Roman"/>
              </a:rPr>
              <a:t>In the non-comparative scales, the respondents do not make use of any frame of reference before answering the questions.</a:t>
            </a:r>
            <a:endParaRPr/>
          </a:p>
          <a:p>
            <a:pPr indent="-274320" lvl="0" marL="274320" rtl="0" algn="just">
              <a:spcBef>
                <a:spcPts val="580"/>
              </a:spcBef>
              <a:spcAft>
                <a:spcPts val="0"/>
              </a:spcAft>
              <a:buClr>
                <a:schemeClr val="dk1"/>
              </a:buClr>
              <a:buSzPts val="2800"/>
              <a:buNone/>
            </a:pPr>
            <a:r>
              <a:t/>
            </a:r>
            <a:endParaRPr sz="2800">
              <a:latin typeface="Times New Roman"/>
              <a:ea typeface="Times New Roman"/>
              <a:cs typeface="Times New Roman"/>
              <a:sym typeface="Times New Roman"/>
            </a:endParaRPr>
          </a:p>
          <a:p>
            <a:pPr indent="-96520" lvl="0" marL="274320" rtl="0" algn="just">
              <a:spcBef>
                <a:spcPts val="580"/>
              </a:spcBef>
              <a:spcAft>
                <a:spcPts val="0"/>
              </a:spcAft>
              <a:buClr>
                <a:schemeClr val="dk1"/>
              </a:buClr>
              <a:buSzPts val="2800"/>
              <a:buFont typeface="Noto Sans Symbols"/>
              <a:buNone/>
            </a:pPr>
            <a:r>
              <a:t/>
            </a:r>
            <a:endParaRPr sz="2800">
              <a:latin typeface="Times New Roman"/>
              <a:ea typeface="Times New Roman"/>
              <a:cs typeface="Times New Roman"/>
              <a:sym typeface="Times New Roman"/>
            </a:endParaRPr>
          </a:p>
        </p:txBody>
      </p:sp>
      <p:sp>
        <p:nvSpPr>
          <p:cNvPr id="222" name="Google Shape;222;p32"/>
          <p:cNvSpPr txBox="1"/>
          <p:nvPr/>
        </p:nvSpPr>
        <p:spPr>
          <a:xfrm>
            <a:off x="914400" y="274638"/>
            <a:ext cx="7772400" cy="1143000"/>
          </a:xfrm>
          <a:prstGeom prst="rect">
            <a:avLst/>
          </a:prstGeom>
          <a:noFill/>
          <a:ln>
            <a:noFill/>
          </a:ln>
        </p:spPr>
        <p:txBody>
          <a:bodyPr anchorCtr="0" anchor="b" bIns="91425" lIns="91425" spcFirstLastPara="1" rIns="91425" wrap="square" tIns="45700">
            <a:normAutofit/>
          </a:bodyPr>
          <a:lstStyle/>
          <a:p>
            <a:pPr indent="0" lvl="0" marL="0" marR="0" rtl="0" algn="ctr">
              <a:spcBef>
                <a:spcPts val="0"/>
              </a:spcBef>
              <a:spcAft>
                <a:spcPts val="0"/>
              </a:spcAft>
              <a:buNone/>
            </a:pPr>
            <a:r>
              <a:t/>
            </a:r>
            <a:endParaRPr sz="4000">
              <a:solidFill>
                <a:schemeClr val="dk2"/>
              </a:solidFill>
              <a:latin typeface="Times New Roman"/>
              <a:ea typeface="Times New Roman"/>
              <a:cs typeface="Times New Roman"/>
              <a:sym typeface="Times New Roman"/>
            </a:endParaRPr>
          </a:p>
        </p:txBody>
      </p:sp>
      <p:pic>
        <p:nvPicPr>
          <p:cNvPr id="223" name="Google Shape;223;p32"/>
          <p:cNvPicPr preferRelativeResize="0"/>
          <p:nvPr/>
        </p:nvPicPr>
        <p:blipFill rotWithShape="1">
          <a:blip r:embed="rId3">
            <a:alphaModFix/>
          </a:blip>
          <a:srcRect b="0" l="0" r="0" t="0"/>
          <a:stretch/>
        </p:blipFill>
        <p:spPr>
          <a:xfrm>
            <a:off x="457200" y="3124200"/>
            <a:ext cx="8305800" cy="31242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33"/>
          <p:cNvSpPr txBox="1"/>
          <p:nvPr>
            <p:ph idx="1" type="body"/>
          </p:nvPr>
        </p:nvSpPr>
        <p:spPr>
          <a:xfrm>
            <a:off x="228600" y="914400"/>
            <a:ext cx="8686800" cy="2743200"/>
          </a:xfrm>
          <a:prstGeom prst="rect">
            <a:avLst/>
          </a:prstGeom>
          <a:no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2800"/>
              <a:buFont typeface="Noto Sans Symbols"/>
              <a:buNone/>
            </a:pPr>
            <a:r>
              <a:rPr lang="en-US" sz="2800">
                <a:latin typeface="Times New Roman"/>
                <a:ea typeface="Times New Roman"/>
                <a:cs typeface="Times New Roman"/>
                <a:sym typeface="Times New Roman"/>
              </a:rPr>
              <a:t>Graphic Rating Scale – This is a continuous scale and the respondent is asked to tick his preference on a graph.</a:t>
            </a:r>
            <a:endParaRPr/>
          </a:p>
          <a:p>
            <a:pPr indent="-274320" lvl="0" marL="274320" rtl="0" algn="just">
              <a:spcBef>
                <a:spcPts val="580"/>
              </a:spcBef>
              <a:spcAft>
                <a:spcPts val="0"/>
              </a:spcAft>
              <a:buClr>
                <a:schemeClr val="dk1"/>
              </a:buClr>
              <a:buSzPts val="2800"/>
              <a:buFont typeface="Noto Sans Symbols"/>
              <a:buNone/>
            </a:pPr>
            <a:r>
              <a:rPr b="1" lang="en-US" sz="2800">
                <a:latin typeface="Times New Roman"/>
                <a:ea typeface="Times New Roman"/>
                <a:cs typeface="Times New Roman"/>
                <a:sym typeface="Times New Roman"/>
              </a:rPr>
              <a:t>Examples: </a:t>
            </a:r>
            <a:endParaRPr/>
          </a:p>
          <a:p>
            <a:pPr indent="-274320" lvl="0" marL="274320" rtl="0" algn="just">
              <a:spcBef>
                <a:spcPts val="580"/>
              </a:spcBef>
              <a:spcAft>
                <a:spcPts val="0"/>
              </a:spcAft>
              <a:buClr>
                <a:schemeClr val="dk1"/>
              </a:buClr>
              <a:buSzPts val="2800"/>
              <a:buFont typeface="Noto Sans Symbols"/>
              <a:buNone/>
            </a:pPr>
            <a:r>
              <a:t/>
            </a:r>
            <a:endParaRPr b="1" sz="2800">
              <a:latin typeface="Times New Roman"/>
              <a:ea typeface="Times New Roman"/>
              <a:cs typeface="Times New Roman"/>
              <a:sym typeface="Times New Roman"/>
            </a:endParaRPr>
          </a:p>
          <a:p>
            <a:pPr indent="-274320" lvl="0" marL="274320" rtl="0" algn="just">
              <a:spcBef>
                <a:spcPts val="580"/>
              </a:spcBef>
              <a:spcAft>
                <a:spcPts val="0"/>
              </a:spcAft>
              <a:buClr>
                <a:schemeClr val="dk1"/>
              </a:buClr>
              <a:buSzPts val="2800"/>
              <a:buFont typeface="Noto Sans Symbols"/>
              <a:buNone/>
            </a:pPr>
            <a:r>
              <a:t/>
            </a:r>
            <a:endParaRPr b="1" sz="2800">
              <a:latin typeface="Times New Roman"/>
              <a:ea typeface="Times New Roman"/>
              <a:cs typeface="Times New Roman"/>
              <a:sym typeface="Times New Roman"/>
            </a:endParaRPr>
          </a:p>
        </p:txBody>
      </p:sp>
      <p:pic>
        <p:nvPicPr>
          <p:cNvPr id="230" name="Google Shape;230;p33"/>
          <p:cNvPicPr preferRelativeResize="0"/>
          <p:nvPr/>
        </p:nvPicPr>
        <p:blipFill rotWithShape="1">
          <a:blip r:embed="rId3">
            <a:alphaModFix/>
          </a:blip>
          <a:srcRect b="0" l="0" r="0" t="0"/>
          <a:stretch/>
        </p:blipFill>
        <p:spPr>
          <a:xfrm>
            <a:off x="228600" y="3124200"/>
            <a:ext cx="8610600" cy="3048000"/>
          </a:xfrm>
          <a:prstGeom prst="rect">
            <a:avLst/>
          </a:prstGeom>
          <a:noFill/>
          <a:ln>
            <a:noFill/>
          </a:ln>
        </p:spPr>
      </p:pic>
      <p:sp>
        <p:nvSpPr>
          <p:cNvPr id="231" name="Google Shape;231;p33"/>
          <p:cNvSpPr/>
          <p:nvPr/>
        </p:nvSpPr>
        <p:spPr>
          <a:xfrm>
            <a:off x="0" y="0"/>
            <a:ext cx="184731" cy="3693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34"/>
          <p:cNvSpPr txBox="1"/>
          <p:nvPr>
            <p:ph idx="1" type="body"/>
          </p:nvPr>
        </p:nvSpPr>
        <p:spPr>
          <a:xfrm>
            <a:off x="381000" y="609600"/>
            <a:ext cx="8610600" cy="9906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2800"/>
              <a:buFont typeface="Noto Sans Symbols"/>
              <a:buNone/>
            </a:pPr>
            <a:r>
              <a:rPr lang="en-US" sz="2800">
                <a:latin typeface="Times New Roman"/>
                <a:ea typeface="Times New Roman"/>
                <a:cs typeface="Times New Roman"/>
                <a:sym typeface="Times New Roman"/>
              </a:rPr>
              <a:t>Please put a tick mark (•) on the following line to indicate your preference for fast food.</a:t>
            </a:r>
            <a:endParaRPr/>
          </a:p>
        </p:txBody>
      </p:sp>
      <p:pic>
        <p:nvPicPr>
          <p:cNvPr id="238" name="Google Shape;238;p34"/>
          <p:cNvPicPr preferRelativeResize="0"/>
          <p:nvPr/>
        </p:nvPicPr>
        <p:blipFill rotWithShape="1">
          <a:blip r:embed="rId3">
            <a:alphaModFix/>
          </a:blip>
          <a:srcRect b="0" l="0" r="0" t="0"/>
          <a:stretch/>
        </p:blipFill>
        <p:spPr>
          <a:xfrm>
            <a:off x="576978" y="1600200"/>
            <a:ext cx="7907120" cy="1295400"/>
          </a:xfrm>
          <a:prstGeom prst="rect">
            <a:avLst/>
          </a:prstGeom>
          <a:noFill/>
          <a:ln>
            <a:noFill/>
          </a:ln>
        </p:spPr>
      </p:pic>
      <p:sp>
        <p:nvSpPr>
          <p:cNvPr id="239" name="Google Shape;239;p34"/>
          <p:cNvSpPr txBox="1"/>
          <p:nvPr/>
        </p:nvSpPr>
        <p:spPr>
          <a:xfrm>
            <a:off x="381000" y="2743200"/>
            <a:ext cx="8610600" cy="2209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accent1"/>
              </a:buClr>
              <a:buSzPts val="2380"/>
              <a:buFont typeface="Noto Sans Symbols"/>
              <a:buNone/>
            </a:pPr>
            <a:r>
              <a:rPr b="1" lang="en-US" sz="2800">
                <a:solidFill>
                  <a:schemeClr val="dk1"/>
                </a:solidFill>
                <a:latin typeface="Times New Roman"/>
                <a:ea typeface="Times New Roman"/>
                <a:cs typeface="Times New Roman"/>
                <a:sym typeface="Times New Roman"/>
              </a:rPr>
              <a:t>Alternative Presentation of Graphic Rating Scale </a:t>
            </a:r>
            <a:r>
              <a:rPr lang="en-US" sz="2800">
                <a:solidFill>
                  <a:schemeClr val="dk1"/>
                </a:solidFill>
                <a:latin typeface="Times New Roman"/>
                <a:ea typeface="Times New Roman"/>
                <a:cs typeface="Times New Roman"/>
                <a:sym typeface="Times New Roman"/>
              </a:rPr>
              <a:t>– </a:t>
            </a:r>
            <a:endParaRPr/>
          </a:p>
          <a:p>
            <a:pPr indent="0" lvl="0" marL="0" marR="0" rtl="0" algn="just">
              <a:spcBef>
                <a:spcPts val="0"/>
              </a:spcBef>
              <a:spcAft>
                <a:spcPts val="0"/>
              </a:spcAft>
              <a:buNone/>
            </a:pPr>
            <a:r>
              <a:rPr lang="en-US" sz="2800">
                <a:solidFill>
                  <a:schemeClr val="dk1"/>
                </a:solidFill>
                <a:latin typeface="Times New Roman"/>
                <a:ea typeface="Times New Roman"/>
                <a:cs typeface="Times New Roman"/>
                <a:sym typeface="Times New Roman"/>
              </a:rPr>
              <a:t>Please indicate how much do you like fast food by pointing to the face that best shows your attitude and taste. If you do not prefer it at all, you would point to face one. In case you prefer it the most, you would point to face seven.</a:t>
            </a:r>
            <a:endParaRPr/>
          </a:p>
        </p:txBody>
      </p:sp>
      <p:pic>
        <p:nvPicPr>
          <p:cNvPr id="240" name="Google Shape;240;p34"/>
          <p:cNvPicPr preferRelativeResize="0"/>
          <p:nvPr/>
        </p:nvPicPr>
        <p:blipFill rotWithShape="1">
          <a:blip r:embed="rId4">
            <a:alphaModFix/>
          </a:blip>
          <a:srcRect b="0" l="0" r="0" t="0"/>
          <a:stretch/>
        </p:blipFill>
        <p:spPr>
          <a:xfrm>
            <a:off x="609600" y="5343525"/>
            <a:ext cx="8000999" cy="120967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35"/>
          <p:cNvSpPr txBox="1"/>
          <p:nvPr>
            <p:ph idx="1" type="body"/>
          </p:nvPr>
        </p:nvSpPr>
        <p:spPr>
          <a:xfrm>
            <a:off x="228600" y="533400"/>
            <a:ext cx="8686800" cy="5943600"/>
          </a:xfrm>
          <a:prstGeom prst="rect">
            <a:avLst/>
          </a:prstGeom>
          <a:no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2800"/>
              <a:buFont typeface="Noto Sans Symbols"/>
              <a:buNone/>
            </a:pPr>
            <a:r>
              <a:rPr b="1" lang="en-US" sz="2800">
                <a:latin typeface="Times New Roman"/>
                <a:ea typeface="Times New Roman"/>
                <a:cs typeface="Times New Roman"/>
                <a:sym typeface="Times New Roman"/>
              </a:rPr>
              <a:t>Itemized rating scale – </a:t>
            </a:r>
            <a:r>
              <a:rPr lang="en-US" sz="2800">
                <a:latin typeface="Times New Roman"/>
                <a:ea typeface="Times New Roman"/>
                <a:cs typeface="Times New Roman"/>
                <a:sym typeface="Times New Roman"/>
              </a:rPr>
              <a:t>In the itemized rating scale, the respondents are provided with a scale that has a number of brief descriptions associated with each of the response categories.  There are certain issues that should be kept in mind while  designing the itemized rating scale.</a:t>
            </a:r>
            <a:endParaRPr/>
          </a:p>
          <a:p>
            <a:pPr indent="0" lvl="0" marL="0" rtl="0" algn="just">
              <a:spcBef>
                <a:spcPts val="580"/>
              </a:spcBef>
              <a:spcAft>
                <a:spcPts val="0"/>
              </a:spcAft>
              <a:buClr>
                <a:schemeClr val="dk1"/>
              </a:buClr>
              <a:buSzPts val="2800"/>
              <a:buFont typeface="Noto Sans Symbols"/>
              <a:buNone/>
            </a:pPr>
            <a:r>
              <a:t/>
            </a:r>
            <a:endParaRPr sz="2800">
              <a:latin typeface="Times New Roman"/>
              <a:ea typeface="Times New Roman"/>
              <a:cs typeface="Times New Roman"/>
              <a:sym typeface="Times New Roman"/>
            </a:endParaRPr>
          </a:p>
          <a:p>
            <a:pPr indent="-274320" lvl="0" marL="274320" rtl="0" algn="just">
              <a:spcBef>
                <a:spcPts val="580"/>
              </a:spcBef>
              <a:spcAft>
                <a:spcPts val="0"/>
              </a:spcAft>
              <a:buClr>
                <a:schemeClr val="dk1"/>
              </a:buClr>
              <a:buSzPts val="2800"/>
              <a:buFont typeface="Noto Sans Symbols"/>
              <a:buChar char="⚫"/>
            </a:pPr>
            <a:r>
              <a:rPr lang="en-US" sz="2800">
                <a:latin typeface="Times New Roman"/>
                <a:ea typeface="Times New Roman"/>
                <a:cs typeface="Times New Roman"/>
                <a:sym typeface="Times New Roman"/>
              </a:rPr>
              <a:t>Number of categories to be used</a:t>
            </a:r>
            <a:endParaRPr/>
          </a:p>
          <a:p>
            <a:pPr indent="-274320" lvl="0" marL="274320" rtl="0" algn="just">
              <a:spcBef>
                <a:spcPts val="580"/>
              </a:spcBef>
              <a:spcAft>
                <a:spcPts val="0"/>
              </a:spcAft>
              <a:buClr>
                <a:schemeClr val="dk1"/>
              </a:buClr>
              <a:buSzPts val="2800"/>
              <a:buFont typeface="Noto Sans Symbols"/>
              <a:buChar char="⚫"/>
            </a:pPr>
            <a:r>
              <a:rPr lang="en-US" sz="2800">
                <a:latin typeface="Times New Roman"/>
                <a:ea typeface="Times New Roman"/>
                <a:cs typeface="Times New Roman"/>
                <a:sym typeface="Times New Roman"/>
              </a:rPr>
              <a:t>Odd or even number of categories</a:t>
            </a:r>
            <a:endParaRPr/>
          </a:p>
          <a:p>
            <a:pPr indent="-274320" lvl="0" marL="274320" rtl="0" algn="just">
              <a:spcBef>
                <a:spcPts val="580"/>
              </a:spcBef>
              <a:spcAft>
                <a:spcPts val="0"/>
              </a:spcAft>
              <a:buClr>
                <a:schemeClr val="dk1"/>
              </a:buClr>
              <a:buSzPts val="2800"/>
              <a:buFont typeface="Noto Sans Symbols"/>
              <a:buChar char="⚫"/>
            </a:pPr>
            <a:r>
              <a:rPr lang="en-US" sz="2800">
                <a:latin typeface="Times New Roman"/>
                <a:ea typeface="Times New Roman"/>
                <a:cs typeface="Times New Roman"/>
                <a:sym typeface="Times New Roman"/>
              </a:rPr>
              <a:t>Balanced versus unbalanced scales</a:t>
            </a:r>
            <a:endParaRPr/>
          </a:p>
          <a:p>
            <a:pPr indent="-274320" lvl="0" marL="274320" rtl="0" algn="just">
              <a:spcBef>
                <a:spcPts val="580"/>
              </a:spcBef>
              <a:spcAft>
                <a:spcPts val="0"/>
              </a:spcAft>
              <a:buClr>
                <a:schemeClr val="dk1"/>
              </a:buClr>
              <a:buSzPts val="2800"/>
              <a:buFont typeface="Noto Sans Symbols"/>
              <a:buChar char="⚫"/>
            </a:pPr>
            <a:r>
              <a:rPr lang="en-US" sz="2800">
                <a:latin typeface="Times New Roman"/>
                <a:ea typeface="Times New Roman"/>
                <a:cs typeface="Times New Roman"/>
                <a:sym typeface="Times New Roman"/>
              </a:rPr>
              <a:t>Nature and degree of verbal description</a:t>
            </a:r>
            <a:endParaRPr/>
          </a:p>
          <a:p>
            <a:pPr indent="-274320" lvl="0" marL="274320" rtl="0" algn="just">
              <a:spcBef>
                <a:spcPts val="580"/>
              </a:spcBef>
              <a:spcAft>
                <a:spcPts val="0"/>
              </a:spcAft>
              <a:buClr>
                <a:schemeClr val="dk1"/>
              </a:buClr>
              <a:buSzPts val="2800"/>
              <a:buFont typeface="Noto Sans Symbols"/>
              <a:buChar char="⚫"/>
            </a:pPr>
            <a:r>
              <a:rPr lang="en-US" sz="2800">
                <a:latin typeface="Times New Roman"/>
                <a:ea typeface="Times New Roman"/>
                <a:cs typeface="Times New Roman"/>
                <a:sym typeface="Times New Roman"/>
              </a:rPr>
              <a:t>Forced versus non-forced scales</a:t>
            </a:r>
            <a:endParaRPr/>
          </a:p>
          <a:p>
            <a:pPr indent="-274320" lvl="0" marL="274320" rtl="0" algn="just">
              <a:spcBef>
                <a:spcPts val="580"/>
              </a:spcBef>
              <a:spcAft>
                <a:spcPts val="0"/>
              </a:spcAft>
              <a:buClr>
                <a:schemeClr val="dk1"/>
              </a:buClr>
              <a:buSzPts val="2800"/>
              <a:buFont typeface="Noto Sans Symbols"/>
              <a:buChar char="⚫"/>
            </a:pPr>
            <a:r>
              <a:rPr lang="en-US" sz="2800">
                <a:latin typeface="Times New Roman"/>
                <a:ea typeface="Times New Roman"/>
                <a:cs typeface="Times New Roman"/>
                <a:sym typeface="Times New Roman"/>
              </a:rPr>
              <a:t>Physical form</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36"/>
          <p:cNvSpPr txBox="1"/>
          <p:nvPr>
            <p:ph idx="1" type="body"/>
          </p:nvPr>
        </p:nvSpPr>
        <p:spPr>
          <a:xfrm>
            <a:off x="457200" y="381000"/>
            <a:ext cx="8229600" cy="6477000"/>
          </a:xfrm>
          <a:prstGeom prst="rect">
            <a:avLst/>
          </a:prstGeom>
          <a:noFill/>
          <a:ln>
            <a:noFill/>
          </a:ln>
        </p:spPr>
        <p:txBody>
          <a:bodyPr anchorCtr="0" anchor="t" bIns="45700" lIns="91425" spcFirstLastPara="1" rIns="91425" wrap="square" tIns="45700">
            <a:noAutofit/>
          </a:bodyPr>
          <a:lstStyle/>
          <a:p>
            <a:pPr indent="-274320" lvl="0" marL="274320" rtl="0" algn="ctr">
              <a:spcBef>
                <a:spcPts val="0"/>
              </a:spcBef>
              <a:spcAft>
                <a:spcPts val="0"/>
              </a:spcAft>
              <a:buClr>
                <a:schemeClr val="dk1"/>
              </a:buClr>
              <a:buSzPts val="2800"/>
              <a:buFont typeface="Noto Sans Symbols"/>
              <a:buNone/>
            </a:pPr>
            <a:r>
              <a:rPr b="1" lang="en-US" sz="2800">
                <a:latin typeface="Times New Roman"/>
                <a:ea typeface="Times New Roman"/>
                <a:cs typeface="Times New Roman"/>
                <a:sym typeface="Times New Roman"/>
              </a:rPr>
              <a:t>Examples of Itemized Rating Scales</a:t>
            </a:r>
            <a:endParaRPr/>
          </a:p>
          <a:p>
            <a:pPr indent="-274320" lvl="0" marL="274320" rtl="0" algn="l">
              <a:spcBef>
                <a:spcPts val="580"/>
              </a:spcBef>
              <a:spcAft>
                <a:spcPts val="0"/>
              </a:spcAft>
              <a:buClr>
                <a:schemeClr val="dk1"/>
              </a:buClr>
              <a:buSzPts val="2400"/>
              <a:buFont typeface="Noto Sans Symbols"/>
              <a:buNone/>
            </a:pPr>
            <a:r>
              <a:rPr b="1" lang="en-US" sz="2400">
                <a:latin typeface="Times New Roman"/>
                <a:ea typeface="Times New Roman"/>
                <a:cs typeface="Times New Roman"/>
                <a:sym typeface="Times New Roman"/>
              </a:rPr>
              <a:t>Likert scale  </a:t>
            </a:r>
            <a:endParaRPr/>
          </a:p>
          <a:p>
            <a:pPr indent="-274320" lvl="0" marL="274320" rtl="0" algn="just">
              <a:spcBef>
                <a:spcPts val="1800"/>
              </a:spcBef>
              <a:spcAft>
                <a:spcPts val="0"/>
              </a:spcAft>
              <a:buClr>
                <a:schemeClr val="dk1"/>
              </a:buClr>
              <a:buSzPts val="2400"/>
              <a:buFont typeface="Noto Sans Symbols"/>
              <a:buChar char="⚫"/>
            </a:pPr>
            <a:r>
              <a:rPr lang="en-US" sz="2400">
                <a:latin typeface="Times New Roman"/>
                <a:ea typeface="Times New Roman"/>
                <a:cs typeface="Times New Roman"/>
                <a:sym typeface="Times New Roman"/>
              </a:rPr>
              <a:t>The respondents are given a certain number of items (statements) on which they are asked to express their degree of agreement/disagreement. </a:t>
            </a:r>
            <a:endParaRPr/>
          </a:p>
          <a:p>
            <a:pPr indent="-274320" lvl="0" marL="274320" rtl="0" algn="just">
              <a:spcBef>
                <a:spcPts val="1800"/>
              </a:spcBef>
              <a:spcAft>
                <a:spcPts val="0"/>
              </a:spcAft>
              <a:buClr>
                <a:schemeClr val="dk1"/>
              </a:buClr>
              <a:buSzPts val="2400"/>
              <a:buFont typeface="Noto Sans Symbols"/>
              <a:buChar char="⚫"/>
            </a:pPr>
            <a:r>
              <a:rPr lang="en-US" sz="2400">
                <a:latin typeface="Times New Roman"/>
                <a:ea typeface="Times New Roman"/>
                <a:cs typeface="Times New Roman"/>
                <a:sym typeface="Times New Roman"/>
              </a:rPr>
              <a:t>This is also called a summated scale because the scores on individual items can be added together to produce a total score for the respondent. </a:t>
            </a:r>
            <a:endParaRPr/>
          </a:p>
          <a:p>
            <a:pPr indent="-274320" lvl="0" marL="274320" rtl="0" algn="just">
              <a:spcBef>
                <a:spcPts val="1800"/>
              </a:spcBef>
              <a:spcAft>
                <a:spcPts val="0"/>
              </a:spcAft>
              <a:buClr>
                <a:schemeClr val="dk1"/>
              </a:buClr>
              <a:buSzPts val="2400"/>
              <a:buFont typeface="Noto Sans Symbols"/>
              <a:buChar char="⚫"/>
            </a:pPr>
            <a:r>
              <a:rPr lang="en-US" sz="2400">
                <a:latin typeface="Times New Roman"/>
                <a:ea typeface="Times New Roman"/>
                <a:cs typeface="Times New Roman"/>
                <a:sym typeface="Times New Roman"/>
              </a:rPr>
              <a:t>An assumption of the Likert scale is that each of the items (statements) measures some aspect of a single common factor, otherwise the scores on the items cannot legitimately be summed up. </a:t>
            </a:r>
            <a:endParaRPr/>
          </a:p>
          <a:p>
            <a:pPr indent="-274320" lvl="0" marL="274320" rtl="0" algn="just">
              <a:spcBef>
                <a:spcPts val="1800"/>
              </a:spcBef>
              <a:spcAft>
                <a:spcPts val="0"/>
              </a:spcAft>
              <a:buClr>
                <a:schemeClr val="dk1"/>
              </a:buClr>
              <a:buSzPts val="2400"/>
              <a:buFont typeface="Noto Sans Symbols"/>
              <a:buChar char="⚫"/>
            </a:pPr>
            <a:r>
              <a:rPr lang="en-US" sz="2400">
                <a:latin typeface="Times New Roman"/>
                <a:ea typeface="Times New Roman"/>
                <a:cs typeface="Times New Roman"/>
                <a:sym typeface="Times New Roman"/>
              </a:rPr>
              <a:t>In a typical research study, there are generally 25 to 30 items on a Likert scale.</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37"/>
          <p:cNvSpPr txBox="1"/>
          <p:nvPr/>
        </p:nvSpPr>
        <p:spPr>
          <a:xfrm>
            <a:off x="304800" y="6350000"/>
            <a:ext cx="4343400" cy="584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3200">
              <a:solidFill>
                <a:schemeClr val="dk1"/>
              </a:solidFill>
              <a:latin typeface="Gill Sans"/>
              <a:ea typeface="Gill Sans"/>
              <a:cs typeface="Gill Sans"/>
              <a:sym typeface="Gill Sans"/>
            </a:endParaRPr>
          </a:p>
        </p:txBody>
      </p:sp>
      <p:sp>
        <p:nvSpPr>
          <p:cNvPr id="259" name="Google Shape;259;p37"/>
          <p:cNvSpPr txBox="1"/>
          <p:nvPr/>
        </p:nvSpPr>
        <p:spPr>
          <a:xfrm>
            <a:off x="4114800" y="6484938"/>
            <a:ext cx="2743200" cy="4000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2000">
              <a:solidFill>
                <a:schemeClr val="dk1"/>
              </a:solidFill>
              <a:latin typeface="Gill Sans"/>
              <a:ea typeface="Gill Sans"/>
              <a:cs typeface="Gill Sans"/>
              <a:sym typeface="Gill Sans"/>
            </a:endParaRPr>
          </a:p>
        </p:txBody>
      </p:sp>
      <p:sp>
        <p:nvSpPr>
          <p:cNvPr id="260" name="Google Shape;260;p37"/>
          <p:cNvSpPr txBox="1"/>
          <p:nvPr>
            <p:ph idx="1" type="body"/>
          </p:nvPr>
        </p:nvSpPr>
        <p:spPr>
          <a:xfrm>
            <a:off x="685800" y="152400"/>
            <a:ext cx="7772400" cy="6096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Font typeface="Noto Sans Symbols"/>
              <a:buNone/>
            </a:pPr>
            <a:r>
              <a:rPr b="1" lang="en-US">
                <a:latin typeface="Times New Roman"/>
                <a:ea typeface="Times New Roman"/>
                <a:cs typeface="Times New Roman"/>
                <a:sym typeface="Times New Roman"/>
              </a:rPr>
              <a:t>Example of a Likert Scale:</a:t>
            </a:r>
            <a:endParaRPr/>
          </a:p>
        </p:txBody>
      </p:sp>
      <p:pic>
        <p:nvPicPr>
          <p:cNvPr id="261" name="Google Shape;261;p37"/>
          <p:cNvPicPr preferRelativeResize="0"/>
          <p:nvPr/>
        </p:nvPicPr>
        <p:blipFill rotWithShape="1">
          <a:blip r:embed="rId3">
            <a:alphaModFix/>
          </a:blip>
          <a:srcRect b="0" l="0" r="0" t="0"/>
          <a:stretch/>
        </p:blipFill>
        <p:spPr>
          <a:xfrm>
            <a:off x="0" y="762000"/>
            <a:ext cx="9144000" cy="609600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38"/>
          <p:cNvSpPr txBox="1"/>
          <p:nvPr>
            <p:ph idx="1" type="body"/>
          </p:nvPr>
        </p:nvSpPr>
        <p:spPr>
          <a:xfrm>
            <a:off x="228600" y="304800"/>
            <a:ext cx="8610600" cy="6400800"/>
          </a:xfrm>
          <a:prstGeom prst="rect">
            <a:avLst/>
          </a:prstGeom>
          <a:noFill/>
          <a:ln>
            <a:noFill/>
          </a:ln>
        </p:spPr>
        <p:txBody>
          <a:bodyPr anchorCtr="0" anchor="t" bIns="45700" lIns="91425" spcFirstLastPara="1" rIns="91425" wrap="square" tIns="45700">
            <a:noAutofit/>
          </a:bodyPr>
          <a:lstStyle/>
          <a:p>
            <a:pPr indent="-274320" lvl="0" marL="274320" rtl="0" algn="l">
              <a:spcBef>
                <a:spcPts val="0"/>
              </a:spcBef>
              <a:spcAft>
                <a:spcPts val="0"/>
              </a:spcAft>
              <a:buClr>
                <a:schemeClr val="dk1"/>
              </a:buClr>
              <a:buSzPts val="2800"/>
              <a:buFont typeface="Noto Sans Symbols"/>
              <a:buNone/>
            </a:pPr>
            <a:r>
              <a:rPr b="1" lang="en-US" sz="2800">
                <a:latin typeface="Times New Roman"/>
                <a:ea typeface="Times New Roman"/>
                <a:cs typeface="Times New Roman"/>
                <a:sym typeface="Times New Roman"/>
              </a:rPr>
              <a:t>Semantic Differential Scale</a:t>
            </a:r>
            <a:endParaRPr/>
          </a:p>
          <a:p>
            <a:pPr indent="-274320" lvl="0" marL="274320" rtl="0" algn="just">
              <a:spcBef>
                <a:spcPts val="1800"/>
              </a:spcBef>
              <a:spcAft>
                <a:spcPts val="0"/>
              </a:spcAft>
              <a:buClr>
                <a:schemeClr val="dk1"/>
              </a:buClr>
              <a:buSzPts val="2800"/>
              <a:buFont typeface="Noto Sans Symbols"/>
              <a:buChar char="⚫"/>
            </a:pPr>
            <a:r>
              <a:rPr lang="en-US" sz="2800">
                <a:latin typeface="Times New Roman"/>
                <a:ea typeface="Times New Roman"/>
                <a:cs typeface="Times New Roman"/>
                <a:sym typeface="Times New Roman"/>
              </a:rPr>
              <a:t>This scale is widely used to compare the images of competing brands, companies or services. </a:t>
            </a:r>
            <a:endParaRPr/>
          </a:p>
          <a:p>
            <a:pPr indent="-274320" lvl="0" marL="274320" rtl="0" algn="just">
              <a:spcBef>
                <a:spcPts val="1800"/>
              </a:spcBef>
              <a:spcAft>
                <a:spcPts val="0"/>
              </a:spcAft>
              <a:buClr>
                <a:schemeClr val="dk1"/>
              </a:buClr>
              <a:buSzPts val="2800"/>
              <a:buFont typeface="Noto Sans Symbols"/>
              <a:buChar char="⚫"/>
            </a:pPr>
            <a:r>
              <a:rPr lang="en-US" sz="2800">
                <a:latin typeface="Times New Roman"/>
                <a:ea typeface="Times New Roman"/>
                <a:cs typeface="Times New Roman"/>
                <a:sym typeface="Times New Roman"/>
              </a:rPr>
              <a:t>Here the respondent is required to rate each attitude or object on a number of five-or seven-point rating scales. </a:t>
            </a:r>
            <a:endParaRPr/>
          </a:p>
          <a:p>
            <a:pPr indent="-274320" lvl="0" marL="274320" rtl="0" algn="just">
              <a:spcBef>
                <a:spcPts val="1800"/>
              </a:spcBef>
              <a:spcAft>
                <a:spcPts val="0"/>
              </a:spcAft>
              <a:buClr>
                <a:schemeClr val="dk1"/>
              </a:buClr>
              <a:buSzPts val="2800"/>
              <a:buFont typeface="Noto Sans Symbols"/>
              <a:buChar char="⚫"/>
            </a:pPr>
            <a:r>
              <a:rPr lang="en-US" sz="2800">
                <a:latin typeface="Times New Roman"/>
                <a:ea typeface="Times New Roman"/>
                <a:cs typeface="Times New Roman"/>
                <a:sym typeface="Times New Roman"/>
              </a:rPr>
              <a:t>This scale is bounded at each end by bipolar adjectives or phrases. </a:t>
            </a:r>
            <a:endParaRPr/>
          </a:p>
          <a:p>
            <a:pPr indent="-274320" lvl="0" marL="274320" rtl="0" algn="just">
              <a:spcBef>
                <a:spcPts val="1800"/>
              </a:spcBef>
              <a:spcAft>
                <a:spcPts val="0"/>
              </a:spcAft>
              <a:buClr>
                <a:schemeClr val="dk1"/>
              </a:buClr>
              <a:buSzPts val="2800"/>
              <a:buFont typeface="Noto Sans Symbols"/>
              <a:buChar char="⚫"/>
            </a:pPr>
            <a:r>
              <a:rPr lang="en-US" sz="2800">
                <a:latin typeface="Times New Roman"/>
                <a:ea typeface="Times New Roman"/>
                <a:cs typeface="Times New Roman"/>
                <a:sym typeface="Times New Roman"/>
              </a:rPr>
              <a:t>The difference between Likert and Semantic differential scale is that in Likert scale, a number of statements (items) are presented to the respondents to express their degree of agreement/disagreement.  However, in the semantic differential scale, bipolar adjectives or phrases are used.</a:t>
            </a:r>
            <a:endParaRPr b="1" sz="2800">
              <a:latin typeface="Times New Roman"/>
              <a:ea typeface="Times New Roman"/>
              <a:cs typeface="Times New Roman"/>
              <a:sym typeface="Times New Roman"/>
            </a:endParaRPr>
          </a:p>
          <a:p>
            <a:pPr indent="-274320" lvl="0" marL="274320" rtl="0" algn="l">
              <a:spcBef>
                <a:spcPts val="580"/>
              </a:spcBef>
              <a:spcAft>
                <a:spcPts val="0"/>
              </a:spcAft>
              <a:buClr>
                <a:schemeClr val="dk1"/>
              </a:buClr>
              <a:buSzPts val="2800"/>
              <a:buFont typeface="Noto Sans Symbols"/>
              <a:buNone/>
            </a:pPr>
            <a:r>
              <a:t/>
            </a:r>
            <a:endParaRPr sz="2800">
              <a:latin typeface="Times New Roman"/>
              <a:ea typeface="Times New Roman"/>
              <a:cs typeface="Times New Roman"/>
              <a:sym typeface="Times New Roman"/>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39"/>
          <p:cNvSpPr txBox="1"/>
          <p:nvPr/>
        </p:nvSpPr>
        <p:spPr>
          <a:xfrm>
            <a:off x="304800" y="6350000"/>
            <a:ext cx="4343400" cy="584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3200">
              <a:solidFill>
                <a:schemeClr val="dk1"/>
              </a:solidFill>
              <a:latin typeface="Gill Sans"/>
              <a:ea typeface="Gill Sans"/>
              <a:cs typeface="Gill Sans"/>
              <a:sym typeface="Gill Sans"/>
            </a:endParaRPr>
          </a:p>
        </p:txBody>
      </p:sp>
      <p:sp>
        <p:nvSpPr>
          <p:cNvPr id="274" name="Google Shape;274;p39"/>
          <p:cNvSpPr txBox="1"/>
          <p:nvPr/>
        </p:nvSpPr>
        <p:spPr>
          <a:xfrm rot="-5400000">
            <a:off x="-2668587" y="2924174"/>
            <a:ext cx="5638800" cy="40005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2000">
              <a:solidFill>
                <a:schemeClr val="dk1"/>
              </a:solidFill>
              <a:latin typeface="Gill Sans"/>
              <a:ea typeface="Gill Sans"/>
              <a:cs typeface="Gill Sans"/>
              <a:sym typeface="Gill Sans"/>
            </a:endParaRPr>
          </a:p>
        </p:txBody>
      </p:sp>
      <p:sp>
        <p:nvSpPr>
          <p:cNvPr id="275" name="Google Shape;275;p39"/>
          <p:cNvSpPr txBox="1"/>
          <p:nvPr>
            <p:ph idx="1" type="body"/>
          </p:nvPr>
        </p:nvSpPr>
        <p:spPr>
          <a:xfrm>
            <a:off x="914400" y="304800"/>
            <a:ext cx="7772400" cy="609600"/>
          </a:xfrm>
          <a:prstGeom prst="rect">
            <a:avLst/>
          </a:prstGeom>
          <a:noFill/>
          <a:ln>
            <a:noFill/>
          </a:ln>
        </p:spPr>
        <p:txBody>
          <a:bodyPr anchorCtr="0" anchor="t" bIns="45700" lIns="91425" spcFirstLastPara="1" rIns="91425" wrap="square" tIns="45700">
            <a:normAutofit/>
          </a:bodyPr>
          <a:lstStyle/>
          <a:p>
            <a:pPr indent="-342900" lvl="0" marL="342900" rtl="0" algn="ctr">
              <a:spcBef>
                <a:spcPts val="0"/>
              </a:spcBef>
              <a:spcAft>
                <a:spcPts val="0"/>
              </a:spcAft>
              <a:buClr>
                <a:schemeClr val="dk1"/>
              </a:buClr>
              <a:buSzPts val="3200"/>
              <a:buFont typeface="Noto Sans Symbols"/>
              <a:buNone/>
            </a:pPr>
            <a:r>
              <a:rPr b="1" lang="en-US">
                <a:latin typeface="Times New Roman"/>
                <a:ea typeface="Times New Roman"/>
                <a:cs typeface="Times New Roman"/>
                <a:sym typeface="Times New Roman"/>
              </a:rPr>
              <a:t>Example of Semantic Differential Scale:</a:t>
            </a:r>
            <a:endParaRPr/>
          </a:p>
          <a:p>
            <a:pPr indent="-342900" lvl="0" marL="342900" rtl="0" algn="ctr">
              <a:spcBef>
                <a:spcPts val="640"/>
              </a:spcBef>
              <a:spcAft>
                <a:spcPts val="0"/>
              </a:spcAft>
              <a:buClr>
                <a:schemeClr val="dk1"/>
              </a:buClr>
              <a:buSzPts val="3200"/>
              <a:buFont typeface="Noto Sans Symbols"/>
              <a:buNone/>
            </a:pPr>
            <a:r>
              <a:t/>
            </a:r>
            <a:endParaRPr b="1">
              <a:latin typeface="Times New Roman"/>
              <a:ea typeface="Times New Roman"/>
              <a:cs typeface="Times New Roman"/>
              <a:sym typeface="Times New Roman"/>
            </a:endParaRPr>
          </a:p>
        </p:txBody>
      </p:sp>
      <p:pic>
        <p:nvPicPr>
          <p:cNvPr id="276" name="Google Shape;276;p39"/>
          <p:cNvPicPr preferRelativeResize="0"/>
          <p:nvPr/>
        </p:nvPicPr>
        <p:blipFill rotWithShape="1">
          <a:blip r:embed="rId3">
            <a:alphaModFix/>
          </a:blip>
          <a:srcRect b="0" l="0" r="0" t="0"/>
          <a:stretch/>
        </p:blipFill>
        <p:spPr>
          <a:xfrm>
            <a:off x="0" y="838200"/>
            <a:ext cx="9144000" cy="579120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40"/>
          <p:cNvSpPr/>
          <p:nvPr/>
        </p:nvSpPr>
        <p:spPr>
          <a:xfrm>
            <a:off x="7696200" y="0"/>
            <a:ext cx="1447800" cy="381000"/>
          </a:xfrm>
          <a:prstGeom prst="roundRect">
            <a:avLst>
              <a:gd fmla="val 16667" name="adj"/>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283" name="Google Shape;283;p40"/>
          <p:cNvPicPr preferRelativeResize="0"/>
          <p:nvPr/>
        </p:nvPicPr>
        <p:blipFill rotWithShape="1">
          <a:blip r:embed="rId3">
            <a:alphaModFix/>
          </a:blip>
          <a:srcRect b="0" l="0" r="0" t="0"/>
          <a:stretch/>
        </p:blipFill>
        <p:spPr>
          <a:xfrm>
            <a:off x="0" y="6400800"/>
            <a:ext cx="9144000" cy="457200"/>
          </a:xfrm>
          <a:prstGeom prst="rect">
            <a:avLst/>
          </a:prstGeom>
          <a:noFill/>
          <a:ln>
            <a:noFill/>
          </a:ln>
        </p:spPr>
      </p:pic>
      <p:sp>
        <p:nvSpPr>
          <p:cNvPr id="284" name="Google Shape;284;p40"/>
          <p:cNvSpPr txBox="1"/>
          <p:nvPr/>
        </p:nvSpPr>
        <p:spPr>
          <a:xfrm>
            <a:off x="304800" y="6350000"/>
            <a:ext cx="4343400" cy="584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3200">
              <a:solidFill>
                <a:schemeClr val="dk1"/>
              </a:solidFill>
              <a:latin typeface="Gill Sans"/>
              <a:ea typeface="Gill Sans"/>
              <a:cs typeface="Gill Sans"/>
              <a:sym typeface="Gill Sans"/>
            </a:endParaRPr>
          </a:p>
        </p:txBody>
      </p:sp>
      <p:pic>
        <p:nvPicPr>
          <p:cNvPr id="285" name="Google Shape;285;p40"/>
          <p:cNvPicPr preferRelativeResize="0"/>
          <p:nvPr/>
        </p:nvPicPr>
        <p:blipFill rotWithShape="1">
          <a:blip r:embed="rId4">
            <a:alphaModFix/>
          </a:blip>
          <a:srcRect b="0" l="0" r="0" t="0"/>
          <a:stretch/>
        </p:blipFill>
        <p:spPr>
          <a:xfrm>
            <a:off x="0" y="0"/>
            <a:ext cx="328613" cy="6400800"/>
          </a:xfrm>
          <a:prstGeom prst="rect">
            <a:avLst/>
          </a:prstGeom>
          <a:noFill/>
          <a:ln>
            <a:noFill/>
          </a:ln>
        </p:spPr>
      </p:pic>
      <p:sp>
        <p:nvSpPr>
          <p:cNvPr id="286" name="Google Shape;286;p40"/>
          <p:cNvSpPr txBox="1"/>
          <p:nvPr/>
        </p:nvSpPr>
        <p:spPr>
          <a:xfrm rot="-5400000">
            <a:off x="-2668587" y="2924174"/>
            <a:ext cx="5638800" cy="40005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2000">
              <a:solidFill>
                <a:schemeClr val="dk1"/>
              </a:solidFill>
              <a:latin typeface="Gill Sans"/>
              <a:ea typeface="Gill Sans"/>
              <a:cs typeface="Gill Sans"/>
              <a:sym typeface="Gill Sans"/>
            </a:endParaRPr>
          </a:p>
        </p:txBody>
      </p:sp>
      <p:sp>
        <p:nvSpPr>
          <p:cNvPr id="287" name="Google Shape;287;p4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1" lang="en-US"/>
              <a:t>Classification of Scales</a:t>
            </a:r>
            <a:endParaRPr/>
          </a:p>
        </p:txBody>
      </p:sp>
      <p:sp>
        <p:nvSpPr>
          <p:cNvPr id="288" name="Google Shape;288;p40"/>
          <p:cNvSpPr txBox="1"/>
          <p:nvPr>
            <p:ph idx="1" type="body"/>
          </p:nvPr>
        </p:nvSpPr>
        <p:spPr>
          <a:xfrm>
            <a:off x="914400" y="1447800"/>
            <a:ext cx="7772400" cy="609600"/>
          </a:xfrm>
          <a:prstGeom prst="rect">
            <a:avLst/>
          </a:prstGeom>
          <a:noFill/>
          <a:ln>
            <a:noFill/>
          </a:ln>
        </p:spPr>
        <p:txBody>
          <a:bodyPr anchorCtr="0" anchor="t" bIns="45700" lIns="91425" spcFirstLastPara="1" rIns="91425" wrap="square" tIns="45700">
            <a:normAutofit fontScale="77500" lnSpcReduction="20000"/>
          </a:bodyPr>
          <a:lstStyle/>
          <a:p>
            <a:pPr indent="-274320" lvl="0" marL="274320" rtl="0" algn="l">
              <a:spcBef>
                <a:spcPts val="0"/>
              </a:spcBef>
              <a:spcAft>
                <a:spcPts val="0"/>
              </a:spcAft>
              <a:buClr>
                <a:schemeClr val="dk1"/>
              </a:buClr>
              <a:buSzPct val="100000"/>
              <a:buFont typeface="Noto Sans Symbols"/>
              <a:buNone/>
            </a:pPr>
            <a:r>
              <a:rPr lang="en-US"/>
              <a:t>Example of Semantic Differential Scale: (Pictorial Profile)</a:t>
            </a:r>
            <a:endParaRPr/>
          </a:p>
          <a:p>
            <a:pPr indent="-274320" lvl="0" marL="274320" rtl="0" algn="l">
              <a:spcBef>
                <a:spcPts val="580"/>
              </a:spcBef>
              <a:spcAft>
                <a:spcPts val="0"/>
              </a:spcAft>
              <a:buClr>
                <a:schemeClr val="dk1"/>
              </a:buClr>
              <a:buSzPct val="100000"/>
              <a:buFont typeface="Noto Sans Symbols"/>
              <a:buNone/>
            </a:pPr>
            <a:r>
              <a:t/>
            </a:r>
            <a:endParaRPr/>
          </a:p>
        </p:txBody>
      </p:sp>
      <p:pic>
        <p:nvPicPr>
          <p:cNvPr id="289" name="Google Shape;289;p40"/>
          <p:cNvPicPr preferRelativeResize="0"/>
          <p:nvPr/>
        </p:nvPicPr>
        <p:blipFill rotWithShape="1">
          <a:blip r:embed="rId5">
            <a:alphaModFix/>
          </a:blip>
          <a:srcRect b="0" l="0" r="0" t="0"/>
          <a:stretch/>
        </p:blipFill>
        <p:spPr>
          <a:xfrm>
            <a:off x="762000" y="1905000"/>
            <a:ext cx="7620000" cy="434340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41"/>
          <p:cNvSpPr txBox="1"/>
          <p:nvPr>
            <p:ph idx="1" type="body"/>
          </p:nvPr>
        </p:nvSpPr>
        <p:spPr>
          <a:xfrm>
            <a:off x="838200" y="228600"/>
            <a:ext cx="7772400" cy="6858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b="1" lang="en-US">
                <a:latin typeface="Times New Roman"/>
                <a:ea typeface="Times New Roman"/>
                <a:cs typeface="Times New Roman"/>
                <a:sym typeface="Times New Roman"/>
              </a:rPr>
              <a:t>Stapel Scale</a:t>
            </a:r>
            <a:endParaRPr/>
          </a:p>
        </p:txBody>
      </p:sp>
      <p:pic>
        <p:nvPicPr>
          <p:cNvPr id="296" name="Google Shape;296;p41"/>
          <p:cNvPicPr preferRelativeResize="0"/>
          <p:nvPr/>
        </p:nvPicPr>
        <p:blipFill rotWithShape="1">
          <a:blip r:embed="rId3">
            <a:alphaModFix/>
          </a:blip>
          <a:srcRect b="0" l="0" r="0" t="0"/>
          <a:stretch/>
        </p:blipFill>
        <p:spPr>
          <a:xfrm>
            <a:off x="457200" y="990600"/>
            <a:ext cx="8229600" cy="525780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42"/>
          <p:cNvSpPr txBox="1"/>
          <p:nvPr>
            <p:ph type="title"/>
          </p:nvPr>
        </p:nvSpPr>
        <p:spPr>
          <a:xfrm>
            <a:off x="457200" y="274638"/>
            <a:ext cx="8229600" cy="792162"/>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Times New Roman"/>
              <a:buNone/>
            </a:pPr>
            <a:r>
              <a:rPr b="1" lang="en-US">
                <a:latin typeface="Times New Roman"/>
                <a:ea typeface="Times New Roman"/>
                <a:cs typeface="Times New Roman"/>
                <a:sym typeface="Times New Roman"/>
              </a:rPr>
              <a:t>Measurement Error</a:t>
            </a:r>
            <a:endParaRPr>
              <a:latin typeface="Times New Roman"/>
              <a:ea typeface="Times New Roman"/>
              <a:cs typeface="Times New Roman"/>
              <a:sym typeface="Times New Roman"/>
            </a:endParaRPr>
          </a:p>
        </p:txBody>
      </p:sp>
      <p:sp>
        <p:nvSpPr>
          <p:cNvPr id="303" name="Google Shape;303;p42"/>
          <p:cNvSpPr txBox="1"/>
          <p:nvPr>
            <p:ph idx="1" type="body"/>
          </p:nvPr>
        </p:nvSpPr>
        <p:spPr>
          <a:xfrm>
            <a:off x="152400" y="1066800"/>
            <a:ext cx="8839200" cy="5059363"/>
          </a:xfrm>
          <a:prstGeom prst="rect">
            <a:avLst/>
          </a:prstGeom>
          <a:no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2800"/>
              <a:buFont typeface="Noto Sans Symbols"/>
              <a:buNone/>
            </a:pPr>
            <a:r>
              <a:rPr lang="en-US" sz="2800">
                <a:latin typeface="Times New Roman"/>
                <a:ea typeface="Times New Roman"/>
                <a:cs typeface="Times New Roman"/>
                <a:sym typeface="Times New Roman"/>
              </a:rPr>
              <a:t>This occurs when the observed measurement on a construct or concept deviates from its true values.</a:t>
            </a:r>
            <a:endParaRPr/>
          </a:p>
          <a:p>
            <a:pPr indent="-274320" lvl="0" marL="274320" rtl="0" algn="just">
              <a:spcBef>
                <a:spcPts val="580"/>
              </a:spcBef>
              <a:spcAft>
                <a:spcPts val="0"/>
              </a:spcAft>
              <a:buClr>
                <a:schemeClr val="dk1"/>
              </a:buClr>
              <a:buSzPts val="2400"/>
              <a:buFont typeface="Noto Sans Symbols"/>
              <a:buNone/>
            </a:pPr>
            <a:r>
              <a:rPr b="1" lang="en-US" sz="2400">
                <a:latin typeface="Times New Roman"/>
                <a:ea typeface="Times New Roman"/>
                <a:cs typeface="Times New Roman"/>
                <a:sym typeface="Times New Roman"/>
              </a:rPr>
              <a:t>Reasons</a:t>
            </a:r>
            <a:endParaRPr/>
          </a:p>
          <a:p>
            <a:pPr indent="-274320" lvl="0" marL="274320" rtl="0" algn="just">
              <a:spcBef>
                <a:spcPts val="1800"/>
              </a:spcBef>
              <a:spcAft>
                <a:spcPts val="0"/>
              </a:spcAft>
              <a:buClr>
                <a:schemeClr val="dk1"/>
              </a:buClr>
              <a:buSzPts val="2400"/>
              <a:buFont typeface="Noto Sans Symbols"/>
              <a:buChar char="⚫"/>
            </a:pPr>
            <a:r>
              <a:rPr lang="en-US" sz="2400">
                <a:latin typeface="Times New Roman"/>
                <a:ea typeface="Times New Roman"/>
                <a:cs typeface="Times New Roman"/>
                <a:sym typeface="Times New Roman"/>
              </a:rPr>
              <a:t>Mood, fatigue and health of the respondent</a:t>
            </a:r>
            <a:endParaRPr/>
          </a:p>
          <a:p>
            <a:pPr indent="-274320" lvl="0" marL="274320" rtl="0" algn="just">
              <a:spcBef>
                <a:spcPts val="1800"/>
              </a:spcBef>
              <a:spcAft>
                <a:spcPts val="0"/>
              </a:spcAft>
              <a:buClr>
                <a:schemeClr val="dk1"/>
              </a:buClr>
              <a:buSzPts val="2400"/>
              <a:buFont typeface="Noto Sans Symbols"/>
              <a:buChar char="⚫"/>
            </a:pPr>
            <a:r>
              <a:rPr lang="en-US" sz="2400">
                <a:latin typeface="Times New Roman"/>
                <a:ea typeface="Times New Roman"/>
                <a:cs typeface="Times New Roman"/>
                <a:sym typeface="Times New Roman"/>
              </a:rPr>
              <a:t>Variations in the environment in which measurements are taken</a:t>
            </a:r>
            <a:endParaRPr/>
          </a:p>
          <a:p>
            <a:pPr indent="-274320" lvl="0" marL="274320" rtl="0" algn="just">
              <a:spcBef>
                <a:spcPts val="1800"/>
              </a:spcBef>
              <a:spcAft>
                <a:spcPts val="0"/>
              </a:spcAft>
              <a:buClr>
                <a:schemeClr val="dk1"/>
              </a:buClr>
              <a:buSzPts val="2400"/>
              <a:buFont typeface="Noto Sans Symbols"/>
              <a:buChar char="⚫"/>
            </a:pPr>
            <a:r>
              <a:rPr lang="en-US" sz="2400">
                <a:latin typeface="Times New Roman"/>
                <a:ea typeface="Times New Roman"/>
                <a:cs typeface="Times New Roman"/>
                <a:sym typeface="Times New Roman"/>
              </a:rPr>
              <a:t>A respondent may not understand the question being asked and the interviewer may have to rephrase the same. While rephrasing the question the interviewer’s bias may get into the responses.</a:t>
            </a:r>
            <a:endParaRPr/>
          </a:p>
          <a:p>
            <a:pPr indent="-274320" lvl="0" marL="274320" rtl="0" algn="just">
              <a:spcBef>
                <a:spcPts val="1800"/>
              </a:spcBef>
              <a:spcAft>
                <a:spcPts val="0"/>
              </a:spcAft>
              <a:buClr>
                <a:schemeClr val="dk1"/>
              </a:buClr>
              <a:buSzPts val="2400"/>
              <a:buFont typeface="Noto Sans Symbols"/>
              <a:buChar char="⚫"/>
            </a:pPr>
            <a:r>
              <a:rPr lang="en-US" sz="2400">
                <a:latin typeface="Times New Roman"/>
                <a:ea typeface="Times New Roman"/>
                <a:cs typeface="Times New Roman"/>
                <a:sym typeface="Times New Roman"/>
              </a:rPr>
              <a:t>Some of the questions in the questionnaire may be ambiguous errors may be committed at the time of coding, entering of data from questionnaire to the spreadsheet</a:t>
            </a:r>
            <a:endParaRPr b="1" sz="2400">
              <a:latin typeface="Times New Roman"/>
              <a:ea typeface="Times New Roman"/>
              <a:cs typeface="Times New Roman"/>
              <a:sym typeface="Times New Roman"/>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43"/>
          <p:cNvSpPr txBox="1"/>
          <p:nvPr>
            <p:ph idx="1" type="body"/>
          </p:nvPr>
        </p:nvSpPr>
        <p:spPr>
          <a:xfrm>
            <a:off x="457200" y="533400"/>
            <a:ext cx="8229600" cy="5943600"/>
          </a:xfrm>
          <a:prstGeom prst="rect">
            <a:avLst/>
          </a:prstGeom>
          <a:noFill/>
          <a:ln>
            <a:noFill/>
          </a:ln>
        </p:spPr>
        <p:txBody>
          <a:bodyPr anchorCtr="0" anchor="t" bIns="45700" lIns="91425" spcFirstLastPara="1" rIns="91425" wrap="square" tIns="45700">
            <a:normAutofit/>
          </a:bodyPr>
          <a:lstStyle/>
          <a:p>
            <a:pPr indent="0" lvl="0" marL="0" rtl="0" algn="ctr">
              <a:spcBef>
                <a:spcPts val="0"/>
              </a:spcBef>
              <a:spcAft>
                <a:spcPts val="0"/>
              </a:spcAft>
              <a:buClr>
                <a:schemeClr val="dk1"/>
              </a:buClr>
              <a:buSzPts val="4000"/>
              <a:buNone/>
            </a:pPr>
            <a:r>
              <a:rPr lang="en-US" sz="4000">
                <a:latin typeface="Times New Roman"/>
                <a:ea typeface="Times New Roman"/>
                <a:cs typeface="Times New Roman"/>
                <a:sym typeface="Times New Roman"/>
              </a:rPr>
              <a:t>Questionnaire</a:t>
            </a:r>
            <a:endParaRPr/>
          </a:p>
          <a:p>
            <a:pPr indent="0" lvl="0" marL="0" rtl="0" algn="ctr">
              <a:spcBef>
                <a:spcPts val="640"/>
              </a:spcBef>
              <a:spcAft>
                <a:spcPts val="0"/>
              </a:spcAft>
              <a:buClr>
                <a:schemeClr val="dk1"/>
              </a:buClr>
              <a:buSzPts val="3200"/>
              <a:buNone/>
            </a:pPr>
            <a:r>
              <a:t/>
            </a:r>
            <a:endParaRPr>
              <a:latin typeface="Times New Roman"/>
              <a:ea typeface="Times New Roman"/>
              <a:cs typeface="Times New Roman"/>
              <a:sym typeface="Times New Roman"/>
            </a:endParaRPr>
          </a:p>
          <a:p>
            <a:pPr indent="0" lvl="0" marL="0" rtl="0" algn="l">
              <a:spcBef>
                <a:spcPts val="640"/>
              </a:spcBef>
              <a:spcAft>
                <a:spcPts val="0"/>
              </a:spcAft>
              <a:buClr>
                <a:schemeClr val="dk1"/>
              </a:buClr>
              <a:buSzPts val="3200"/>
              <a:buNone/>
            </a:pPr>
            <a:r>
              <a:rPr lang="en-US">
                <a:latin typeface="Times New Roman"/>
                <a:ea typeface="Times New Roman"/>
                <a:cs typeface="Times New Roman"/>
                <a:sym typeface="Times New Roman"/>
              </a:rPr>
              <a:t>A Study of Customer Satisfaction towards State Bank of India</a:t>
            </a:r>
            <a:endParaRPr/>
          </a:p>
          <a:p>
            <a:pPr indent="0" lvl="0" marL="0" rtl="0" algn="l">
              <a:spcBef>
                <a:spcPts val="640"/>
              </a:spcBef>
              <a:spcAft>
                <a:spcPts val="0"/>
              </a:spcAft>
              <a:buClr>
                <a:schemeClr val="dk1"/>
              </a:buClr>
              <a:buSzPts val="3200"/>
              <a:buNone/>
            </a:pPr>
            <a:r>
              <a:t/>
            </a:r>
            <a:endParaRPr>
              <a:latin typeface="Times New Roman"/>
              <a:ea typeface="Times New Roman"/>
              <a:cs typeface="Times New Roman"/>
              <a:sym typeface="Times New Roman"/>
            </a:endParaRPr>
          </a:p>
          <a:p>
            <a:pPr indent="0" lvl="0" marL="0" rtl="0" algn="l">
              <a:spcBef>
                <a:spcPts val="640"/>
              </a:spcBef>
              <a:spcAft>
                <a:spcPts val="0"/>
              </a:spcAft>
              <a:buClr>
                <a:schemeClr val="dk1"/>
              </a:buClr>
              <a:buSzPts val="3200"/>
              <a:buNone/>
            </a:pPr>
            <a:r>
              <a:t/>
            </a:r>
            <a:endParaRPr>
              <a:latin typeface="Times New Roman"/>
              <a:ea typeface="Times New Roman"/>
              <a:cs typeface="Times New Roman"/>
              <a:sym typeface="Times New Roman"/>
            </a:endParaRPr>
          </a:p>
          <a:p>
            <a:pPr indent="0" lvl="0" marL="0" rtl="0" algn="l">
              <a:spcBef>
                <a:spcPts val="640"/>
              </a:spcBef>
              <a:spcAft>
                <a:spcPts val="0"/>
              </a:spcAft>
              <a:buClr>
                <a:schemeClr val="dk1"/>
              </a:buClr>
              <a:buSzPts val="3200"/>
              <a:buNone/>
            </a:pPr>
            <a:r>
              <a:rPr lang="en-US">
                <a:latin typeface="Times New Roman"/>
                <a:ea typeface="Times New Roman"/>
                <a:cs typeface="Times New Roman"/>
                <a:sym typeface="Times New Roman"/>
              </a:rPr>
              <a:t>A Study of Employee Morale of an Automobile Company</a:t>
            </a:r>
            <a:endParaRPr>
              <a:latin typeface="Times New Roman"/>
              <a:ea typeface="Times New Roman"/>
              <a:cs typeface="Times New Roman"/>
              <a:sym typeface="Times New Roman"/>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44"/>
          <p:cNvSpPr txBox="1"/>
          <p:nvPr>
            <p:ph type="ctrTitle"/>
          </p:nvPr>
        </p:nvSpPr>
        <p:spPr>
          <a:xfrm>
            <a:off x="457200" y="1506538"/>
            <a:ext cx="8229600" cy="14700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rgbClr val="C00000"/>
              </a:buClr>
              <a:buSzPts val="6000"/>
              <a:buFont typeface="Courgette"/>
              <a:buNone/>
            </a:pPr>
            <a:br>
              <a:rPr lang="en-US" sz="6000">
                <a:solidFill>
                  <a:srgbClr val="C00000"/>
                </a:solidFill>
                <a:latin typeface="Courgette"/>
                <a:ea typeface="Courgette"/>
                <a:cs typeface="Courgette"/>
                <a:sym typeface="Courgette"/>
              </a:rPr>
            </a:br>
            <a:br>
              <a:rPr lang="en-US" sz="6000">
                <a:solidFill>
                  <a:srgbClr val="C00000"/>
                </a:solidFill>
                <a:latin typeface="Courgette"/>
                <a:ea typeface="Courgette"/>
                <a:cs typeface="Courgette"/>
                <a:sym typeface="Courgette"/>
              </a:rPr>
            </a:br>
            <a:r>
              <a:rPr lang="en-US" sz="6000">
                <a:solidFill>
                  <a:srgbClr val="C00000"/>
                </a:solidFill>
                <a:latin typeface="Courgette"/>
                <a:ea typeface="Courgette"/>
                <a:cs typeface="Courgette"/>
                <a:sym typeface="Courgette"/>
              </a:rPr>
              <a:t>Thank You</a:t>
            </a:r>
            <a:br>
              <a:rPr lang="en-US" sz="6000">
                <a:solidFill>
                  <a:srgbClr val="C00000"/>
                </a:solidFill>
                <a:latin typeface="Courgette"/>
                <a:ea typeface="Courgette"/>
                <a:cs typeface="Courgette"/>
                <a:sym typeface="Courgette"/>
              </a:rPr>
            </a:br>
            <a:endParaRPr sz="6000">
              <a:solidFill>
                <a:srgbClr val="C00000"/>
              </a:solidFill>
              <a:latin typeface="Courgette"/>
              <a:ea typeface="Courgette"/>
              <a:cs typeface="Courgette"/>
              <a:sym typeface="Courgette"/>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