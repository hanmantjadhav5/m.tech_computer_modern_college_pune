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Lst>
  <p:sldSz cy="6858000" cx="9144000"/>
  <p:notesSz cx="7315200" cy="9601200"/>
  <p:embeddedFontLst>
    <p:embeddedFont>
      <p:font typeface="Corsiva"/>
      <p:regular r:id="rId62"/>
      <p:bold r:id="rId63"/>
      <p:italic r:id="rId64"/>
      <p:boldItalic r:id="rId65"/>
    </p:embeddedFont>
    <p:embeddedFont>
      <p:font typeface="Libre Baskerville"/>
      <p:regular r:id="rId66"/>
      <p:bold r:id="rId67"/>
      <p:italic r:id="rId6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E6AF3A5-7124-4198-8793-6F0CF24379E0}">
  <a:tblStyle styleId="{EE6AF3A5-7124-4198-8793-6F0CF24379E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Corsiva-regular.fntdata"/><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font" Target="fonts/Corsiva-italic.fntdata"/><Relationship Id="rId63" Type="http://schemas.openxmlformats.org/officeDocument/2006/relationships/font" Target="fonts/Corsiva-bold.fntdata"/><Relationship Id="rId22" Type="http://schemas.openxmlformats.org/officeDocument/2006/relationships/slide" Target="slides/slide16.xml"/><Relationship Id="rId66" Type="http://schemas.openxmlformats.org/officeDocument/2006/relationships/font" Target="fonts/LibreBaskerville-regular.fntdata"/><Relationship Id="rId21" Type="http://schemas.openxmlformats.org/officeDocument/2006/relationships/slide" Target="slides/slide15.xml"/><Relationship Id="rId65" Type="http://schemas.openxmlformats.org/officeDocument/2006/relationships/font" Target="fonts/Corsiva-boldItalic.fntdata"/><Relationship Id="rId24" Type="http://schemas.openxmlformats.org/officeDocument/2006/relationships/slide" Target="slides/slide18.xml"/><Relationship Id="rId68" Type="http://schemas.openxmlformats.org/officeDocument/2006/relationships/font" Target="fonts/LibreBaskerville-italic.fntdata"/><Relationship Id="rId23" Type="http://schemas.openxmlformats.org/officeDocument/2006/relationships/slide" Target="slides/slide17.xml"/><Relationship Id="rId67" Type="http://schemas.openxmlformats.org/officeDocument/2006/relationships/font" Target="fonts/LibreBaskerville-bold.fntdata"/><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2004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9pPr>
          </a:lstStyle>
          <a:p/>
        </p:txBody>
      </p:sp>
      <p:sp>
        <p:nvSpPr>
          <p:cNvPr id="4" name="Google Shape;4;n"/>
          <p:cNvSpPr txBox="1"/>
          <p:nvPr>
            <p:ph idx="10" type="dt"/>
          </p:nvPr>
        </p:nvSpPr>
        <p:spPr>
          <a:xfrm>
            <a:off x="4114800" y="0"/>
            <a:ext cx="32004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9pPr>
          </a:lstStyle>
          <a:p/>
        </p:txBody>
      </p:sp>
      <p:sp>
        <p:nvSpPr>
          <p:cNvPr id="5" name="Google Shape;5;n"/>
          <p:cNvSpPr/>
          <p:nvPr>
            <p:ph idx="3" type="sldImg"/>
          </p:nvPr>
        </p:nvSpPr>
        <p:spPr>
          <a:xfrm>
            <a:off x="1219200" y="685800"/>
            <a:ext cx="4876800"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90600" y="4572000"/>
            <a:ext cx="5334000" cy="43434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9144000"/>
            <a:ext cx="32004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9pPr>
          </a:lstStyle>
          <a:p/>
        </p:txBody>
      </p:sp>
      <p:sp>
        <p:nvSpPr>
          <p:cNvPr id="8" name="Google Shape;8;n"/>
          <p:cNvSpPr txBox="1"/>
          <p:nvPr>
            <p:ph idx="12" type="sldNum"/>
          </p:nvPr>
        </p:nvSpPr>
        <p:spPr>
          <a:xfrm>
            <a:off x="4114800" y="9144000"/>
            <a:ext cx="32004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nvSpPr>
        <p:spPr>
          <a:xfrm>
            <a:off x="4114800" y="9144000"/>
            <a:ext cx="32004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a:p>
        </p:txBody>
      </p:sp>
      <p:sp>
        <p:nvSpPr>
          <p:cNvPr id="86" name="Google Shape;86;p1:notes"/>
          <p:cNvSpPr/>
          <p:nvPr>
            <p:ph idx="2" type="sldImg"/>
          </p:nvPr>
        </p:nvSpPr>
        <p:spPr>
          <a:xfrm>
            <a:off x="1219200" y="685800"/>
            <a:ext cx="4876800" cy="3657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 name="Google Shape;87;p1:notes"/>
          <p:cNvSpPr txBox="1"/>
          <p:nvPr>
            <p:ph idx="1" type="body"/>
          </p:nvPr>
        </p:nvSpPr>
        <p:spPr>
          <a:xfrm>
            <a:off x="990600" y="4572000"/>
            <a:ext cx="5334000" cy="4343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990600" y="4572000"/>
            <a:ext cx="5334000" cy="4343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 name="Google Shape;92;p2:notes"/>
          <p:cNvSpPr/>
          <p:nvPr>
            <p:ph idx="2" type="sldImg"/>
          </p:nvPr>
        </p:nvSpPr>
        <p:spPr>
          <a:xfrm>
            <a:off x="1219200" y="685800"/>
            <a:ext cx="4876800" cy="3657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txBox="1"/>
          <p:nvPr>
            <p:ph idx="1" type="body"/>
          </p:nvPr>
        </p:nvSpPr>
        <p:spPr>
          <a:xfrm>
            <a:off x="990600" y="4572000"/>
            <a:ext cx="5334000" cy="4343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3:notes"/>
          <p:cNvSpPr/>
          <p:nvPr>
            <p:ph idx="2" type="sldImg"/>
          </p:nvPr>
        </p:nvSpPr>
        <p:spPr>
          <a:xfrm>
            <a:off x="1219200" y="685800"/>
            <a:ext cx="4876800" cy="3657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4:notes"/>
          <p:cNvSpPr txBox="1"/>
          <p:nvPr/>
        </p:nvSpPr>
        <p:spPr>
          <a:xfrm>
            <a:off x="4114800" y="9144000"/>
            <a:ext cx="32004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a:p>
        </p:txBody>
      </p:sp>
      <p:sp>
        <p:nvSpPr>
          <p:cNvPr id="103" name="Google Shape;103;p4:notes"/>
          <p:cNvSpPr/>
          <p:nvPr>
            <p:ph idx="2" type="sldImg"/>
          </p:nvPr>
        </p:nvSpPr>
        <p:spPr>
          <a:xfrm>
            <a:off x="1219200" y="685800"/>
            <a:ext cx="4876800" cy="3657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4" name="Google Shape;104;p4:notes"/>
          <p:cNvSpPr txBox="1"/>
          <p:nvPr>
            <p:ph idx="1" type="body"/>
          </p:nvPr>
        </p:nvSpPr>
        <p:spPr>
          <a:xfrm>
            <a:off x="990600" y="4572000"/>
            <a:ext cx="5334000" cy="4343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5:notes"/>
          <p:cNvSpPr txBox="1"/>
          <p:nvPr/>
        </p:nvSpPr>
        <p:spPr>
          <a:xfrm>
            <a:off x="4114800" y="9144000"/>
            <a:ext cx="32004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10" name="Google Shape;110;p5:notes"/>
          <p:cNvSpPr/>
          <p:nvPr>
            <p:ph idx="2" type="sldImg"/>
          </p:nvPr>
        </p:nvSpPr>
        <p:spPr>
          <a:xfrm>
            <a:off x="1219200" y="685800"/>
            <a:ext cx="4876800" cy="3657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1" name="Google Shape;111;p5:notes"/>
          <p:cNvSpPr txBox="1"/>
          <p:nvPr>
            <p:ph idx="1" type="body"/>
          </p:nvPr>
        </p:nvSpPr>
        <p:spPr>
          <a:xfrm>
            <a:off x="990600" y="4572000"/>
            <a:ext cx="5334000" cy="4343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6:notes"/>
          <p:cNvSpPr txBox="1"/>
          <p:nvPr/>
        </p:nvSpPr>
        <p:spPr>
          <a:xfrm>
            <a:off x="4114800" y="9144000"/>
            <a:ext cx="32004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27" name="Google Shape;127;p6:notes"/>
          <p:cNvSpPr/>
          <p:nvPr>
            <p:ph idx="2" type="sldImg"/>
          </p:nvPr>
        </p:nvSpPr>
        <p:spPr>
          <a:xfrm>
            <a:off x="1219200" y="685800"/>
            <a:ext cx="4876800" cy="3657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8" name="Google Shape;128;p6:notes"/>
          <p:cNvSpPr txBox="1"/>
          <p:nvPr>
            <p:ph idx="1" type="body"/>
          </p:nvPr>
        </p:nvSpPr>
        <p:spPr>
          <a:xfrm>
            <a:off x="990600" y="4572000"/>
            <a:ext cx="5334000" cy="4343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7:notes"/>
          <p:cNvSpPr txBox="1"/>
          <p:nvPr/>
        </p:nvSpPr>
        <p:spPr>
          <a:xfrm>
            <a:off x="4114800" y="9144000"/>
            <a:ext cx="32004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35" name="Google Shape;135;p7:notes"/>
          <p:cNvSpPr/>
          <p:nvPr>
            <p:ph idx="2" type="sldImg"/>
          </p:nvPr>
        </p:nvSpPr>
        <p:spPr>
          <a:xfrm>
            <a:off x="1219200" y="685800"/>
            <a:ext cx="4876800" cy="3657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6" name="Google Shape;136;p7:notes"/>
          <p:cNvSpPr txBox="1"/>
          <p:nvPr>
            <p:ph idx="1" type="body"/>
          </p:nvPr>
        </p:nvSpPr>
        <p:spPr>
          <a:xfrm>
            <a:off x="990600" y="4572000"/>
            <a:ext cx="5334000" cy="4343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8:notes"/>
          <p:cNvSpPr txBox="1"/>
          <p:nvPr/>
        </p:nvSpPr>
        <p:spPr>
          <a:xfrm>
            <a:off x="4114800" y="9144000"/>
            <a:ext cx="32004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43" name="Google Shape;143;p8:notes"/>
          <p:cNvSpPr/>
          <p:nvPr>
            <p:ph idx="2" type="sldImg"/>
          </p:nvPr>
        </p:nvSpPr>
        <p:spPr>
          <a:xfrm>
            <a:off x="1219200" y="685800"/>
            <a:ext cx="4876800" cy="3657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4" name="Google Shape;144;p8:notes"/>
          <p:cNvSpPr txBox="1"/>
          <p:nvPr>
            <p:ph idx="1" type="body"/>
          </p:nvPr>
        </p:nvSpPr>
        <p:spPr>
          <a:xfrm>
            <a:off x="990600" y="4572000"/>
            <a:ext cx="5334000" cy="4343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9:notes"/>
          <p:cNvSpPr txBox="1"/>
          <p:nvPr>
            <p:ph idx="1" type="body"/>
          </p:nvPr>
        </p:nvSpPr>
        <p:spPr>
          <a:xfrm>
            <a:off x="990600" y="4572000"/>
            <a:ext cx="5334000" cy="4343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p9:notes"/>
          <p:cNvSpPr/>
          <p:nvPr>
            <p:ph idx="2" type="sldImg"/>
          </p:nvPr>
        </p:nvSpPr>
        <p:spPr>
          <a:xfrm>
            <a:off x="1219200" y="685800"/>
            <a:ext cx="4876800" cy="3657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0:notes"/>
          <p:cNvSpPr txBox="1"/>
          <p:nvPr>
            <p:ph idx="1" type="body"/>
          </p:nvPr>
        </p:nvSpPr>
        <p:spPr>
          <a:xfrm>
            <a:off x="990600" y="4572000"/>
            <a:ext cx="5334000" cy="4343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p10:notes"/>
          <p:cNvSpPr/>
          <p:nvPr>
            <p:ph idx="2" type="sldImg"/>
          </p:nvPr>
        </p:nvSpPr>
        <p:spPr>
          <a:xfrm>
            <a:off x="1219200" y="685800"/>
            <a:ext cx="4876800" cy="3657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1:notes"/>
          <p:cNvSpPr txBox="1"/>
          <p:nvPr>
            <p:ph idx="1" type="body"/>
          </p:nvPr>
        </p:nvSpPr>
        <p:spPr>
          <a:xfrm>
            <a:off x="990600" y="4572000"/>
            <a:ext cx="5334000" cy="4343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11:notes"/>
          <p:cNvSpPr/>
          <p:nvPr>
            <p:ph idx="2" type="sldImg"/>
          </p:nvPr>
        </p:nvSpPr>
        <p:spPr>
          <a:xfrm>
            <a:off x="1219200" y="685800"/>
            <a:ext cx="4876800" cy="3657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2:notes"/>
          <p:cNvSpPr txBox="1"/>
          <p:nvPr>
            <p:ph idx="1" type="body"/>
          </p:nvPr>
        </p:nvSpPr>
        <p:spPr>
          <a:xfrm>
            <a:off x="990600" y="4572000"/>
            <a:ext cx="5334000" cy="4343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p12:notes"/>
          <p:cNvSpPr/>
          <p:nvPr>
            <p:ph idx="2" type="sldImg"/>
          </p:nvPr>
        </p:nvSpPr>
        <p:spPr>
          <a:xfrm>
            <a:off x="1219200" y="685800"/>
            <a:ext cx="4876800" cy="3657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3:notes"/>
          <p:cNvSpPr txBox="1"/>
          <p:nvPr>
            <p:ph idx="1" type="body"/>
          </p:nvPr>
        </p:nvSpPr>
        <p:spPr>
          <a:xfrm>
            <a:off x="990600" y="4572000"/>
            <a:ext cx="5334000" cy="4343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p13:notes"/>
          <p:cNvSpPr/>
          <p:nvPr>
            <p:ph idx="2" type="sldImg"/>
          </p:nvPr>
        </p:nvSpPr>
        <p:spPr>
          <a:xfrm>
            <a:off x="1219200" y="685800"/>
            <a:ext cx="4876800" cy="3657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4:notes"/>
          <p:cNvSpPr txBox="1"/>
          <p:nvPr>
            <p:ph idx="1" type="body"/>
          </p:nvPr>
        </p:nvSpPr>
        <p:spPr>
          <a:xfrm>
            <a:off x="990600" y="4572000"/>
            <a:ext cx="5334000" cy="4343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p14:notes"/>
          <p:cNvSpPr/>
          <p:nvPr>
            <p:ph idx="2" type="sldImg"/>
          </p:nvPr>
        </p:nvSpPr>
        <p:spPr>
          <a:xfrm>
            <a:off x="1219200" y="685800"/>
            <a:ext cx="4876800" cy="3657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5:notes"/>
          <p:cNvSpPr txBox="1"/>
          <p:nvPr>
            <p:ph idx="1" type="body"/>
          </p:nvPr>
        </p:nvSpPr>
        <p:spPr>
          <a:xfrm>
            <a:off x="990600" y="4572000"/>
            <a:ext cx="5334000" cy="4343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p15:notes"/>
          <p:cNvSpPr/>
          <p:nvPr>
            <p:ph idx="2" type="sldImg"/>
          </p:nvPr>
        </p:nvSpPr>
        <p:spPr>
          <a:xfrm>
            <a:off x="1219200" y="685800"/>
            <a:ext cx="4876800" cy="3657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6:notes"/>
          <p:cNvSpPr txBox="1"/>
          <p:nvPr>
            <p:ph idx="1" type="body"/>
          </p:nvPr>
        </p:nvSpPr>
        <p:spPr>
          <a:xfrm>
            <a:off x="990600" y="4572000"/>
            <a:ext cx="5334000" cy="4343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16:notes"/>
          <p:cNvSpPr/>
          <p:nvPr>
            <p:ph idx="2" type="sldImg"/>
          </p:nvPr>
        </p:nvSpPr>
        <p:spPr>
          <a:xfrm>
            <a:off x="1219200" y="685800"/>
            <a:ext cx="4876800" cy="3657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7:notes"/>
          <p:cNvSpPr txBox="1"/>
          <p:nvPr/>
        </p:nvSpPr>
        <p:spPr>
          <a:xfrm>
            <a:off x="4114800" y="9144000"/>
            <a:ext cx="32004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96" name="Google Shape;196;p17:notes"/>
          <p:cNvSpPr/>
          <p:nvPr>
            <p:ph idx="2" type="sldImg"/>
          </p:nvPr>
        </p:nvSpPr>
        <p:spPr>
          <a:xfrm>
            <a:off x="1219200" y="685800"/>
            <a:ext cx="4876800" cy="3657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7" name="Google Shape;197;p17:notes"/>
          <p:cNvSpPr txBox="1"/>
          <p:nvPr>
            <p:ph idx="1" type="body"/>
          </p:nvPr>
        </p:nvSpPr>
        <p:spPr>
          <a:xfrm>
            <a:off x="990600" y="4572000"/>
            <a:ext cx="5334000" cy="4343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8:notes"/>
          <p:cNvSpPr txBox="1"/>
          <p:nvPr/>
        </p:nvSpPr>
        <p:spPr>
          <a:xfrm>
            <a:off x="4114800" y="9144000"/>
            <a:ext cx="32004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03" name="Google Shape;203;p18:notes"/>
          <p:cNvSpPr/>
          <p:nvPr>
            <p:ph idx="2" type="sldImg"/>
          </p:nvPr>
        </p:nvSpPr>
        <p:spPr>
          <a:xfrm>
            <a:off x="1219200" y="685800"/>
            <a:ext cx="4876800" cy="3657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4" name="Google Shape;204;p18:notes"/>
          <p:cNvSpPr txBox="1"/>
          <p:nvPr>
            <p:ph idx="1" type="body"/>
          </p:nvPr>
        </p:nvSpPr>
        <p:spPr>
          <a:xfrm>
            <a:off x="990600" y="4572000"/>
            <a:ext cx="5334000" cy="4343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9:notes"/>
          <p:cNvSpPr txBox="1"/>
          <p:nvPr/>
        </p:nvSpPr>
        <p:spPr>
          <a:xfrm>
            <a:off x="4114800" y="9144000"/>
            <a:ext cx="32004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34" name="Google Shape;234;p19:notes"/>
          <p:cNvSpPr/>
          <p:nvPr>
            <p:ph idx="2" type="sldImg"/>
          </p:nvPr>
        </p:nvSpPr>
        <p:spPr>
          <a:xfrm>
            <a:off x="1219200" y="685800"/>
            <a:ext cx="4876800" cy="3657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5" name="Google Shape;235;p19:notes"/>
          <p:cNvSpPr txBox="1"/>
          <p:nvPr>
            <p:ph idx="1" type="body"/>
          </p:nvPr>
        </p:nvSpPr>
        <p:spPr>
          <a:xfrm>
            <a:off x="990600" y="4572000"/>
            <a:ext cx="5334000" cy="4343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20:notes"/>
          <p:cNvSpPr txBox="1"/>
          <p:nvPr/>
        </p:nvSpPr>
        <p:spPr>
          <a:xfrm>
            <a:off x="4114800" y="9144000"/>
            <a:ext cx="32004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41" name="Google Shape;241;p20:notes"/>
          <p:cNvSpPr/>
          <p:nvPr>
            <p:ph idx="2" type="sldImg"/>
          </p:nvPr>
        </p:nvSpPr>
        <p:spPr>
          <a:xfrm>
            <a:off x="1219200" y="685800"/>
            <a:ext cx="4876800" cy="3657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2" name="Google Shape;242;p20:notes"/>
          <p:cNvSpPr txBox="1"/>
          <p:nvPr>
            <p:ph idx="1" type="body"/>
          </p:nvPr>
        </p:nvSpPr>
        <p:spPr>
          <a:xfrm>
            <a:off x="990600" y="4572000"/>
            <a:ext cx="5334000" cy="4343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21:notes"/>
          <p:cNvSpPr txBox="1"/>
          <p:nvPr/>
        </p:nvSpPr>
        <p:spPr>
          <a:xfrm>
            <a:off x="4114800" y="9144000"/>
            <a:ext cx="32004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49" name="Google Shape;249;p21:notes"/>
          <p:cNvSpPr/>
          <p:nvPr>
            <p:ph idx="2" type="sldImg"/>
          </p:nvPr>
        </p:nvSpPr>
        <p:spPr>
          <a:xfrm>
            <a:off x="1219200" y="685800"/>
            <a:ext cx="4876800" cy="3657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0" name="Google Shape;250;p21:notes"/>
          <p:cNvSpPr txBox="1"/>
          <p:nvPr>
            <p:ph idx="1" type="body"/>
          </p:nvPr>
        </p:nvSpPr>
        <p:spPr>
          <a:xfrm>
            <a:off x="990600" y="4572000"/>
            <a:ext cx="5334000" cy="4343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22:notes"/>
          <p:cNvSpPr txBox="1"/>
          <p:nvPr/>
        </p:nvSpPr>
        <p:spPr>
          <a:xfrm>
            <a:off x="4114800" y="9144000"/>
            <a:ext cx="32004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56" name="Google Shape;256;p22:notes"/>
          <p:cNvSpPr/>
          <p:nvPr>
            <p:ph idx="2" type="sldImg"/>
          </p:nvPr>
        </p:nvSpPr>
        <p:spPr>
          <a:xfrm>
            <a:off x="1219200" y="685800"/>
            <a:ext cx="4876800" cy="3657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7" name="Google Shape;257;p22:notes"/>
          <p:cNvSpPr txBox="1"/>
          <p:nvPr>
            <p:ph idx="1" type="body"/>
          </p:nvPr>
        </p:nvSpPr>
        <p:spPr>
          <a:xfrm>
            <a:off x="990600" y="4572000"/>
            <a:ext cx="5334000" cy="4343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23:notes"/>
          <p:cNvSpPr txBox="1"/>
          <p:nvPr/>
        </p:nvSpPr>
        <p:spPr>
          <a:xfrm>
            <a:off x="4114800" y="9144000"/>
            <a:ext cx="32004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63" name="Google Shape;263;p23:notes"/>
          <p:cNvSpPr/>
          <p:nvPr>
            <p:ph idx="2" type="sldImg"/>
          </p:nvPr>
        </p:nvSpPr>
        <p:spPr>
          <a:xfrm>
            <a:off x="1219200" y="685800"/>
            <a:ext cx="4876800" cy="3657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4" name="Google Shape;264;p23:notes"/>
          <p:cNvSpPr txBox="1"/>
          <p:nvPr>
            <p:ph idx="1" type="body"/>
          </p:nvPr>
        </p:nvSpPr>
        <p:spPr>
          <a:xfrm>
            <a:off x="990600" y="4572000"/>
            <a:ext cx="5334000" cy="4343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24:notes"/>
          <p:cNvSpPr txBox="1"/>
          <p:nvPr>
            <p:ph idx="1" type="body"/>
          </p:nvPr>
        </p:nvSpPr>
        <p:spPr>
          <a:xfrm>
            <a:off x="990600" y="4572000"/>
            <a:ext cx="5334000" cy="4343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 name="Google Shape;270;p24:notes"/>
          <p:cNvSpPr/>
          <p:nvPr>
            <p:ph idx="2" type="sldImg"/>
          </p:nvPr>
        </p:nvSpPr>
        <p:spPr>
          <a:xfrm>
            <a:off x="1219200" y="685800"/>
            <a:ext cx="4876800" cy="3657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25:notes"/>
          <p:cNvSpPr txBox="1"/>
          <p:nvPr/>
        </p:nvSpPr>
        <p:spPr>
          <a:xfrm>
            <a:off x="4114800" y="9144000"/>
            <a:ext cx="32004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76" name="Google Shape;276;p25:notes"/>
          <p:cNvSpPr/>
          <p:nvPr>
            <p:ph idx="2" type="sldImg"/>
          </p:nvPr>
        </p:nvSpPr>
        <p:spPr>
          <a:xfrm>
            <a:off x="1219200" y="685800"/>
            <a:ext cx="4876800" cy="3657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7" name="Google Shape;277;p25:notes"/>
          <p:cNvSpPr txBox="1"/>
          <p:nvPr>
            <p:ph idx="1" type="body"/>
          </p:nvPr>
        </p:nvSpPr>
        <p:spPr>
          <a:xfrm>
            <a:off x="990600" y="4572000"/>
            <a:ext cx="5334000" cy="4343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26:notes"/>
          <p:cNvSpPr txBox="1"/>
          <p:nvPr/>
        </p:nvSpPr>
        <p:spPr>
          <a:xfrm>
            <a:off x="4114800" y="9144000"/>
            <a:ext cx="32004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83" name="Google Shape;283;p26:notes"/>
          <p:cNvSpPr/>
          <p:nvPr>
            <p:ph idx="2" type="sldImg"/>
          </p:nvPr>
        </p:nvSpPr>
        <p:spPr>
          <a:xfrm>
            <a:off x="1219200" y="685800"/>
            <a:ext cx="4876800" cy="3657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4" name="Google Shape;284;p26:notes"/>
          <p:cNvSpPr txBox="1"/>
          <p:nvPr>
            <p:ph idx="1" type="body"/>
          </p:nvPr>
        </p:nvSpPr>
        <p:spPr>
          <a:xfrm>
            <a:off x="990600" y="4572000"/>
            <a:ext cx="5334000" cy="4343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27:notes"/>
          <p:cNvSpPr txBox="1"/>
          <p:nvPr>
            <p:ph idx="1" type="body"/>
          </p:nvPr>
        </p:nvSpPr>
        <p:spPr>
          <a:xfrm>
            <a:off x="990600" y="4572000"/>
            <a:ext cx="5334000" cy="4343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 name="Google Shape;291;p27:notes"/>
          <p:cNvSpPr/>
          <p:nvPr>
            <p:ph idx="2" type="sldImg"/>
          </p:nvPr>
        </p:nvSpPr>
        <p:spPr>
          <a:xfrm>
            <a:off x="1219200" y="685800"/>
            <a:ext cx="4876800" cy="3657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28:notes"/>
          <p:cNvSpPr txBox="1"/>
          <p:nvPr>
            <p:ph idx="1" type="body"/>
          </p:nvPr>
        </p:nvSpPr>
        <p:spPr>
          <a:xfrm>
            <a:off x="990600" y="4572000"/>
            <a:ext cx="5334000" cy="4343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9" name="Google Shape;299;p28:notes"/>
          <p:cNvSpPr/>
          <p:nvPr>
            <p:ph idx="2" type="sldImg"/>
          </p:nvPr>
        </p:nvSpPr>
        <p:spPr>
          <a:xfrm>
            <a:off x="1219200" y="685800"/>
            <a:ext cx="4876800" cy="3657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29:notes"/>
          <p:cNvSpPr txBox="1"/>
          <p:nvPr/>
        </p:nvSpPr>
        <p:spPr>
          <a:xfrm>
            <a:off x="4114800" y="9144000"/>
            <a:ext cx="32004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305" name="Google Shape;305;p29:notes"/>
          <p:cNvSpPr/>
          <p:nvPr>
            <p:ph idx="2" type="sldImg"/>
          </p:nvPr>
        </p:nvSpPr>
        <p:spPr>
          <a:xfrm>
            <a:off x="1219200" y="685800"/>
            <a:ext cx="4876800" cy="3657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6" name="Google Shape;306;p29:notes"/>
          <p:cNvSpPr txBox="1"/>
          <p:nvPr>
            <p:ph idx="1" type="body"/>
          </p:nvPr>
        </p:nvSpPr>
        <p:spPr>
          <a:xfrm>
            <a:off x="990600" y="4572000"/>
            <a:ext cx="5334000" cy="4343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30:notes"/>
          <p:cNvSpPr txBox="1"/>
          <p:nvPr/>
        </p:nvSpPr>
        <p:spPr>
          <a:xfrm>
            <a:off x="4114800" y="9144000"/>
            <a:ext cx="32004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312" name="Google Shape;312;p30:notes"/>
          <p:cNvSpPr/>
          <p:nvPr>
            <p:ph idx="2" type="sldImg"/>
          </p:nvPr>
        </p:nvSpPr>
        <p:spPr>
          <a:xfrm>
            <a:off x="1219200" y="685800"/>
            <a:ext cx="4876800" cy="3657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3" name="Google Shape;313;p30:notes"/>
          <p:cNvSpPr txBox="1"/>
          <p:nvPr>
            <p:ph idx="1" type="body"/>
          </p:nvPr>
        </p:nvSpPr>
        <p:spPr>
          <a:xfrm>
            <a:off x="990600" y="4572000"/>
            <a:ext cx="5334000" cy="4343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31:notes"/>
          <p:cNvSpPr txBox="1"/>
          <p:nvPr/>
        </p:nvSpPr>
        <p:spPr>
          <a:xfrm>
            <a:off x="4114800" y="9144000"/>
            <a:ext cx="32004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319" name="Google Shape;319;p31:notes"/>
          <p:cNvSpPr/>
          <p:nvPr>
            <p:ph idx="2" type="sldImg"/>
          </p:nvPr>
        </p:nvSpPr>
        <p:spPr>
          <a:xfrm>
            <a:off x="1219200" y="685800"/>
            <a:ext cx="4876800" cy="3657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0" name="Google Shape;320;p31:notes"/>
          <p:cNvSpPr txBox="1"/>
          <p:nvPr>
            <p:ph idx="1" type="body"/>
          </p:nvPr>
        </p:nvSpPr>
        <p:spPr>
          <a:xfrm>
            <a:off x="990600" y="4572000"/>
            <a:ext cx="5334000" cy="4343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32:notes"/>
          <p:cNvSpPr txBox="1"/>
          <p:nvPr/>
        </p:nvSpPr>
        <p:spPr>
          <a:xfrm>
            <a:off x="4114800" y="9144000"/>
            <a:ext cx="32004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326" name="Google Shape;326;p32:notes"/>
          <p:cNvSpPr/>
          <p:nvPr>
            <p:ph idx="2" type="sldImg"/>
          </p:nvPr>
        </p:nvSpPr>
        <p:spPr>
          <a:xfrm>
            <a:off x="1219200" y="685800"/>
            <a:ext cx="4876800" cy="3657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7" name="Google Shape;327;p32:notes"/>
          <p:cNvSpPr txBox="1"/>
          <p:nvPr>
            <p:ph idx="1" type="body"/>
          </p:nvPr>
        </p:nvSpPr>
        <p:spPr>
          <a:xfrm>
            <a:off x="990600" y="4572000"/>
            <a:ext cx="5334000" cy="4343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33:notes"/>
          <p:cNvSpPr txBox="1"/>
          <p:nvPr>
            <p:ph idx="1" type="body"/>
          </p:nvPr>
        </p:nvSpPr>
        <p:spPr>
          <a:xfrm>
            <a:off x="990600" y="4572000"/>
            <a:ext cx="5334000" cy="4343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3" name="Google Shape;333;p33:notes"/>
          <p:cNvSpPr/>
          <p:nvPr>
            <p:ph idx="2" type="sldImg"/>
          </p:nvPr>
        </p:nvSpPr>
        <p:spPr>
          <a:xfrm>
            <a:off x="1219200" y="685800"/>
            <a:ext cx="4876800" cy="3657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34:notes"/>
          <p:cNvSpPr txBox="1"/>
          <p:nvPr/>
        </p:nvSpPr>
        <p:spPr>
          <a:xfrm>
            <a:off x="4114800" y="9144000"/>
            <a:ext cx="32004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340" name="Google Shape;340;p34:notes"/>
          <p:cNvSpPr/>
          <p:nvPr>
            <p:ph idx="2" type="sldImg"/>
          </p:nvPr>
        </p:nvSpPr>
        <p:spPr>
          <a:xfrm>
            <a:off x="1219200" y="685800"/>
            <a:ext cx="4876800" cy="3657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1" name="Google Shape;341;p34:notes"/>
          <p:cNvSpPr txBox="1"/>
          <p:nvPr>
            <p:ph idx="1" type="body"/>
          </p:nvPr>
        </p:nvSpPr>
        <p:spPr>
          <a:xfrm>
            <a:off x="990600" y="4572000"/>
            <a:ext cx="5334000" cy="4343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35:notes"/>
          <p:cNvSpPr txBox="1"/>
          <p:nvPr>
            <p:ph idx="1" type="body"/>
          </p:nvPr>
        </p:nvSpPr>
        <p:spPr>
          <a:xfrm>
            <a:off x="990600" y="4572000"/>
            <a:ext cx="5334000" cy="4343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8" name="Google Shape;348;p35:notes"/>
          <p:cNvSpPr/>
          <p:nvPr>
            <p:ph idx="2" type="sldImg"/>
          </p:nvPr>
        </p:nvSpPr>
        <p:spPr>
          <a:xfrm>
            <a:off x="1219200" y="685800"/>
            <a:ext cx="4876800" cy="3657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36:notes"/>
          <p:cNvSpPr txBox="1"/>
          <p:nvPr/>
        </p:nvSpPr>
        <p:spPr>
          <a:xfrm>
            <a:off x="4114800" y="9144000"/>
            <a:ext cx="32004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354" name="Google Shape;354;p36:notes"/>
          <p:cNvSpPr/>
          <p:nvPr>
            <p:ph idx="2" type="sldImg"/>
          </p:nvPr>
        </p:nvSpPr>
        <p:spPr>
          <a:xfrm>
            <a:off x="1219200" y="685800"/>
            <a:ext cx="4876800" cy="3657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5" name="Google Shape;355;p36:notes"/>
          <p:cNvSpPr txBox="1"/>
          <p:nvPr>
            <p:ph idx="1" type="body"/>
          </p:nvPr>
        </p:nvSpPr>
        <p:spPr>
          <a:xfrm>
            <a:off x="990600" y="4572000"/>
            <a:ext cx="5334000" cy="4343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37:notes"/>
          <p:cNvSpPr txBox="1"/>
          <p:nvPr/>
        </p:nvSpPr>
        <p:spPr>
          <a:xfrm>
            <a:off x="4114800" y="9144000"/>
            <a:ext cx="32004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361" name="Google Shape;361;p37:notes"/>
          <p:cNvSpPr/>
          <p:nvPr>
            <p:ph idx="2" type="sldImg"/>
          </p:nvPr>
        </p:nvSpPr>
        <p:spPr>
          <a:xfrm>
            <a:off x="1219200" y="685800"/>
            <a:ext cx="4876800" cy="3657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2" name="Google Shape;362;p37:notes"/>
          <p:cNvSpPr txBox="1"/>
          <p:nvPr>
            <p:ph idx="1" type="body"/>
          </p:nvPr>
        </p:nvSpPr>
        <p:spPr>
          <a:xfrm>
            <a:off x="990600" y="4572000"/>
            <a:ext cx="5334000" cy="4343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38:notes"/>
          <p:cNvSpPr txBox="1"/>
          <p:nvPr>
            <p:ph idx="1" type="body"/>
          </p:nvPr>
        </p:nvSpPr>
        <p:spPr>
          <a:xfrm>
            <a:off x="990600" y="4572000"/>
            <a:ext cx="5334000" cy="4343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9" name="Google Shape;369;p38:notes"/>
          <p:cNvSpPr/>
          <p:nvPr>
            <p:ph idx="2" type="sldImg"/>
          </p:nvPr>
        </p:nvSpPr>
        <p:spPr>
          <a:xfrm>
            <a:off x="1219200" y="685800"/>
            <a:ext cx="4876800" cy="3657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39:notes"/>
          <p:cNvSpPr txBox="1"/>
          <p:nvPr>
            <p:ph idx="1" type="body"/>
          </p:nvPr>
        </p:nvSpPr>
        <p:spPr>
          <a:xfrm>
            <a:off x="990600" y="4572000"/>
            <a:ext cx="5334000" cy="4343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5" name="Google Shape;375;p39:notes"/>
          <p:cNvSpPr/>
          <p:nvPr>
            <p:ph idx="2" type="sldImg"/>
          </p:nvPr>
        </p:nvSpPr>
        <p:spPr>
          <a:xfrm>
            <a:off x="1219200" y="685800"/>
            <a:ext cx="4876800" cy="3657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40:notes"/>
          <p:cNvSpPr txBox="1"/>
          <p:nvPr>
            <p:ph idx="1" type="body"/>
          </p:nvPr>
        </p:nvSpPr>
        <p:spPr>
          <a:xfrm>
            <a:off x="990600" y="4572000"/>
            <a:ext cx="5334000" cy="4343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1" name="Google Shape;381;p40:notes"/>
          <p:cNvSpPr/>
          <p:nvPr>
            <p:ph idx="2" type="sldImg"/>
          </p:nvPr>
        </p:nvSpPr>
        <p:spPr>
          <a:xfrm>
            <a:off x="1219200" y="685800"/>
            <a:ext cx="4876800" cy="3657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41:notes"/>
          <p:cNvSpPr txBox="1"/>
          <p:nvPr/>
        </p:nvSpPr>
        <p:spPr>
          <a:xfrm>
            <a:off x="4114800" y="9144000"/>
            <a:ext cx="32004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387" name="Google Shape;387;p41:notes"/>
          <p:cNvSpPr/>
          <p:nvPr>
            <p:ph idx="2" type="sldImg"/>
          </p:nvPr>
        </p:nvSpPr>
        <p:spPr>
          <a:xfrm>
            <a:off x="1219200" y="685800"/>
            <a:ext cx="4876800" cy="3657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8" name="Google Shape;388;p41:notes"/>
          <p:cNvSpPr txBox="1"/>
          <p:nvPr>
            <p:ph idx="1" type="body"/>
          </p:nvPr>
        </p:nvSpPr>
        <p:spPr>
          <a:xfrm>
            <a:off x="990600" y="4572000"/>
            <a:ext cx="5334000" cy="4343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42:notes"/>
          <p:cNvSpPr txBox="1"/>
          <p:nvPr/>
        </p:nvSpPr>
        <p:spPr>
          <a:xfrm>
            <a:off x="4114800" y="9144000"/>
            <a:ext cx="32004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393" name="Google Shape;393;p42:notes"/>
          <p:cNvSpPr/>
          <p:nvPr>
            <p:ph idx="2" type="sldImg"/>
          </p:nvPr>
        </p:nvSpPr>
        <p:spPr>
          <a:xfrm>
            <a:off x="1219200" y="685800"/>
            <a:ext cx="4876800" cy="3657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4" name="Google Shape;394;p42:notes"/>
          <p:cNvSpPr txBox="1"/>
          <p:nvPr>
            <p:ph idx="1" type="body"/>
          </p:nvPr>
        </p:nvSpPr>
        <p:spPr>
          <a:xfrm>
            <a:off x="990600" y="4572000"/>
            <a:ext cx="5334000" cy="4343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43:notes"/>
          <p:cNvSpPr txBox="1"/>
          <p:nvPr/>
        </p:nvSpPr>
        <p:spPr>
          <a:xfrm>
            <a:off x="4114800" y="9144000"/>
            <a:ext cx="32004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400" name="Google Shape;400;p43:notes"/>
          <p:cNvSpPr/>
          <p:nvPr>
            <p:ph idx="2" type="sldImg"/>
          </p:nvPr>
        </p:nvSpPr>
        <p:spPr>
          <a:xfrm>
            <a:off x="1219200" y="685800"/>
            <a:ext cx="4876800" cy="3657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1" name="Google Shape;401;p43:notes"/>
          <p:cNvSpPr txBox="1"/>
          <p:nvPr>
            <p:ph idx="1" type="body"/>
          </p:nvPr>
        </p:nvSpPr>
        <p:spPr>
          <a:xfrm>
            <a:off x="990600" y="4572000"/>
            <a:ext cx="5334000" cy="4343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44:notes"/>
          <p:cNvSpPr txBox="1"/>
          <p:nvPr/>
        </p:nvSpPr>
        <p:spPr>
          <a:xfrm>
            <a:off x="4114800" y="9144000"/>
            <a:ext cx="32004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408" name="Google Shape;408;p44:notes"/>
          <p:cNvSpPr/>
          <p:nvPr>
            <p:ph idx="2" type="sldImg"/>
          </p:nvPr>
        </p:nvSpPr>
        <p:spPr>
          <a:xfrm>
            <a:off x="1219200" y="685800"/>
            <a:ext cx="4876800" cy="3657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9" name="Google Shape;409;p44:notes"/>
          <p:cNvSpPr txBox="1"/>
          <p:nvPr>
            <p:ph idx="1" type="body"/>
          </p:nvPr>
        </p:nvSpPr>
        <p:spPr>
          <a:xfrm>
            <a:off x="990600" y="4572000"/>
            <a:ext cx="5334000" cy="4343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45:notes"/>
          <p:cNvSpPr txBox="1"/>
          <p:nvPr>
            <p:ph idx="1" type="body"/>
          </p:nvPr>
        </p:nvSpPr>
        <p:spPr>
          <a:xfrm>
            <a:off x="990600" y="4572000"/>
            <a:ext cx="5334000" cy="4343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5" name="Google Shape;415;p45:notes"/>
          <p:cNvSpPr/>
          <p:nvPr>
            <p:ph idx="2" type="sldImg"/>
          </p:nvPr>
        </p:nvSpPr>
        <p:spPr>
          <a:xfrm>
            <a:off x="1219200" y="685800"/>
            <a:ext cx="4876800" cy="3657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46:notes"/>
          <p:cNvSpPr txBox="1"/>
          <p:nvPr>
            <p:ph idx="1" type="body"/>
          </p:nvPr>
        </p:nvSpPr>
        <p:spPr>
          <a:xfrm>
            <a:off x="990600" y="4572000"/>
            <a:ext cx="5334000" cy="4343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1" name="Google Shape;421;p46:notes"/>
          <p:cNvSpPr/>
          <p:nvPr>
            <p:ph idx="2" type="sldImg"/>
          </p:nvPr>
        </p:nvSpPr>
        <p:spPr>
          <a:xfrm>
            <a:off x="1219200" y="685800"/>
            <a:ext cx="4876800" cy="3657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47:notes"/>
          <p:cNvSpPr txBox="1"/>
          <p:nvPr/>
        </p:nvSpPr>
        <p:spPr>
          <a:xfrm>
            <a:off x="4114800" y="9144000"/>
            <a:ext cx="32004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427" name="Google Shape;427;p47:notes"/>
          <p:cNvSpPr/>
          <p:nvPr>
            <p:ph idx="2" type="sldImg"/>
          </p:nvPr>
        </p:nvSpPr>
        <p:spPr>
          <a:xfrm>
            <a:off x="1219200" y="685800"/>
            <a:ext cx="4876800" cy="3657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8" name="Google Shape;428;p47:notes"/>
          <p:cNvSpPr txBox="1"/>
          <p:nvPr>
            <p:ph idx="1" type="body"/>
          </p:nvPr>
        </p:nvSpPr>
        <p:spPr>
          <a:xfrm>
            <a:off x="990600" y="4572000"/>
            <a:ext cx="5334000" cy="4343400"/>
          </a:xfrm>
          <a:prstGeom prst="rect">
            <a:avLst/>
          </a:prstGeom>
          <a:noFill/>
          <a:ln>
            <a:noFill/>
          </a:ln>
        </p:spPr>
        <p:txBody>
          <a:bodyPr anchorCtr="0" anchor="t" bIns="47600" lIns="95200" spcFirstLastPara="1" rIns="95200" wrap="square" tIns="47600">
            <a:noAutofit/>
          </a:bodyPr>
          <a:lstStyle/>
          <a:p>
            <a:pPr indent="0" lvl="0" marL="0" rtl="0" algn="l">
              <a:spcBef>
                <a:spcPts val="0"/>
              </a:spcBef>
              <a:spcAft>
                <a:spcPts val="0"/>
              </a:spcAft>
              <a:buNone/>
            </a:pPr>
            <a:r>
              <a:t/>
            </a:r>
            <a:endParaRPr/>
          </a:p>
        </p:txBody>
      </p:sp>
      <p:sp>
        <p:nvSpPr>
          <p:cNvPr id="429" name="Google Shape;429;p47:notes"/>
          <p:cNvSpPr txBox="1"/>
          <p:nvPr/>
        </p:nvSpPr>
        <p:spPr>
          <a:xfrm>
            <a:off x="4143375" y="9120187"/>
            <a:ext cx="3170237" cy="479425"/>
          </a:xfrm>
          <a:prstGeom prst="rect">
            <a:avLst/>
          </a:prstGeom>
          <a:noFill/>
          <a:ln>
            <a:noFill/>
          </a:ln>
        </p:spPr>
        <p:txBody>
          <a:bodyPr anchorCtr="0" anchor="b" bIns="47600" lIns="95200" spcFirstLastPara="1" rIns="95200" wrap="square" tIns="47600">
            <a:noAutofit/>
          </a:bodyPr>
          <a:lstStyle/>
          <a:p>
            <a:pPr indent="0" lvl="0" marL="0" marR="0" rtl="0" algn="r">
              <a:lnSpc>
                <a:spcPct val="100000"/>
              </a:lnSpc>
              <a:spcBef>
                <a:spcPts val="0"/>
              </a:spcBef>
              <a:spcAft>
                <a:spcPts val="0"/>
              </a:spcAft>
              <a:buClr>
                <a:srgbClr val="000000"/>
              </a:buClr>
              <a:buSzPts val="1300"/>
              <a:buFont typeface="Gulim"/>
              <a:buNone/>
            </a:pPr>
            <a:fld id="{00000000-1234-1234-1234-123412341234}" type="slidenum">
              <a:rPr b="0" i="0" lang="en-US" sz="1300" u="none">
                <a:solidFill>
                  <a:srgbClr val="000000"/>
                </a:solidFill>
                <a:latin typeface="Gulim"/>
                <a:ea typeface="Gulim"/>
                <a:cs typeface="Gulim"/>
                <a:sym typeface="Gulim"/>
              </a:rPr>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48:notes"/>
          <p:cNvSpPr txBox="1"/>
          <p:nvPr>
            <p:ph idx="1" type="body"/>
          </p:nvPr>
        </p:nvSpPr>
        <p:spPr>
          <a:xfrm>
            <a:off x="990600" y="4572000"/>
            <a:ext cx="5334000" cy="4343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7" name="Google Shape;437;p48:notes"/>
          <p:cNvSpPr/>
          <p:nvPr>
            <p:ph idx="2" type="sldImg"/>
          </p:nvPr>
        </p:nvSpPr>
        <p:spPr>
          <a:xfrm>
            <a:off x="1219200" y="685800"/>
            <a:ext cx="4876800" cy="3657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49:notes"/>
          <p:cNvSpPr txBox="1"/>
          <p:nvPr>
            <p:ph idx="1" type="body"/>
          </p:nvPr>
        </p:nvSpPr>
        <p:spPr>
          <a:xfrm>
            <a:off x="990600" y="4572000"/>
            <a:ext cx="5334000" cy="4343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3" name="Google Shape;443;p49:notes"/>
          <p:cNvSpPr/>
          <p:nvPr>
            <p:ph idx="2" type="sldImg"/>
          </p:nvPr>
        </p:nvSpPr>
        <p:spPr>
          <a:xfrm>
            <a:off x="1219200" y="685800"/>
            <a:ext cx="4876800" cy="3657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50:notes"/>
          <p:cNvSpPr txBox="1"/>
          <p:nvPr/>
        </p:nvSpPr>
        <p:spPr>
          <a:xfrm>
            <a:off x="4114800" y="9144000"/>
            <a:ext cx="32004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449" name="Google Shape;449;p50:notes"/>
          <p:cNvSpPr/>
          <p:nvPr>
            <p:ph idx="2" type="sldImg"/>
          </p:nvPr>
        </p:nvSpPr>
        <p:spPr>
          <a:xfrm>
            <a:off x="1219200" y="685800"/>
            <a:ext cx="4876800" cy="3657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0" name="Google Shape;450;p50:notes"/>
          <p:cNvSpPr txBox="1"/>
          <p:nvPr>
            <p:ph idx="1" type="body"/>
          </p:nvPr>
        </p:nvSpPr>
        <p:spPr>
          <a:xfrm>
            <a:off x="990600" y="4572000"/>
            <a:ext cx="5334000" cy="4343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51:notes"/>
          <p:cNvSpPr txBox="1"/>
          <p:nvPr>
            <p:ph idx="1" type="body"/>
          </p:nvPr>
        </p:nvSpPr>
        <p:spPr>
          <a:xfrm>
            <a:off x="990600" y="4572000"/>
            <a:ext cx="5334000" cy="4343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6" name="Google Shape;456;p51:notes"/>
          <p:cNvSpPr/>
          <p:nvPr>
            <p:ph idx="2" type="sldImg"/>
          </p:nvPr>
        </p:nvSpPr>
        <p:spPr>
          <a:xfrm>
            <a:off x="1219200" y="685800"/>
            <a:ext cx="4876800" cy="3657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52:notes"/>
          <p:cNvSpPr txBox="1"/>
          <p:nvPr>
            <p:ph idx="1" type="body"/>
          </p:nvPr>
        </p:nvSpPr>
        <p:spPr>
          <a:xfrm>
            <a:off x="990600" y="4572000"/>
            <a:ext cx="5334000" cy="4343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2" name="Google Shape;462;p52:notes"/>
          <p:cNvSpPr/>
          <p:nvPr>
            <p:ph idx="2" type="sldImg"/>
          </p:nvPr>
        </p:nvSpPr>
        <p:spPr>
          <a:xfrm>
            <a:off x="1219200" y="685800"/>
            <a:ext cx="4876800" cy="3657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53:notes"/>
          <p:cNvSpPr txBox="1"/>
          <p:nvPr/>
        </p:nvSpPr>
        <p:spPr>
          <a:xfrm>
            <a:off x="4114800" y="9144000"/>
            <a:ext cx="32004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468" name="Google Shape;468;p53:notes"/>
          <p:cNvSpPr/>
          <p:nvPr>
            <p:ph idx="2" type="sldImg"/>
          </p:nvPr>
        </p:nvSpPr>
        <p:spPr>
          <a:xfrm>
            <a:off x="1219200" y="685800"/>
            <a:ext cx="4876800" cy="3657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9" name="Google Shape;469;p53:notes"/>
          <p:cNvSpPr txBox="1"/>
          <p:nvPr>
            <p:ph idx="1" type="body"/>
          </p:nvPr>
        </p:nvSpPr>
        <p:spPr>
          <a:xfrm>
            <a:off x="990600" y="4572000"/>
            <a:ext cx="5334000" cy="4343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54:notes"/>
          <p:cNvSpPr txBox="1"/>
          <p:nvPr/>
        </p:nvSpPr>
        <p:spPr>
          <a:xfrm>
            <a:off x="4114800" y="9144000"/>
            <a:ext cx="32004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475" name="Google Shape;475;p54:notes"/>
          <p:cNvSpPr/>
          <p:nvPr>
            <p:ph idx="2" type="sldImg"/>
          </p:nvPr>
        </p:nvSpPr>
        <p:spPr>
          <a:xfrm>
            <a:off x="1219200" y="685800"/>
            <a:ext cx="4876800" cy="3657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6" name="Google Shape;476;p54:notes"/>
          <p:cNvSpPr txBox="1"/>
          <p:nvPr>
            <p:ph idx="1" type="body"/>
          </p:nvPr>
        </p:nvSpPr>
        <p:spPr>
          <a:xfrm>
            <a:off x="990600" y="4572000"/>
            <a:ext cx="5334000" cy="4343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55:notes"/>
          <p:cNvSpPr txBox="1"/>
          <p:nvPr>
            <p:ph idx="1" type="body"/>
          </p:nvPr>
        </p:nvSpPr>
        <p:spPr>
          <a:xfrm>
            <a:off x="990600" y="4572000"/>
            <a:ext cx="5334000" cy="4343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2" name="Google Shape;482;p55:notes"/>
          <p:cNvSpPr/>
          <p:nvPr>
            <p:ph idx="2" type="sldImg"/>
          </p:nvPr>
        </p:nvSpPr>
        <p:spPr>
          <a:xfrm>
            <a:off x="1219200" y="685800"/>
            <a:ext cx="4876800" cy="3657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3"/>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1" name="Google Shape;21;p3"/>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2" name="Google Shape;22;p3"/>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4"/>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7" name="Google Shape;27;p4"/>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4"/>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30" name="Shape 30"/>
        <p:cNvGrpSpPr/>
        <p:nvPr/>
      </p:nvGrpSpPr>
      <p:grpSpPr>
        <a:xfrm>
          <a:off x="0" y="0"/>
          <a:ext cx="0" cy="0"/>
          <a:chOff x="0" y="0"/>
          <a:chExt cx="0" cy="0"/>
        </a:xfrm>
      </p:grpSpPr>
      <p:sp>
        <p:nvSpPr>
          <p:cNvPr id="31" name="Google Shape;31;p5"/>
          <p:cNvSpPr txBox="1"/>
          <p:nvPr>
            <p:ph type="title"/>
          </p:nvPr>
        </p:nvSpPr>
        <p:spPr>
          <a:xfrm rot="5400000">
            <a:off x="4743450" y="2381250"/>
            <a:ext cx="5486400" cy="1943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2" name="Google Shape;32;p5"/>
          <p:cNvSpPr txBox="1"/>
          <p:nvPr>
            <p:ph idx="1" type="body"/>
          </p:nvPr>
        </p:nvSpPr>
        <p:spPr>
          <a:xfrm rot="5400000">
            <a:off x="781050" y="514350"/>
            <a:ext cx="5486400" cy="56769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3" name="Google Shape;33;p5"/>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5"/>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5"/>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36" name="Shape 36"/>
        <p:cNvGrpSpPr/>
        <p:nvPr/>
      </p:nvGrpSpPr>
      <p:grpSpPr>
        <a:xfrm>
          <a:off x="0" y="0"/>
          <a:ext cx="0" cy="0"/>
          <a:chOff x="0" y="0"/>
          <a:chExt cx="0" cy="0"/>
        </a:xfrm>
      </p:grpSpPr>
      <p:sp>
        <p:nvSpPr>
          <p:cNvPr id="37" name="Google Shape;37;p6"/>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8" name="Google Shape;38;p6"/>
          <p:cNvSpPr txBox="1"/>
          <p:nvPr>
            <p:ph idx="1" type="body"/>
          </p:nvPr>
        </p:nvSpPr>
        <p:spPr>
          <a:xfrm rot="5400000">
            <a:off x="2514600" y="152400"/>
            <a:ext cx="4114800" cy="77724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9" name="Google Shape;39;p6"/>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6"/>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6"/>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42" name="Shape 42"/>
        <p:cNvGrpSpPr/>
        <p:nvPr/>
      </p:nvGrpSpPr>
      <p:grpSpPr>
        <a:xfrm>
          <a:off x="0" y="0"/>
          <a:ext cx="0" cy="0"/>
          <a:chOff x="0" y="0"/>
          <a:chExt cx="0" cy="0"/>
        </a:xfrm>
      </p:grpSpPr>
      <p:sp>
        <p:nvSpPr>
          <p:cNvPr id="43" name="Google Shape;43;p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4" name="Google Shape;44;p7"/>
          <p:cNvSpPr/>
          <p:nvPr>
            <p:ph idx="2" type="pic"/>
          </p:nvPr>
        </p:nvSpPr>
        <p:spPr>
          <a:xfrm>
            <a:off x="1792288" y="612775"/>
            <a:ext cx="5486400" cy="4114800"/>
          </a:xfrm>
          <a:prstGeom prst="rect">
            <a:avLst/>
          </a:prstGeom>
          <a:noFill/>
          <a:ln>
            <a:noFill/>
          </a:ln>
        </p:spPr>
      </p:sp>
      <p:sp>
        <p:nvSpPr>
          <p:cNvPr id="45" name="Google Shape;45;p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Times New Roman"/>
              <a:buNone/>
              <a:defRPr sz="1400"/>
            </a:lvl1pPr>
            <a:lvl2pPr indent="-228600" lvl="1" marL="914400" algn="l">
              <a:spcBef>
                <a:spcPts val="240"/>
              </a:spcBef>
              <a:spcAft>
                <a:spcPts val="0"/>
              </a:spcAft>
              <a:buClr>
                <a:schemeClr val="dk1"/>
              </a:buClr>
              <a:buSzPts val="1200"/>
              <a:buFont typeface="Times New Roman"/>
              <a:buNone/>
              <a:defRPr sz="1200"/>
            </a:lvl2pPr>
            <a:lvl3pPr indent="-228600" lvl="2" marL="1371600" algn="l">
              <a:spcBef>
                <a:spcPts val="200"/>
              </a:spcBef>
              <a:spcAft>
                <a:spcPts val="0"/>
              </a:spcAft>
              <a:buClr>
                <a:schemeClr val="dk1"/>
              </a:buClr>
              <a:buSzPts val="1000"/>
              <a:buFont typeface="Times New Roman"/>
              <a:buNone/>
              <a:defRPr sz="1000"/>
            </a:lvl3pPr>
            <a:lvl4pPr indent="-228600" lvl="3" marL="1828800" algn="l">
              <a:spcBef>
                <a:spcPts val="180"/>
              </a:spcBef>
              <a:spcAft>
                <a:spcPts val="0"/>
              </a:spcAft>
              <a:buClr>
                <a:schemeClr val="dk1"/>
              </a:buClr>
              <a:buSzPts val="900"/>
              <a:buFont typeface="Times New Roman"/>
              <a:buNone/>
              <a:defRPr sz="900"/>
            </a:lvl4pPr>
            <a:lvl5pPr indent="-228600" lvl="4" marL="2286000" algn="l">
              <a:spcBef>
                <a:spcPts val="180"/>
              </a:spcBef>
              <a:spcAft>
                <a:spcPts val="0"/>
              </a:spcAft>
              <a:buClr>
                <a:schemeClr val="dk1"/>
              </a:buClr>
              <a:buSzPts val="900"/>
              <a:buFont typeface="Times New Roman"/>
              <a:buNone/>
              <a:defRPr sz="900"/>
            </a:lvl5pPr>
            <a:lvl6pPr indent="-228600" lvl="5" marL="2743200" algn="l">
              <a:spcBef>
                <a:spcPts val="180"/>
              </a:spcBef>
              <a:spcAft>
                <a:spcPts val="0"/>
              </a:spcAft>
              <a:buClr>
                <a:schemeClr val="dk1"/>
              </a:buClr>
              <a:buSzPts val="900"/>
              <a:buFont typeface="Times New Roman"/>
              <a:buNone/>
              <a:defRPr sz="900"/>
            </a:lvl6pPr>
            <a:lvl7pPr indent="-228600" lvl="6" marL="3200400" algn="l">
              <a:spcBef>
                <a:spcPts val="180"/>
              </a:spcBef>
              <a:spcAft>
                <a:spcPts val="0"/>
              </a:spcAft>
              <a:buClr>
                <a:schemeClr val="dk1"/>
              </a:buClr>
              <a:buSzPts val="900"/>
              <a:buFont typeface="Times New Roman"/>
              <a:buNone/>
              <a:defRPr sz="900"/>
            </a:lvl7pPr>
            <a:lvl8pPr indent="-228600" lvl="7" marL="3657600" algn="l">
              <a:spcBef>
                <a:spcPts val="180"/>
              </a:spcBef>
              <a:spcAft>
                <a:spcPts val="0"/>
              </a:spcAft>
              <a:buClr>
                <a:schemeClr val="dk1"/>
              </a:buClr>
              <a:buSzPts val="900"/>
              <a:buFont typeface="Times New Roman"/>
              <a:buNone/>
              <a:defRPr sz="900"/>
            </a:lvl8pPr>
            <a:lvl9pPr indent="-228600" lvl="8" marL="4114800" algn="l">
              <a:spcBef>
                <a:spcPts val="180"/>
              </a:spcBef>
              <a:spcAft>
                <a:spcPts val="0"/>
              </a:spcAft>
              <a:buClr>
                <a:schemeClr val="dk1"/>
              </a:buClr>
              <a:buSzPts val="900"/>
              <a:buFont typeface="Times New Roman"/>
              <a:buNone/>
              <a:defRPr sz="900"/>
            </a:lvl9pPr>
          </a:lstStyle>
          <a:p/>
        </p:txBody>
      </p:sp>
      <p:sp>
        <p:nvSpPr>
          <p:cNvPr id="46" name="Google Shape;46;p7"/>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7"/>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7"/>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9" name="Shape 49"/>
        <p:cNvGrpSpPr/>
        <p:nvPr/>
      </p:nvGrpSpPr>
      <p:grpSpPr>
        <a:xfrm>
          <a:off x="0" y="0"/>
          <a:ext cx="0" cy="0"/>
          <a:chOff x="0" y="0"/>
          <a:chExt cx="0" cy="0"/>
        </a:xfrm>
      </p:grpSpPr>
      <p:sp>
        <p:nvSpPr>
          <p:cNvPr id="50" name="Google Shape;50;p8"/>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1" name="Google Shape;51;p8"/>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Font typeface="Times New Roman"/>
              <a:buChar char="•"/>
              <a:defRPr sz="3200"/>
            </a:lvl1pPr>
            <a:lvl2pPr indent="-406400" lvl="1" marL="914400" algn="l">
              <a:spcBef>
                <a:spcPts val="560"/>
              </a:spcBef>
              <a:spcAft>
                <a:spcPts val="0"/>
              </a:spcAft>
              <a:buClr>
                <a:schemeClr val="dk1"/>
              </a:buClr>
              <a:buSzPts val="2800"/>
              <a:buFont typeface="Times New Roman"/>
              <a:buChar char="–"/>
              <a:defRPr sz="2800"/>
            </a:lvl2pPr>
            <a:lvl3pPr indent="-381000" lvl="2" marL="1371600" algn="l">
              <a:spcBef>
                <a:spcPts val="480"/>
              </a:spcBef>
              <a:spcAft>
                <a:spcPts val="0"/>
              </a:spcAft>
              <a:buClr>
                <a:schemeClr val="dk1"/>
              </a:buClr>
              <a:buSzPts val="2400"/>
              <a:buFont typeface="Times New Roman"/>
              <a:buChar char="•"/>
              <a:defRPr sz="2400"/>
            </a:lvl3pPr>
            <a:lvl4pPr indent="-355600" lvl="3" marL="1828800" algn="l">
              <a:spcBef>
                <a:spcPts val="400"/>
              </a:spcBef>
              <a:spcAft>
                <a:spcPts val="0"/>
              </a:spcAft>
              <a:buClr>
                <a:schemeClr val="dk1"/>
              </a:buClr>
              <a:buSzPts val="2000"/>
              <a:buFont typeface="Times New Roman"/>
              <a:buChar char="–"/>
              <a:defRPr sz="2000"/>
            </a:lvl4pPr>
            <a:lvl5pPr indent="-355600" lvl="4" marL="2286000" algn="l">
              <a:spcBef>
                <a:spcPts val="400"/>
              </a:spcBef>
              <a:spcAft>
                <a:spcPts val="0"/>
              </a:spcAft>
              <a:buClr>
                <a:schemeClr val="dk1"/>
              </a:buClr>
              <a:buSzPts val="2000"/>
              <a:buFont typeface="Times New Roman"/>
              <a:buChar char="»"/>
              <a:defRPr sz="2000"/>
            </a:lvl5pPr>
            <a:lvl6pPr indent="-355600" lvl="5" marL="2743200" algn="l">
              <a:spcBef>
                <a:spcPts val="400"/>
              </a:spcBef>
              <a:spcAft>
                <a:spcPts val="0"/>
              </a:spcAft>
              <a:buClr>
                <a:schemeClr val="dk1"/>
              </a:buClr>
              <a:buSzPts val="2000"/>
              <a:buFont typeface="Times New Roman"/>
              <a:buChar char="»"/>
              <a:defRPr sz="2000"/>
            </a:lvl6pPr>
            <a:lvl7pPr indent="-355600" lvl="6" marL="3200400" algn="l">
              <a:spcBef>
                <a:spcPts val="400"/>
              </a:spcBef>
              <a:spcAft>
                <a:spcPts val="0"/>
              </a:spcAft>
              <a:buClr>
                <a:schemeClr val="dk1"/>
              </a:buClr>
              <a:buSzPts val="2000"/>
              <a:buFont typeface="Times New Roman"/>
              <a:buChar char="»"/>
              <a:defRPr sz="2000"/>
            </a:lvl7pPr>
            <a:lvl8pPr indent="-355600" lvl="7" marL="3657600" algn="l">
              <a:spcBef>
                <a:spcPts val="400"/>
              </a:spcBef>
              <a:spcAft>
                <a:spcPts val="0"/>
              </a:spcAft>
              <a:buClr>
                <a:schemeClr val="dk1"/>
              </a:buClr>
              <a:buSzPts val="2000"/>
              <a:buFont typeface="Times New Roman"/>
              <a:buChar char="»"/>
              <a:defRPr sz="2000"/>
            </a:lvl8pPr>
            <a:lvl9pPr indent="-355600" lvl="8" marL="4114800" algn="l">
              <a:spcBef>
                <a:spcPts val="400"/>
              </a:spcBef>
              <a:spcAft>
                <a:spcPts val="0"/>
              </a:spcAft>
              <a:buClr>
                <a:schemeClr val="dk1"/>
              </a:buClr>
              <a:buSzPts val="2000"/>
              <a:buFont typeface="Times New Roman"/>
              <a:buChar char="»"/>
              <a:defRPr sz="2000"/>
            </a:lvl9pPr>
          </a:lstStyle>
          <a:p/>
        </p:txBody>
      </p:sp>
      <p:sp>
        <p:nvSpPr>
          <p:cNvPr id="52" name="Google Shape;52;p8"/>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Times New Roman"/>
              <a:buNone/>
              <a:defRPr sz="1400"/>
            </a:lvl1pPr>
            <a:lvl2pPr indent="-228600" lvl="1" marL="914400" algn="l">
              <a:spcBef>
                <a:spcPts val="240"/>
              </a:spcBef>
              <a:spcAft>
                <a:spcPts val="0"/>
              </a:spcAft>
              <a:buClr>
                <a:schemeClr val="dk1"/>
              </a:buClr>
              <a:buSzPts val="1200"/>
              <a:buFont typeface="Times New Roman"/>
              <a:buNone/>
              <a:defRPr sz="1200"/>
            </a:lvl2pPr>
            <a:lvl3pPr indent="-228600" lvl="2" marL="1371600" algn="l">
              <a:spcBef>
                <a:spcPts val="200"/>
              </a:spcBef>
              <a:spcAft>
                <a:spcPts val="0"/>
              </a:spcAft>
              <a:buClr>
                <a:schemeClr val="dk1"/>
              </a:buClr>
              <a:buSzPts val="1000"/>
              <a:buFont typeface="Times New Roman"/>
              <a:buNone/>
              <a:defRPr sz="1000"/>
            </a:lvl3pPr>
            <a:lvl4pPr indent="-228600" lvl="3" marL="1828800" algn="l">
              <a:spcBef>
                <a:spcPts val="180"/>
              </a:spcBef>
              <a:spcAft>
                <a:spcPts val="0"/>
              </a:spcAft>
              <a:buClr>
                <a:schemeClr val="dk1"/>
              </a:buClr>
              <a:buSzPts val="900"/>
              <a:buFont typeface="Times New Roman"/>
              <a:buNone/>
              <a:defRPr sz="900"/>
            </a:lvl4pPr>
            <a:lvl5pPr indent="-228600" lvl="4" marL="2286000" algn="l">
              <a:spcBef>
                <a:spcPts val="180"/>
              </a:spcBef>
              <a:spcAft>
                <a:spcPts val="0"/>
              </a:spcAft>
              <a:buClr>
                <a:schemeClr val="dk1"/>
              </a:buClr>
              <a:buSzPts val="900"/>
              <a:buFont typeface="Times New Roman"/>
              <a:buNone/>
              <a:defRPr sz="900"/>
            </a:lvl5pPr>
            <a:lvl6pPr indent="-228600" lvl="5" marL="2743200" algn="l">
              <a:spcBef>
                <a:spcPts val="180"/>
              </a:spcBef>
              <a:spcAft>
                <a:spcPts val="0"/>
              </a:spcAft>
              <a:buClr>
                <a:schemeClr val="dk1"/>
              </a:buClr>
              <a:buSzPts val="900"/>
              <a:buFont typeface="Times New Roman"/>
              <a:buNone/>
              <a:defRPr sz="900"/>
            </a:lvl6pPr>
            <a:lvl7pPr indent="-228600" lvl="6" marL="3200400" algn="l">
              <a:spcBef>
                <a:spcPts val="180"/>
              </a:spcBef>
              <a:spcAft>
                <a:spcPts val="0"/>
              </a:spcAft>
              <a:buClr>
                <a:schemeClr val="dk1"/>
              </a:buClr>
              <a:buSzPts val="900"/>
              <a:buFont typeface="Times New Roman"/>
              <a:buNone/>
              <a:defRPr sz="900"/>
            </a:lvl7pPr>
            <a:lvl8pPr indent="-228600" lvl="7" marL="3657600" algn="l">
              <a:spcBef>
                <a:spcPts val="180"/>
              </a:spcBef>
              <a:spcAft>
                <a:spcPts val="0"/>
              </a:spcAft>
              <a:buClr>
                <a:schemeClr val="dk1"/>
              </a:buClr>
              <a:buSzPts val="900"/>
              <a:buFont typeface="Times New Roman"/>
              <a:buNone/>
              <a:defRPr sz="900"/>
            </a:lvl8pPr>
            <a:lvl9pPr indent="-228600" lvl="8" marL="4114800" algn="l">
              <a:spcBef>
                <a:spcPts val="180"/>
              </a:spcBef>
              <a:spcAft>
                <a:spcPts val="0"/>
              </a:spcAft>
              <a:buClr>
                <a:schemeClr val="dk1"/>
              </a:buClr>
              <a:buSzPts val="900"/>
              <a:buFont typeface="Times New Roman"/>
              <a:buNone/>
              <a:defRPr sz="900"/>
            </a:lvl9pPr>
          </a:lstStyle>
          <a:p/>
        </p:txBody>
      </p:sp>
      <p:sp>
        <p:nvSpPr>
          <p:cNvPr id="53" name="Google Shape;53;p8"/>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8"/>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8"/>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6" name="Shape 56"/>
        <p:cNvGrpSpPr/>
        <p:nvPr/>
      </p:nvGrpSpPr>
      <p:grpSpPr>
        <a:xfrm>
          <a:off x="0" y="0"/>
          <a:ext cx="0" cy="0"/>
          <a:chOff x="0" y="0"/>
          <a:chExt cx="0" cy="0"/>
        </a:xfrm>
      </p:grpSpPr>
      <p:sp>
        <p:nvSpPr>
          <p:cNvPr id="57" name="Google Shape;57;p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8" name="Google Shape;58;p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Times New Roman"/>
              <a:buNone/>
              <a:defRPr b="1" sz="2400"/>
            </a:lvl1pPr>
            <a:lvl2pPr indent="-228600" lvl="1" marL="914400" algn="l">
              <a:spcBef>
                <a:spcPts val="400"/>
              </a:spcBef>
              <a:spcAft>
                <a:spcPts val="0"/>
              </a:spcAft>
              <a:buClr>
                <a:schemeClr val="dk1"/>
              </a:buClr>
              <a:buSzPts val="2000"/>
              <a:buFont typeface="Times New Roman"/>
              <a:buNone/>
              <a:defRPr b="1" sz="2000"/>
            </a:lvl2pPr>
            <a:lvl3pPr indent="-228600" lvl="2" marL="1371600" algn="l">
              <a:spcBef>
                <a:spcPts val="360"/>
              </a:spcBef>
              <a:spcAft>
                <a:spcPts val="0"/>
              </a:spcAft>
              <a:buClr>
                <a:schemeClr val="dk1"/>
              </a:buClr>
              <a:buSzPts val="1800"/>
              <a:buFont typeface="Times New Roman"/>
              <a:buNone/>
              <a:defRPr b="1" sz="1800"/>
            </a:lvl3pPr>
            <a:lvl4pPr indent="-228600" lvl="3" marL="1828800" algn="l">
              <a:spcBef>
                <a:spcPts val="320"/>
              </a:spcBef>
              <a:spcAft>
                <a:spcPts val="0"/>
              </a:spcAft>
              <a:buClr>
                <a:schemeClr val="dk1"/>
              </a:buClr>
              <a:buSzPts val="1600"/>
              <a:buFont typeface="Times New Roman"/>
              <a:buNone/>
              <a:defRPr b="1" sz="1600"/>
            </a:lvl4pPr>
            <a:lvl5pPr indent="-228600" lvl="4" marL="2286000" algn="l">
              <a:spcBef>
                <a:spcPts val="320"/>
              </a:spcBef>
              <a:spcAft>
                <a:spcPts val="0"/>
              </a:spcAft>
              <a:buClr>
                <a:schemeClr val="dk1"/>
              </a:buClr>
              <a:buSzPts val="1600"/>
              <a:buFont typeface="Times New Roman"/>
              <a:buNone/>
              <a:defRPr b="1" sz="1600"/>
            </a:lvl5pPr>
            <a:lvl6pPr indent="-228600" lvl="5" marL="2743200" algn="l">
              <a:spcBef>
                <a:spcPts val="320"/>
              </a:spcBef>
              <a:spcAft>
                <a:spcPts val="0"/>
              </a:spcAft>
              <a:buClr>
                <a:schemeClr val="dk1"/>
              </a:buClr>
              <a:buSzPts val="1600"/>
              <a:buFont typeface="Times New Roman"/>
              <a:buNone/>
              <a:defRPr b="1" sz="1600"/>
            </a:lvl6pPr>
            <a:lvl7pPr indent="-228600" lvl="6" marL="3200400" algn="l">
              <a:spcBef>
                <a:spcPts val="320"/>
              </a:spcBef>
              <a:spcAft>
                <a:spcPts val="0"/>
              </a:spcAft>
              <a:buClr>
                <a:schemeClr val="dk1"/>
              </a:buClr>
              <a:buSzPts val="1600"/>
              <a:buFont typeface="Times New Roman"/>
              <a:buNone/>
              <a:defRPr b="1" sz="1600"/>
            </a:lvl7pPr>
            <a:lvl8pPr indent="-228600" lvl="7" marL="3657600" algn="l">
              <a:spcBef>
                <a:spcPts val="320"/>
              </a:spcBef>
              <a:spcAft>
                <a:spcPts val="0"/>
              </a:spcAft>
              <a:buClr>
                <a:schemeClr val="dk1"/>
              </a:buClr>
              <a:buSzPts val="1600"/>
              <a:buFont typeface="Times New Roman"/>
              <a:buNone/>
              <a:defRPr b="1" sz="1600"/>
            </a:lvl8pPr>
            <a:lvl9pPr indent="-228600" lvl="8" marL="4114800" algn="l">
              <a:spcBef>
                <a:spcPts val="320"/>
              </a:spcBef>
              <a:spcAft>
                <a:spcPts val="0"/>
              </a:spcAft>
              <a:buClr>
                <a:schemeClr val="dk1"/>
              </a:buClr>
              <a:buSzPts val="1600"/>
              <a:buFont typeface="Times New Roman"/>
              <a:buNone/>
              <a:defRPr b="1" sz="1600"/>
            </a:lvl9pPr>
          </a:lstStyle>
          <a:p/>
        </p:txBody>
      </p:sp>
      <p:sp>
        <p:nvSpPr>
          <p:cNvPr id="59" name="Google Shape;59;p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Times New Roman"/>
              <a:buChar char="•"/>
              <a:defRPr sz="2400"/>
            </a:lvl1pPr>
            <a:lvl2pPr indent="-355600" lvl="1" marL="914400" algn="l">
              <a:spcBef>
                <a:spcPts val="400"/>
              </a:spcBef>
              <a:spcAft>
                <a:spcPts val="0"/>
              </a:spcAft>
              <a:buClr>
                <a:schemeClr val="dk1"/>
              </a:buClr>
              <a:buSzPts val="2000"/>
              <a:buFont typeface="Times New Roman"/>
              <a:buChar char="–"/>
              <a:defRPr sz="2000"/>
            </a:lvl2pPr>
            <a:lvl3pPr indent="-342900" lvl="2" marL="1371600" algn="l">
              <a:spcBef>
                <a:spcPts val="360"/>
              </a:spcBef>
              <a:spcAft>
                <a:spcPts val="0"/>
              </a:spcAft>
              <a:buClr>
                <a:schemeClr val="dk1"/>
              </a:buClr>
              <a:buSzPts val="1800"/>
              <a:buFont typeface="Times New Roman"/>
              <a:buChar char="•"/>
              <a:defRPr sz="1800"/>
            </a:lvl3pPr>
            <a:lvl4pPr indent="-330200" lvl="3" marL="1828800" algn="l">
              <a:spcBef>
                <a:spcPts val="320"/>
              </a:spcBef>
              <a:spcAft>
                <a:spcPts val="0"/>
              </a:spcAft>
              <a:buClr>
                <a:schemeClr val="dk1"/>
              </a:buClr>
              <a:buSzPts val="1600"/>
              <a:buFont typeface="Times New Roman"/>
              <a:buChar char="–"/>
              <a:defRPr sz="1600"/>
            </a:lvl4pPr>
            <a:lvl5pPr indent="-330200" lvl="4" marL="2286000" algn="l">
              <a:spcBef>
                <a:spcPts val="320"/>
              </a:spcBef>
              <a:spcAft>
                <a:spcPts val="0"/>
              </a:spcAft>
              <a:buClr>
                <a:schemeClr val="dk1"/>
              </a:buClr>
              <a:buSzPts val="1600"/>
              <a:buFont typeface="Times New Roman"/>
              <a:buChar char="»"/>
              <a:defRPr sz="1600"/>
            </a:lvl5pPr>
            <a:lvl6pPr indent="-330200" lvl="5" marL="2743200" algn="l">
              <a:spcBef>
                <a:spcPts val="320"/>
              </a:spcBef>
              <a:spcAft>
                <a:spcPts val="0"/>
              </a:spcAft>
              <a:buClr>
                <a:schemeClr val="dk1"/>
              </a:buClr>
              <a:buSzPts val="1600"/>
              <a:buFont typeface="Times New Roman"/>
              <a:buChar char="»"/>
              <a:defRPr sz="1600"/>
            </a:lvl6pPr>
            <a:lvl7pPr indent="-330200" lvl="6" marL="3200400" algn="l">
              <a:spcBef>
                <a:spcPts val="320"/>
              </a:spcBef>
              <a:spcAft>
                <a:spcPts val="0"/>
              </a:spcAft>
              <a:buClr>
                <a:schemeClr val="dk1"/>
              </a:buClr>
              <a:buSzPts val="1600"/>
              <a:buFont typeface="Times New Roman"/>
              <a:buChar char="»"/>
              <a:defRPr sz="1600"/>
            </a:lvl7pPr>
            <a:lvl8pPr indent="-330200" lvl="7" marL="3657600" algn="l">
              <a:spcBef>
                <a:spcPts val="320"/>
              </a:spcBef>
              <a:spcAft>
                <a:spcPts val="0"/>
              </a:spcAft>
              <a:buClr>
                <a:schemeClr val="dk1"/>
              </a:buClr>
              <a:buSzPts val="1600"/>
              <a:buFont typeface="Times New Roman"/>
              <a:buChar char="»"/>
              <a:defRPr sz="1600"/>
            </a:lvl8pPr>
            <a:lvl9pPr indent="-330200" lvl="8" marL="4114800" algn="l">
              <a:spcBef>
                <a:spcPts val="320"/>
              </a:spcBef>
              <a:spcAft>
                <a:spcPts val="0"/>
              </a:spcAft>
              <a:buClr>
                <a:schemeClr val="dk1"/>
              </a:buClr>
              <a:buSzPts val="1600"/>
              <a:buFont typeface="Times New Roman"/>
              <a:buChar char="»"/>
              <a:defRPr sz="1600"/>
            </a:lvl9pPr>
          </a:lstStyle>
          <a:p/>
        </p:txBody>
      </p:sp>
      <p:sp>
        <p:nvSpPr>
          <p:cNvPr id="60" name="Google Shape;60;p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Times New Roman"/>
              <a:buNone/>
              <a:defRPr b="1" sz="2400"/>
            </a:lvl1pPr>
            <a:lvl2pPr indent="-228600" lvl="1" marL="914400" algn="l">
              <a:spcBef>
                <a:spcPts val="400"/>
              </a:spcBef>
              <a:spcAft>
                <a:spcPts val="0"/>
              </a:spcAft>
              <a:buClr>
                <a:schemeClr val="dk1"/>
              </a:buClr>
              <a:buSzPts val="2000"/>
              <a:buFont typeface="Times New Roman"/>
              <a:buNone/>
              <a:defRPr b="1" sz="2000"/>
            </a:lvl2pPr>
            <a:lvl3pPr indent="-228600" lvl="2" marL="1371600" algn="l">
              <a:spcBef>
                <a:spcPts val="360"/>
              </a:spcBef>
              <a:spcAft>
                <a:spcPts val="0"/>
              </a:spcAft>
              <a:buClr>
                <a:schemeClr val="dk1"/>
              </a:buClr>
              <a:buSzPts val="1800"/>
              <a:buFont typeface="Times New Roman"/>
              <a:buNone/>
              <a:defRPr b="1" sz="1800"/>
            </a:lvl3pPr>
            <a:lvl4pPr indent="-228600" lvl="3" marL="1828800" algn="l">
              <a:spcBef>
                <a:spcPts val="320"/>
              </a:spcBef>
              <a:spcAft>
                <a:spcPts val="0"/>
              </a:spcAft>
              <a:buClr>
                <a:schemeClr val="dk1"/>
              </a:buClr>
              <a:buSzPts val="1600"/>
              <a:buFont typeface="Times New Roman"/>
              <a:buNone/>
              <a:defRPr b="1" sz="1600"/>
            </a:lvl4pPr>
            <a:lvl5pPr indent="-228600" lvl="4" marL="2286000" algn="l">
              <a:spcBef>
                <a:spcPts val="320"/>
              </a:spcBef>
              <a:spcAft>
                <a:spcPts val="0"/>
              </a:spcAft>
              <a:buClr>
                <a:schemeClr val="dk1"/>
              </a:buClr>
              <a:buSzPts val="1600"/>
              <a:buFont typeface="Times New Roman"/>
              <a:buNone/>
              <a:defRPr b="1" sz="1600"/>
            </a:lvl5pPr>
            <a:lvl6pPr indent="-228600" lvl="5" marL="2743200" algn="l">
              <a:spcBef>
                <a:spcPts val="320"/>
              </a:spcBef>
              <a:spcAft>
                <a:spcPts val="0"/>
              </a:spcAft>
              <a:buClr>
                <a:schemeClr val="dk1"/>
              </a:buClr>
              <a:buSzPts val="1600"/>
              <a:buFont typeface="Times New Roman"/>
              <a:buNone/>
              <a:defRPr b="1" sz="1600"/>
            </a:lvl6pPr>
            <a:lvl7pPr indent="-228600" lvl="6" marL="3200400" algn="l">
              <a:spcBef>
                <a:spcPts val="320"/>
              </a:spcBef>
              <a:spcAft>
                <a:spcPts val="0"/>
              </a:spcAft>
              <a:buClr>
                <a:schemeClr val="dk1"/>
              </a:buClr>
              <a:buSzPts val="1600"/>
              <a:buFont typeface="Times New Roman"/>
              <a:buNone/>
              <a:defRPr b="1" sz="1600"/>
            </a:lvl7pPr>
            <a:lvl8pPr indent="-228600" lvl="7" marL="3657600" algn="l">
              <a:spcBef>
                <a:spcPts val="320"/>
              </a:spcBef>
              <a:spcAft>
                <a:spcPts val="0"/>
              </a:spcAft>
              <a:buClr>
                <a:schemeClr val="dk1"/>
              </a:buClr>
              <a:buSzPts val="1600"/>
              <a:buFont typeface="Times New Roman"/>
              <a:buNone/>
              <a:defRPr b="1" sz="1600"/>
            </a:lvl8pPr>
            <a:lvl9pPr indent="-228600" lvl="8" marL="4114800" algn="l">
              <a:spcBef>
                <a:spcPts val="320"/>
              </a:spcBef>
              <a:spcAft>
                <a:spcPts val="0"/>
              </a:spcAft>
              <a:buClr>
                <a:schemeClr val="dk1"/>
              </a:buClr>
              <a:buSzPts val="1600"/>
              <a:buFont typeface="Times New Roman"/>
              <a:buNone/>
              <a:defRPr b="1" sz="1600"/>
            </a:lvl9pPr>
          </a:lstStyle>
          <a:p/>
        </p:txBody>
      </p:sp>
      <p:sp>
        <p:nvSpPr>
          <p:cNvPr id="61" name="Google Shape;61;p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Times New Roman"/>
              <a:buChar char="•"/>
              <a:defRPr sz="2400"/>
            </a:lvl1pPr>
            <a:lvl2pPr indent="-355600" lvl="1" marL="914400" algn="l">
              <a:spcBef>
                <a:spcPts val="400"/>
              </a:spcBef>
              <a:spcAft>
                <a:spcPts val="0"/>
              </a:spcAft>
              <a:buClr>
                <a:schemeClr val="dk1"/>
              </a:buClr>
              <a:buSzPts val="2000"/>
              <a:buFont typeface="Times New Roman"/>
              <a:buChar char="–"/>
              <a:defRPr sz="2000"/>
            </a:lvl2pPr>
            <a:lvl3pPr indent="-342900" lvl="2" marL="1371600" algn="l">
              <a:spcBef>
                <a:spcPts val="360"/>
              </a:spcBef>
              <a:spcAft>
                <a:spcPts val="0"/>
              </a:spcAft>
              <a:buClr>
                <a:schemeClr val="dk1"/>
              </a:buClr>
              <a:buSzPts val="1800"/>
              <a:buFont typeface="Times New Roman"/>
              <a:buChar char="•"/>
              <a:defRPr sz="1800"/>
            </a:lvl3pPr>
            <a:lvl4pPr indent="-330200" lvl="3" marL="1828800" algn="l">
              <a:spcBef>
                <a:spcPts val="320"/>
              </a:spcBef>
              <a:spcAft>
                <a:spcPts val="0"/>
              </a:spcAft>
              <a:buClr>
                <a:schemeClr val="dk1"/>
              </a:buClr>
              <a:buSzPts val="1600"/>
              <a:buFont typeface="Times New Roman"/>
              <a:buChar char="–"/>
              <a:defRPr sz="1600"/>
            </a:lvl4pPr>
            <a:lvl5pPr indent="-330200" lvl="4" marL="2286000" algn="l">
              <a:spcBef>
                <a:spcPts val="320"/>
              </a:spcBef>
              <a:spcAft>
                <a:spcPts val="0"/>
              </a:spcAft>
              <a:buClr>
                <a:schemeClr val="dk1"/>
              </a:buClr>
              <a:buSzPts val="1600"/>
              <a:buFont typeface="Times New Roman"/>
              <a:buChar char="»"/>
              <a:defRPr sz="1600"/>
            </a:lvl5pPr>
            <a:lvl6pPr indent="-330200" lvl="5" marL="2743200" algn="l">
              <a:spcBef>
                <a:spcPts val="320"/>
              </a:spcBef>
              <a:spcAft>
                <a:spcPts val="0"/>
              </a:spcAft>
              <a:buClr>
                <a:schemeClr val="dk1"/>
              </a:buClr>
              <a:buSzPts val="1600"/>
              <a:buFont typeface="Times New Roman"/>
              <a:buChar char="»"/>
              <a:defRPr sz="1600"/>
            </a:lvl6pPr>
            <a:lvl7pPr indent="-330200" lvl="6" marL="3200400" algn="l">
              <a:spcBef>
                <a:spcPts val="320"/>
              </a:spcBef>
              <a:spcAft>
                <a:spcPts val="0"/>
              </a:spcAft>
              <a:buClr>
                <a:schemeClr val="dk1"/>
              </a:buClr>
              <a:buSzPts val="1600"/>
              <a:buFont typeface="Times New Roman"/>
              <a:buChar char="»"/>
              <a:defRPr sz="1600"/>
            </a:lvl7pPr>
            <a:lvl8pPr indent="-330200" lvl="7" marL="3657600" algn="l">
              <a:spcBef>
                <a:spcPts val="320"/>
              </a:spcBef>
              <a:spcAft>
                <a:spcPts val="0"/>
              </a:spcAft>
              <a:buClr>
                <a:schemeClr val="dk1"/>
              </a:buClr>
              <a:buSzPts val="1600"/>
              <a:buFont typeface="Times New Roman"/>
              <a:buChar char="»"/>
              <a:defRPr sz="1600"/>
            </a:lvl8pPr>
            <a:lvl9pPr indent="-330200" lvl="8" marL="4114800" algn="l">
              <a:spcBef>
                <a:spcPts val="320"/>
              </a:spcBef>
              <a:spcAft>
                <a:spcPts val="0"/>
              </a:spcAft>
              <a:buClr>
                <a:schemeClr val="dk1"/>
              </a:buClr>
              <a:buSzPts val="1600"/>
              <a:buFont typeface="Times New Roman"/>
              <a:buChar char="»"/>
              <a:defRPr sz="1600"/>
            </a:lvl9pPr>
          </a:lstStyle>
          <a:p/>
        </p:txBody>
      </p:sp>
      <p:sp>
        <p:nvSpPr>
          <p:cNvPr id="62" name="Google Shape;62;p9"/>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9"/>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9"/>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5" name="Shape 65"/>
        <p:cNvGrpSpPr/>
        <p:nvPr/>
      </p:nvGrpSpPr>
      <p:grpSpPr>
        <a:xfrm>
          <a:off x="0" y="0"/>
          <a:ext cx="0" cy="0"/>
          <a:chOff x="0" y="0"/>
          <a:chExt cx="0" cy="0"/>
        </a:xfrm>
      </p:grpSpPr>
      <p:sp>
        <p:nvSpPr>
          <p:cNvPr id="66" name="Google Shape;66;p10"/>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7" name="Google Shape;67;p10"/>
          <p:cNvSpPr txBox="1"/>
          <p:nvPr>
            <p:ph idx="1" type="body"/>
          </p:nvPr>
        </p:nvSpPr>
        <p:spPr>
          <a:xfrm>
            <a:off x="685800" y="1981200"/>
            <a:ext cx="3810000" cy="4114800"/>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Times New Roman"/>
              <a:buChar char="•"/>
              <a:defRPr sz="2800"/>
            </a:lvl1pPr>
            <a:lvl2pPr indent="-381000" lvl="1" marL="914400" algn="l">
              <a:spcBef>
                <a:spcPts val="480"/>
              </a:spcBef>
              <a:spcAft>
                <a:spcPts val="0"/>
              </a:spcAft>
              <a:buClr>
                <a:schemeClr val="dk1"/>
              </a:buClr>
              <a:buSzPts val="2400"/>
              <a:buFont typeface="Times New Roman"/>
              <a:buChar char="–"/>
              <a:defRPr sz="2400"/>
            </a:lvl2pPr>
            <a:lvl3pPr indent="-355600" lvl="2" marL="1371600" algn="l">
              <a:spcBef>
                <a:spcPts val="400"/>
              </a:spcBef>
              <a:spcAft>
                <a:spcPts val="0"/>
              </a:spcAft>
              <a:buClr>
                <a:schemeClr val="dk1"/>
              </a:buClr>
              <a:buSzPts val="2000"/>
              <a:buFont typeface="Times New Roman"/>
              <a:buChar char="•"/>
              <a:defRPr sz="2000"/>
            </a:lvl3pPr>
            <a:lvl4pPr indent="-342900" lvl="3" marL="1828800" algn="l">
              <a:spcBef>
                <a:spcPts val="360"/>
              </a:spcBef>
              <a:spcAft>
                <a:spcPts val="0"/>
              </a:spcAft>
              <a:buClr>
                <a:schemeClr val="dk1"/>
              </a:buClr>
              <a:buSzPts val="1800"/>
              <a:buFont typeface="Times New Roman"/>
              <a:buChar char="–"/>
              <a:defRPr sz="1800"/>
            </a:lvl4pPr>
            <a:lvl5pPr indent="-342900" lvl="4" marL="2286000" algn="l">
              <a:spcBef>
                <a:spcPts val="360"/>
              </a:spcBef>
              <a:spcAft>
                <a:spcPts val="0"/>
              </a:spcAft>
              <a:buClr>
                <a:schemeClr val="dk1"/>
              </a:buClr>
              <a:buSzPts val="1800"/>
              <a:buFont typeface="Times New Roman"/>
              <a:buChar char="»"/>
              <a:defRPr sz="1800"/>
            </a:lvl5pPr>
            <a:lvl6pPr indent="-342900" lvl="5" marL="2743200" algn="l">
              <a:spcBef>
                <a:spcPts val="360"/>
              </a:spcBef>
              <a:spcAft>
                <a:spcPts val="0"/>
              </a:spcAft>
              <a:buClr>
                <a:schemeClr val="dk1"/>
              </a:buClr>
              <a:buSzPts val="1800"/>
              <a:buFont typeface="Times New Roman"/>
              <a:buChar char="»"/>
              <a:defRPr sz="1800"/>
            </a:lvl6pPr>
            <a:lvl7pPr indent="-342900" lvl="6" marL="3200400" algn="l">
              <a:spcBef>
                <a:spcPts val="360"/>
              </a:spcBef>
              <a:spcAft>
                <a:spcPts val="0"/>
              </a:spcAft>
              <a:buClr>
                <a:schemeClr val="dk1"/>
              </a:buClr>
              <a:buSzPts val="1800"/>
              <a:buFont typeface="Times New Roman"/>
              <a:buChar char="»"/>
              <a:defRPr sz="1800"/>
            </a:lvl7pPr>
            <a:lvl8pPr indent="-342900" lvl="7" marL="3657600" algn="l">
              <a:spcBef>
                <a:spcPts val="360"/>
              </a:spcBef>
              <a:spcAft>
                <a:spcPts val="0"/>
              </a:spcAft>
              <a:buClr>
                <a:schemeClr val="dk1"/>
              </a:buClr>
              <a:buSzPts val="1800"/>
              <a:buFont typeface="Times New Roman"/>
              <a:buChar char="»"/>
              <a:defRPr sz="1800"/>
            </a:lvl8pPr>
            <a:lvl9pPr indent="-342900" lvl="8" marL="4114800" algn="l">
              <a:spcBef>
                <a:spcPts val="360"/>
              </a:spcBef>
              <a:spcAft>
                <a:spcPts val="0"/>
              </a:spcAft>
              <a:buClr>
                <a:schemeClr val="dk1"/>
              </a:buClr>
              <a:buSzPts val="1800"/>
              <a:buFont typeface="Times New Roman"/>
              <a:buChar char="»"/>
              <a:defRPr sz="1800"/>
            </a:lvl9pPr>
          </a:lstStyle>
          <a:p/>
        </p:txBody>
      </p:sp>
      <p:sp>
        <p:nvSpPr>
          <p:cNvPr id="68" name="Google Shape;68;p10"/>
          <p:cNvSpPr txBox="1"/>
          <p:nvPr>
            <p:ph idx="2" type="body"/>
          </p:nvPr>
        </p:nvSpPr>
        <p:spPr>
          <a:xfrm>
            <a:off x="4648200" y="1981200"/>
            <a:ext cx="3810000" cy="4114800"/>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Times New Roman"/>
              <a:buChar char="•"/>
              <a:defRPr sz="2800"/>
            </a:lvl1pPr>
            <a:lvl2pPr indent="-381000" lvl="1" marL="914400" algn="l">
              <a:spcBef>
                <a:spcPts val="480"/>
              </a:spcBef>
              <a:spcAft>
                <a:spcPts val="0"/>
              </a:spcAft>
              <a:buClr>
                <a:schemeClr val="dk1"/>
              </a:buClr>
              <a:buSzPts val="2400"/>
              <a:buFont typeface="Times New Roman"/>
              <a:buChar char="–"/>
              <a:defRPr sz="2400"/>
            </a:lvl2pPr>
            <a:lvl3pPr indent="-355600" lvl="2" marL="1371600" algn="l">
              <a:spcBef>
                <a:spcPts val="400"/>
              </a:spcBef>
              <a:spcAft>
                <a:spcPts val="0"/>
              </a:spcAft>
              <a:buClr>
                <a:schemeClr val="dk1"/>
              </a:buClr>
              <a:buSzPts val="2000"/>
              <a:buFont typeface="Times New Roman"/>
              <a:buChar char="•"/>
              <a:defRPr sz="2000"/>
            </a:lvl3pPr>
            <a:lvl4pPr indent="-342900" lvl="3" marL="1828800" algn="l">
              <a:spcBef>
                <a:spcPts val="360"/>
              </a:spcBef>
              <a:spcAft>
                <a:spcPts val="0"/>
              </a:spcAft>
              <a:buClr>
                <a:schemeClr val="dk1"/>
              </a:buClr>
              <a:buSzPts val="1800"/>
              <a:buFont typeface="Times New Roman"/>
              <a:buChar char="–"/>
              <a:defRPr sz="1800"/>
            </a:lvl4pPr>
            <a:lvl5pPr indent="-342900" lvl="4" marL="2286000" algn="l">
              <a:spcBef>
                <a:spcPts val="360"/>
              </a:spcBef>
              <a:spcAft>
                <a:spcPts val="0"/>
              </a:spcAft>
              <a:buClr>
                <a:schemeClr val="dk1"/>
              </a:buClr>
              <a:buSzPts val="1800"/>
              <a:buFont typeface="Times New Roman"/>
              <a:buChar char="»"/>
              <a:defRPr sz="1800"/>
            </a:lvl5pPr>
            <a:lvl6pPr indent="-342900" lvl="5" marL="2743200" algn="l">
              <a:spcBef>
                <a:spcPts val="360"/>
              </a:spcBef>
              <a:spcAft>
                <a:spcPts val="0"/>
              </a:spcAft>
              <a:buClr>
                <a:schemeClr val="dk1"/>
              </a:buClr>
              <a:buSzPts val="1800"/>
              <a:buFont typeface="Times New Roman"/>
              <a:buChar char="»"/>
              <a:defRPr sz="1800"/>
            </a:lvl6pPr>
            <a:lvl7pPr indent="-342900" lvl="6" marL="3200400" algn="l">
              <a:spcBef>
                <a:spcPts val="360"/>
              </a:spcBef>
              <a:spcAft>
                <a:spcPts val="0"/>
              </a:spcAft>
              <a:buClr>
                <a:schemeClr val="dk1"/>
              </a:buClr>
              <a:buSzPts val="1800"/>
              <a:buFont typeface="Times New Roman"/>
              <a:buChar char="»"/>
              <a:defRPr sz="1800"/>
            </a:lvl7pPr>
            <a:lvl8pPr indent="-342900" lvl="7" marL="3657600" algn="l">
              <a:spcBef>
                <a:spcPts val="360"/>
              </a:spcBef>
              <a:spcAft>
                <a:spcPts val="0"/>
              </a:spcAft>
              <a:buClr>
                <a:schemeClr val="dk1"/>
              </a:buClr>
              <a:buSzPts val="1800"/>
              <a:buFont typeface="Times New Roman"/>
              <a:buChar char="»"/>
              <a:defRPr sz="1800"/>
            </a:lvl8pPr>
            <a:lvl9pPr indent="-342900" lvl="8" marL="4114800" algn="l">
              <a:spcBef>
                <a:spcPts val="360"/>
              </a:spcBef>
              <a:spcAft>
                <a:spcPts val="0"/>
              </a:spcAft>
              <a:buClr>
                <a:schemeClr val="dk1"/>
              </a:buClr>
              <a:buSzPts val="1800"/>
              <a:buFont typeface="Times New Roman"/>
              <a:buChar char="»"/>
              <a:defRPr sz="1800"/>
            </a:lvl9pPr>
          </a:lstStyle>
          <a:p/>
        </p:txBody>
      </p:sp>
      <p:sp>
        <p:nvSpPr>
          <p:cNvPr id="69" name="Google Shape;69;p10"/>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0"/>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0"/>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1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4" name="Google Shape;74;p1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chemeClr val="dk1"/>
              </a:buClr>
              <a:buSzPts val="2000"/>
              <a:buFont typeface="Times New Roman"/>
              <a:buNone/>
              <a:defRPr sz="2000"/>
            </a:lvl1pPr>
            <a:lvl2pPr indent="-228600" lvl="1" marL="914400" algn="l">
              <a:spcBef>
                <a:spcPts val="360"/>
              </a:spcBef>
              <a:spcAft>
                <a:spcPts val="0"/>
              </a:spcAft>
              <a:buClr>
                <a:schemeClr val="dk1"/>
              </a:buClr>
              <a:buSzPts val="1800"/>
              <a:buFont typeface="Times New Roman"/>
              <a:buNone/>
              <a:defRPr sz="1800"/>
            </a:lvl2pPr>
            <a:lvl3pPr indent="-228600" lvl="2" marL="1371600" algn="l">
              <a:spcBef>
                <a:spcPts val="320"/>
              </a:spcBef>
              <a:spcAft>
                <a:spcPts val="0"/>
              </a:spcAft>
              <a:buClr>
                <a:schemeClr val="dk1"/>
              </a:buClr>
              <a:buSzPts val="1600"/>
              <a:buFont typeface="Times New Roman"/>
              <a:buNone/>
              <a:defRPr sz="1600"/>
            </a:lvl3pPr>
            <a:lvl4pPr indent="-228600" lvl="3" marL="1828800" algn="l">
              <a:spcBef>
                <a:spcPts val="280"/>
              </a:spcBef>
              <a:spcAft>
                <a:spcPts val="0"/>
              </a:spcAft>
              <a:buClr>
                <a:schemeClr val="dk1"/>
              </a:buClr>
              <a:buSzPts val="1400"/>
              <a:buFont typeface="Times New Roman"/>
              <a:buNone/>
              <a:defRPr sz="1400"/>
            </a:lvl4pPr>
            <a:lvl5pPr indent="-228600" lvl="4" marL="2286000" algn="l">
              <a:spcBef>
                <a:spcPts val="280"/>
              </a:spcBef>
              <a:spcAft>
                <a:spcPts val="0"/>
              </a:spcAft>
              <a:buClr>
                <a:schemeClr val="dk1"/>
              </a:buClr>
              <a:buSzPts val="1400"/>
              <a:buFont typeface="Times New Roman"/>
              <a:buNone/>
              <a:defRPr sz="1400"/>
            </a:lvl5pPr>
            <a:lvl6pPr indent="-228600" lvl="5" marL="2743200" algn="l">
              <a:spcBef>
                <a:spcPts val="280"/>
              </a:spcBef>
              <a:spcAft>
                <a:spcPts val="0"/>
              </a:spcAft>
              <a:buClr>
                <a:schemeClr val="dk1"/>
              </a:buClr>
              <a:buSzPts val="1400"/>
              <a:buFont typeface="Times New Roman"/>
              <a:buNone/>
              <a:defRPr sz="1400"/>
            </a:lvl6pPr>
            <a:lvl7pPr indent="-228600" lvl="6" marL="3200400" algn="l">
              <a:spcBef>
                <a:spcPts val="280"/>
              </a:spcBef>
              <a:spcAft>
                <a:spcPts val="0"/>
              </a:spcAft>
              <a:buClr>
                <a:schemeClr val="dk1"/>
              </a:buClr>
              <a:buSzPts val="1400"/>
              <a:buFont typeface="Times New Roman"/>
              <a:buNone/>
              <a:defRPr sz="1400"/>
            </a:lvl7pPr>
            <a:lvl8pPr indent="-228600" lvl="7" marL="3657600" algn="l">
              <a:spcBef>
                <a:spcPts val="280"/>
              </a:spcBef>
              <a:spcAft>
                <a:spcPts val="0"/>
              </a:spcAft>
              <a:buClr>
                <a:schemeClr val="dk1"/>
              </a:buClr>
              <a:buSzPts val="1400"/>
              <a:buFont typeface="Times New Roman"/>
              <a:buNone/>
              <a:defRPr sz="1400"/>
            </a:lvl8pPr>
            <a:lvl9pPr indent="-228600" lvl="8" marL="4114800" algn="l">
              <a:spcBef>
                <a:spcPts val="280"/>
              </a:spcBef>
              <a:spcAft>
                <a:spcPts val="0"/>
              </a:spcAft>
              <a:buClr>
                <a:schemeClr val="dk1"/>
              </a:buClr>
              <a:buSzPts val="1400"/>
              <a:buFont typeface="Times New Roman"/>
              <a:buNone/>
              <a:defRPr sz="1400"/>
            </a:lvl9pPr>
          </a:lstStyle>
          <a:p/>
        </p:txBody>
      </p:sp>
      <p:sp>
        <p:nvSpPr>
          <p:cNvPr id="75" name="Google Shape;75;p11"/>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1"/>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1"/>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8" name="Shape 78"/>
        <p:cNvGrpSpPr/>
        <p:nvPr/>
      </p:nvGrpSpPr>
      <p:grpSpPr>
        <a:xfrm>
          <a:off x="0" y="0"/>
          <a:ext cx="0" cy="0"/>
          <a:chOff x="0" y="0"/>
          <a:chExt cx="0" cy="0"/>
        </a:xfrm>
      </p:grpSpPr>
      <p:sp>
        <p:nvSpPr>
          <p:cNvPr id="79" name="Google Shape;79;p1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0" name="Google Shape;80;p1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chemeClr val="dk1"/>
              </a:buClr>
              <a:buSzPts val="3200"/>
              <a:buFont typeface="Times New Roman"/>
              <a:buNone/>
              <a:defRPr/>
            </a:lvl1pPr>
            <a:lvl2pPr lvl="1" algn="ctr">
              <a:spcBef>
                <a:spcPts val="560"/>
              </a:spcBef>
              <a:spcAft>
                <a:spcPts val="0"/>
              </a:spcAft>
              <a:buClr>
                <a:schemeClr val="dk1"/>
              </a:buClr>
              <a:buSzPts val="2800"/>
              <a:buFont typeface="Times New Roman"/>
              <a:buNone/>
              <a:defRPr/>
            </a:lvl2pPr>
            <a:lvl3pPr lvl="2" algn="ctr">
              <a:spcBef>
                <a:spcPts val="480"/>
              </a:spcBef>
              <a:spcAft>
                <a:spcPts val="0"/>
              </a:spcAft>
              <a:buClr>
                <a:schemeClr val="dk1"/>
              </a:buClr>
              <a:buSzPts val="2400"/>
              <a:buFont typeface="Times New Roman"/>
              <a:buNone/>
              <a:defRPr/>
            </a:lvl3pPr>
            <a:lvl4pPr lvl="3" algn="ctr">
              <a:spcBef>
                <a:spcPts val="400"/>
              </a:spcBef>
              <a:spcAft>
                <a:spcPts val="0"/>
              </a:spcAft>
              <a:buClr>
                <a:schemeClr val="dk1"/>
              </a:buClr>
              <a:buSzPts val="2000"/>
              <a:buFont typeface="Times New Roman"/>
              <a:buNone/>
              <a:defRPr/>
            </a:lvl4pPr>
            <a:lvl5pPr lvl="4" algn="ctr">
              <a:spcBef>
                <a:spcPts val="400"/>
              </a:spcBef>
              <a:spcAft>
                <a:spcPts val="0"/>
              </a:spcAft>
              <a:buClr>
                <a:schemeClr val="dk1"/>
              </a:buClr>
              <a:buSzPts val="2000"/>
              <a:buFont typeface="Times New Roman"/>
              <a:buNone/>
              <a:defRPr/>
            </a:lvl5pPr>
            <a:lvl6pPr lvl="5" algn="ctr">
              <a:spcBef>
                <a:spcPts val="400"/>
              </a:spcBef>
              <a:spcAft>
                <a:spcPts val="0"/>
              </a:spcAft>
              <a:buClr>
                <a:schemeClr val="dk1"/>
              </a:buClr>
              <a:buSzPts val="2000"/>
              <a:buFont typeface="Times New Roman"/>
              <a:buNone/>
              <a:defRPr/>
            </a:lvl6pPr>
            <a:lvl7pPr lvl="6" algn="ctr">
              <a:spcBef>
                <a:spcPts val="400"/>
              </a:spcBef>
              <a:spcAft>
                <a:spcPts val="0"/>
              </a:spcAft>
              <a:buClr>
                <a:schemeClr val="dk1"/>
              </a:buClr>
              <a:buSzPts val="2000"/>
              <a:buFont typeface="Times New Roman"/>
              <a:buNone/>
              <a:defRPr/>
            </a:lvl7pPr>
            <a:lvl8pPr lvl="7" algn="ctr">
              <a:spcBef>
                <a:spcPts val="400"/>
              </a:spcBef>
              <a:spcAft>
                <a:spcPts val="0"/>
              </a:spcAft>
              <a:buClr>
                <a:schemeClr val="dk1"/>
              </a:buClr>
              <a:buSzPts val="2000"/>
              <a:buFont typeface="Times New Roman"/>
              <a:buNone/>
              <a:defRPr/>
            </a:lvl8pPr>
            <a:lvl9pPr lvl="8" algn="ctr">
              <a:spcBef>
                <a:spcPts val="400"/>
              </a:spcBef>
              <a:spcAft>
                <a:spcPts val="0"/>
              </a:spcAft>
              <a:buClr>
                <a:schemeClr val="dk1"/>
              </a:buClr>
              <a:buSzPts val="2000"/>
              <a:buFont typeface="Times New Roman"/>
              <a:buNone/>
              <a:defRPr/>
            </a:lvl9pPr>
          </a:lstStyle>
          <a:p/>
        </p:txBody>
      </p:sp>
      <p:sp>
        <p:nvSpPr>
          <p:cNvPr id="81" name="Google Shape;81;p12"/>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2"/>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2"/>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1pPr>
            <a:lvl2pPr lvl="1"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2pPr>
            <a:lvl3pPr lvl="2"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3pPr>
            <a:lvl4pPr lvl="3"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4pPr>
            <a:lvl5pPr lvl="4"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5pPr>
            <a:lvl6pPr lvl="5"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6pPr>
            <a:lvl7pPr lvl="6"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7pPr>
            <a:lvl8pPr lvl="7"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8pPr>
            <a:lvl9pPr lvl="8"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9pPr>
          </a:lstStyle>
          <a:p/>
        </p:txBody>
      </p:sp>
      <p:sp>
        <p:nvSpPr>
          <p:cNvPr id="11" name="Google Shape;11;p1"/>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Times New Roman"/>
              <a:buChar char="•"/>
              <a:defRPr b="0" i="0" sz="3200" u="none" cap="none" strike="noStrike">
                <a:solidFill>
                  <a:schemeClr val="dk1"/>
                </a:solidFill>
                <a:latin typeface="Times New Roman"/>
                <a:ea typeface="Times New Roman"/>
                <a:cs typeface="Times New Roman"/>
                <a:sym typeface="Times New Roman"/>
              </a:defRPr>
            </a:lvl1pPr>
            <a:lvl2pPr indent="-406400" lvl="1" marL="914400" marR="0" rtl="0" algn="l">
              <a:spcBef>
                <a:spcPts val="560"/>
              </a:spcBef>
              <a:spcAft>
                <a:spcPts val="0"/>
              </a:spcAft>
              <a:buClr>
                <a:schemeClr val="dk1"/>
              </a:buClr>
              <a:buSzPts val="2800"/>
              <a:buFont typeface="Times New Roman"/>
              <a:buChar char="–"/>
              <a:defRPr b="0" i="0" sz="2800" u="none" cap="none" strike="noStrike">
                <a:solidFill>
                  <a:schemeClr val="dk1"/>
                </a:solidFill>
                <a:latin typeface="Times New Roman"/>
                <a:ea typeface="Times New Roman"/>
                <a:cs typeface="Times New Roman"/>
                <a:sym typeface="Times New Roman"/>
              </a:defRPr>
            </a:lvl2pPr>
            <a:lvl3pPr indent="-381000" lvl="2" marL="1371600" marR="0" rtl="0" algn="l">
              <a:spcBef>
                <a:spcPts val="480"/>
              </a:spcBef>
              <a:spcAft>
                <a:spcPts val="0"/>
              </a:spcAft>
              <a:buClr>
                <a:schemeClr val="dk1"/>
              </a:buClr>
              <a:buSzPts val="2400"/>
              <a:buFont typeface="Times New Roman"/>
              <a:buChar char="•"/>
              <a:defRPr b="0" i="0" sz="2400" u="none" cap="none" strike="noStrike">
                <a:solidFill>
                  <a:schemeClr val="dk1"/>
                </a:solidFill>
                <a:latin typeface="Times New Roman"/>
                <a:ea typeface="Times New Roman"/>
                <a:cs typeface="Times New Roman"/>
                <a:sym typeface="Times New Roman"/>
              </a:defRPr>
            </a:lvl3pPr>
            <a:lvl4pPr indent="-355600" lvl="3" marL="1828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5pPr>
            <a:lvl6pPr indent="-355600" lvl="5" marL="27432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6pPr>
            <a:lvl7pPr indent="-355600" lvl="6" marL="32004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7pPr>
            <a:lvl8pPr indent="-355600" lvl="7" marL="36576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8pPr>
            <a:lvl9pPr indent="-355600" lvl="8" marL="4114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9pPr>
          </a:lstStyle>
          <a:p/>
        </p:txBody>
      </p:sp>
      <p:sp>
        <p:nvSpPr>
          <p:cNvPr id="12" name="Google Shape;12;p1"/>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3" name="Google Shape;13;p1"/>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4" name="Google Shape;14;p1"/>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3"/>
          <p:cNvSpPr txBox="1"/>
          <p:nvPr/>
        </p:nvSpPr>
        <p:spPr>
          <a:xfrm>
            <a:off x="576262" y="1066800"/>
            <a:ext cx="8186737" cy="2400300"/>
          </a:xfrm>
          <a:prstGeom prst="rect">
            <a:avLst/>
          </a:prstGeom>
          <a:noFill/>
          <a:ln>
            <a:noFill/>
          </a:ln>
        </p:spPr>
        <p:txBody>
          <a:bodyPr anchorCtr="0" anchor="t" bIns="45700" lIns="91425" spcFirstLastPara="1" rIns="91425" wrap="square" tIns="45700">
            <a:spAutoFit/>
          </a:bodyPr>
          <a:lstStyle/>
          <a:p>
            <a:pPr indent="-457200" lvl="0" marL="457200" marR="0" rtl="0" algn="ctr">
              <a:lnSpc>
                <a:spcPct val="100000"/>
              </a:lnSpc>
              <a:spcBef>
                <a:spcPts val="0"/>
              </a:spcBef>
              <a:spcAft>
                <a:spcPts val="0"/>
              </a:spcAft>
              <a:buClr>
                <a:schemeClr val="dk1"/>
              </a:buClr>
              <a:buSzPts val="6000"/>
              <a:buFont typeface="Times New Roman"/>
              <a:buNone/>
            </a:pPr>
            <a:r>
              <a:t/>
            </a:r>
            <a:endParaRPr b="1" i="0" sz="6000" u="none" cap="none" strike="noStrike">
              <a:solidFill>
                <a:schemeClr val="dk1"/>
              </a:solidFill>
              <a:latin typeface="Times New Roman"/>
              <a:ea typeface="Times New Roman"/>
              <a:cs typeface="Times New Roman"/>
              <a:sym typeface="Times New Roman"/>
            </a:endParaRPr>
          </a:p>
          <a:p>
            <a:pPr indent="-457200" lvl="0" marL="457200" marR="0" rtl="0" algn="ctr">
              <a:lnSpc>
                <a:spcPct val="100000"/>
              </a:lnSpc>
              <a:spcBef>
                <a:spcPts val="3000"/>
              </a:spcBef>
              <a:spcAft>
                <a:spcPts val="0"/>
              </a:spcAft>
              <a:buClr>
                <a:schemeClr val="dk1"/>
              </a:buClr>
              <a:buSzPts val="6000"/>
              <a:buFont typeface="Libre Baskerville"/>
              <a:buNone/>
            </a:pPr>
            <a:r>
              <a:rPr b="1" i="0" lang="en-US" sz="6000" u="none" cap="none" strike="noStrike">
                <a:solidFill>
                  <a:schemeClr val="dk1"/>
                </a:solidFill>
                <a:latin typeface="Libre Baskerville"/>
                <a:ea typeface="Libre Baskerville"/>
                <a:cs typeface="Libre Baskerville"/>
                <a:sym typeface="Libre Baskerville"/>
              </a:rPr>
              <a:t>SAMPLING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4"/>
          <p:cNvSpPr txBox="1"/>
          <p:nvPr>
            <p:ph type="title"/>
          </p:nvPr>
        </p:nvSpPr>
        <p:spPr>
          <a:xfrm>
            <a:off x="685800" y="1524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SAMPLING </a:t>
            </a:r>
            <a:endParaRPr/>
          </a:p>
        </p:txBody>
      </p:sp>
      <p:sp>
        <p:nvSpPr>
          <p:cNvPr id="95" name="Google Shape;95;p14"/>
          <p:cNvSpPr txBox="1"/>
          <p:nvPr>
            <p:ph idx="1" type="body"/>
          </p:nvPr>
        </p:nvSpPr>
        <p:spPr>
          <a:xfrm>
            <a:off x="304800" y="1447800"/>
            <a:ext cx="8610600" cy="4648200"/>
          </a:xfrm>
          <a:prstGeom prst="rect">
            <a:avLst/>
          </a:prstGeom>
          <a:noFill/>
          <a:ln>
            <a:noFill/>
          </a:ln>
        </p:spPr>
        <p:txBody>
          <a:bodyPr anchorCtr="0" anchor="t" bIns="45700" lIns="91425" spcFirstLastPara="1" rIns="91425" wrap="square" tIns="45700">
            <a:noAutofit/>
          </a:bodyPr>
          <a:lstStyle/>
          <a:p>
            <a:pPr indent="-457200" lvl="0" marL="457200" marR="0" rtl="0" algn="just">
              <a:lnSpc>
                <a:spcPct val="100000"/>
              </a:lnSpc>
              <a:spcBef>
                <a:spcPts val="0"/>
              </a:spcBef>
              <a:spcAft>
                <a:spcPts val="0"/>
              </a:spcAft>
              <a:buClr>
                <a:schemeClr val="dk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The process of obtaining information from a subset (sample) of a larger group (population)</a:t>
            </a:r>
            <a:endParaRPr/>
          </a:p>
          <a:p>
            <a:pPr indent="-457200" lvl="0" marL="457200" marR="0" rtl="0" algn="just">
              <a:lnSpc>
                <a:spcPct val="100000"/>
              </a:lnSpc>
              <a:spcBef>
                <a:spcPts val="1400"/>
              </a:spcBef>
              <a:spcAft>
                <a:spcPts val="0"/>
              </a:spcAft>
              <a:buClr>
                <a:schemeClr val="dk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The results for the sample are then used to make estimates of the larger group</a:t>
            </a:r>
            <a:endParaRPr/>
          </a:p>
          <a:p>
            <a:pPr indent="-457200" lvl="0" marL="457200" marR="0" rtl="0" algn="just">
              <a:lnSpc>
                <a:spcPct val="100000"/>
              </a:lnSpc>
              <a:spcBef>
                <a:spcPts val="1400"/>
              </a:spcBef>
              <a:spcAft>
                <a:spcPts val="0"/>
              </a:spcAft>
              <a:buClr>
                <a:schemeClr val="dk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Faster and cheaper than asking the entire population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5"/>
          <p:cNvSpPr txBox="1"/>
          <p:nvPr>
            <p:ph idx="1" type="body"/>
          </p:nvPr>
        </p:nvSpPr>
        <p:spPr>
          <a:xfrm>
            <a:off x="685800" y="1143000"/>
            <a:ext cx="7772400" cy="4953000"/>
          </a:xfrm>
          <a:prstGeom prst="rect">
            <a:avLst/>
          </a:prstGeom>
          <a:noFill/>
          <a:ln>
            <a:noFill/>
          </a:ln>
        </p:spPr>
        <p:txBody>
          <a:bodyPr anchorCtr="0" anchor="t" bIns="45700" lIns="91425" spcFirstLastPara="1" rIns="91425" wrap="square" tIns="45700">
            <a:noAutofit/>
          </a:bodyPr>
          <a:lstStyle/>
          <a:p>
            <a:pPr indent="-457200" lvl="0" marL="457200" marR="0" rtl="0" algn="just">
              <a:lnSpc>
                <a:spcPct val="100000"/>
              </a:lnSpc>
              <a:spcBef>
                <a:spcPts val="0"/>
              </a:spcBef>
              <a:spcAft>
                <a:spcPts val="0"/>
              </a:spcAft>
              <a:buClr>
                <a:schemeClr val="dk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Two keys</a:t>
            </a:r>
            <a:endParaRPr/>
          </a:p>
          <a:p>
            <a:pPr indent="-457200" lvl="1" marL="914400" marR="0" rtl="0" algn="just">
              <a:lnSpc>
                <a:spcPct val="100000"/>
              </a:lnSpc>
              <a:spcBef>
                <a:spcPts val="1400"/>
              </a:spcBef>
              <a:spcAft>
                <a:spcPts val="0"/>
              </a:spcAft>
              <a:buClr>
                <a:schemeClr val="dk1"/>
              </a:buClr>
              <a:buSzPts val="2800"/>
              <a:buFont typeface="Times New Roman"/>
              <a:buAutoNum type="arabicPeriod"/>
            </a:pPr>
            <a:r>
              <a:rPr b="0" i="0" lang="en-US" sz="2800" u="none" cap="none" strike="noStrike">
                <a:solidFill>
                  <a:schemeClr val="dk1"/>
                </a:solidFill>
                <a:latin typeface="Times New Roman"/>
                <a:ea typeface="Times New Roman"/>
                <a:cs typeface="Times New Roman"/>
                <a:sym typeface="Times New Roman"/>
              </a:rPr>
              <a:t>Selecting the right people</a:t>
            </a:r>
            <a:endParaRPr/>
          </a:p>
          <a:p>
            <a:pPr indent="-457200" lvl="2" marL="1371600" marR="0" rtl="0" algn="just">
              <a:lnSpc>
                <a:spcPct val="100000"/>
              </a:lnSpc>
              <a:spcBef>
                <a:spcPts val="1400"/>
              </a:spcBef>
              <a:spcAft>
                <a:spcPts val="0"/>
              </a:spcAft>
              <a:buClr>
                <a:srgbClr val="FF0000"/>
              </a:buClr>
              <a:buSzPts val="3360"/>
              <a:buFont typeface="Noto Sans Symbols"/>
              <a:buChar char="▪"/>
            </a:pPr>
            <a:r>
              <a:rPr b="0" i="0" lang="en-US" sz="2800" u="none" cap="none" strike="noStrike">
                <a:solidFill>
                  <a:schemeClr val="dk1"/>
                </a:solidFill>
                <a:latin typeface="Times New Roman"/>
                <a:ea typeface="Times New Roman"/>
                <a:cs typeface="Times New Roman"/>
                <a:sym typeface="Times New Roman"/>
              </a:rPr>
              <a:t>Have to be selected scientifically so that they are representative of the population</a:t>
            </a:r>
            <a:endParaRPr/>
          </a:p>
          <a:p>
            <a:pPr indent="-457200" lvl="1" marL="914400" marR="0" rtl="0" algn="just">
              <a:lnSpc>
                <a:spcPct val="100000"/>
              </a:lnSpc>
              <a:spcBef>
                <a:spcPts val="1400"/>
              </a:spcBef>
              <a:spcAft>
                <a:spcPts val="0"/>
              </a:spcAft>
              <a:buClr>
                <a:schemeClr val="dk1"/>
              </a:buClr>
              <a:buSzPts val="2800"/>
              <a:buFont typeface="Times New Roman"/>
              <a:buAutoNum type="arabicPeriod"/>
            </a:pPr>
            <a:r>
              <a:rPr b="0" i="0" lang="en-US" sz="2800" u="none" cap="none" strike="noStrike">
                <a:solidFill>
                  <a:schemeClr val="dk1"/>
                </a:solidFill>
                <a:latin typeface="Times New Roman"/>
                <a:ea typeface="Times New Roman"/>
                <a:cs typeface="Times New Roman"/>
                <a:sym typeface="Times New Roman"/>
              </a:rPr>
              <a:t>Selecting the right number of the right people</a:t>
            </a:r>
            <a:endParaRPr/>
          </a:p>
          <a:p>
            <a:pPr indent="-457200" lvl="2" marL="1371600" marR="0" rtl="0" algn="just">
              <a:lnSpc>
                <a:spcPct val="100000"/>
              </a:lnSpc>
              <a:spcBef>
                <a:spcPts val="1400"/>
              </a:spcBef>
              <a:spcAft>
                <a:spcPts val="0"/>
              </a:spcAft>
              <a:buClr>
                <a:srgbClr val="FF0000"/>
              </a:buClr>
              <a:buSzPts val="3360"/>
              <a:buFont typeface="Noto Sans Symbols"/>
              <a:buChar char="▪"/>
            </a:pPr>
            <a:r>
              <a:rPr b="0" i="0" lang="en-US" sz="2800" u="none" cap="none" strike="noStrike">
                <a:solidFill>
                  <a:schemeClr val="dk1"/>
                </a:solidFill>
                <a:latin typeface="Times New Roman"/>
                <a:ea typeface="Times New Roman"/>
                <a:cs typeface="Times New Roman"/>
                <a:sym typeface="Times New Roman"/>
              </a:rPr>
              <a:t>To minimize sampling errors I.e. choosing the wrong people by chance</a:t>
            </a:r>
            <a:endParaRPr/>
          </a:p>
          <a:p>
            <a:pPr indent="-165100" lvl="0" marL="342900" marR="0" rtl="0" algn="l">
              <a:spcBef>
                <a:spcPts val="560"/>
              </a:spcBef>
              <a:spcAft>
                <a:spcPts val="0"/>
              </a:spcAft>
              <a:buClr>
                <a:schemeClr val="dk1"/>
              </a:buClr>
              <a:buSzPts val="2800"/>
              <a:buFont typeface="Times New Roman"/>
              <a:buNone/>
            </a:pPr>
            <a:r>
              <a:t/>
            </a:r>
            <a:endParaRPr b="0" i="0" sz="2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6"/>
          <p:cNvSpPr txBox="1"/>
          <p:nvPr>
            <p:ph type="title"/>
          </p:nvPr>
        </p:nvSpPr>
        <p:spPr>
          <a:xfrm>
            <a:off x="685800" y="228600"/>
            <a:ext cx="7772400" cy="11430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400"/>
              <a:buFont typeface="Times New Roman"/>
              <a:buNone/>
            </a:pPr>
            <a:r>
              <a:rPr b="1" i="0" lang="en-US" sz="4400" u="none">
                <a:solidFill>
                  <a:schemeClr val="dk2"/>
                </a:solidFill>
                <a:latin typeface="Times New Roman"/>
                <a:ea typeface="Times New Roman"/>
                <a:cs typeface="Times New Roman"/>
                <a:sym typeface="Times New Roman"/>
              </a:rPr>
              <a:t>SAMPLING</a:t>
            </a:r>
            <a:endParaRPr/>
          </a:p>
        </p:txBody>
      </p:sp>
      <p:sp>
        <p:nvSpPr>
          <p:cNvPr id="107" name="Google Shape;107;p16"/>
          <p:cNvSpPr txBox="1"/>
          <p:nvPr>
            <p:ph idx="1" type="body"/>
          </p:nvPr>
        </p:nvSpPr>
        <p:spPr>
          <a:xfrm>
            <a:off x="304800" y="1828800"/>
            <a:ext cx="8534400" cy="4114800"/>
          </a:xfrm>
          <a:prstGeom prst="rect">
            <a:avLst/>
          </a:prstGeom>
          <a:noFill/>
          <a:ln>
            <a:noFill/>
          </a:ln>
        </p:spPr>
        <p:txBody>
          <a:bodyPr anchorCtr="0" anchor="t" bIns="46025" lIns="92075" spcFirstLastPara="1" rIns="92075" wrap="square" tIns="46025">
            <a:noAutofit/>
          </a:bodyPr>
          <a:lstStyle/>
          <a:p>
            <a:pPr indent="-342900" lvl="0" marL="342900" rtl="0" algn="just">
              <a:lnSpc>
                <a:spcPct val="100000"/>
              </a:lnSpc>
              <a:spcBef>
                <a:spcPts val="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Sample -- contacting a portion of the population (e.g., 10% or 25%)</a:t>
            </a:r>
            <a:endParaRPr/>
          </a:p>
          <a:p>
            <a:pPr indent="-285750" lvl="1" marL="742950" rtl="0" algn="just">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best with a very large population (n)</a:t>
            </a:r>
            <a:endParaRPr/>
          </a:p>
          <a:p>
            <a:pPr indent="-285750" lvl="1" marL="742950" rtl="0" algn="just">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easiest with a homogeneous population </a:t>
            </a:r>
            <a:endParaRPr/>
          </a:p>
          <a:p>
            <a:pPr indent="-342900" lvl="0" marL="342900" rtl="0" algn="just">
              <a:lnSpc>
                <a:spcPct val="100000"/>
              </a:lnSpc>
              <a:spcBef>
                <a:spcPts val="64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Census -- the entire population</a:t>
            </a:r>
            <a:endParaRPr/>
          </a:p>
          <a:p>
            <a:pPr indent="-285750" lvl="1" marL="742950" rtl="0" algn="just">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most useful is the population ("n") is small</a:t>
            </a:r>
            <a:endParaRPr/>
          </a:p>
          <a:p>
            <a:pPr indent="-285750" lvl="1" marL="742950" rtl="0" algn="just">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or the cost of making an error is high</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7"/>
          <p:cNvSpPr txBox="1"/>
          <p:nvPr/>
        </p:nvSpPr>
        <p:spPr>
          <a:xfrm>
            <a:off x="1409700" y="501650"/>
            <a:ext cx="6324600" cy="698500"/>
          </a:xfrm>
          <a:prstGeom prst="rect">
            <a:avLst/>
          </a:prstGeom>
          <a:noFill/>
          <a:ln>
            <a:noFill/>
          </a:ln>
          <a:effectLst>
            <a:outerShdw blurRad="63500">
              <a:schemeClr val="dk2"/>
            </a:outerShdw>
          </a:effectLst>
        </p:spPr>
        <p:txBody>
          <a:bodyPr anchorCtr="0" anchor="ctr" bIns="46025" lIns="92075" spcFirstLastPara="1" rIns="92075" wrap="square" tIns="46025">
            <a:noAutofit/>
          </a:bodyPr>
          <a:lstStyle/>
          <a:p>
            <a:pPr indent="0" lvl="0" marL="0" marR="0" rtl="0" algn="ctr">
              <a:lnSpc>
                <a:spcPct val="100000"/>
              </a:lnSpc>
              <a:spcBef>
                <a:spcPts val="0"/>
              </a:spcBef>
              <a:spcAft>
                <a:spcPts val="0"/>
              </a:spcAft>
              <a:buClr>
                <a:schemeClr val="dk2"/>
              </a:buClr>
              <a:buSzPts val="4800"/>
              <a:buFont typeface="Times New Roman"/>
              <a:buNone/>
            </a:pPr>
            <a:r>
              <a:rPr b="1" i="0" lang="en-US" sz="4800" u="none" cap="none" strike="noStrike">
                <a:solidFill>
                  <a:schemeClr val="dk2"/>
                </a:solidFill>
                <a:latin typeface="Times New Roman"/>
                <a:ea typeface="Times New Roman"/>
                <a:cs typeface="Times New Roman"/>
                <a:sym typeface="Times New Roman"/>
              </a:rPr>
              <a:t>Population Vs. Sample</a:t>
            </a:r>
            <a:endParaRPr/>
          </a:p>
        </p:txBody>
      </p:sp>
      <p:sp>
        <p:nvSpPr>
          <p:cNvPr id="114" name="Google Shape;114;p17"/>
          <p:cNvSpPr/>
          <p:nvPr/>
        </p:nvSpPr>
        <p:spPr>
          <a:xfrm>
            <a:off x="1301750" y="1835150"/>
            <a:ext cx="2959100" cy="1663700"/>
          </a:xfrm>
          <a:prstGeom prst="ellipse">
            <a:avLst/>
          </a:prstGeom>
          <a:noFill/>
          <a:ln cap="flat" cmpd="sng" w="127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5" name="Google Shape;115;p17"/>
          <p:cNvSpPr/>
          <p:nvPr/>
        </p:nvSpPr>
        <p:spPr>
          <a:xfrm>
            <a:off x="1987550" y="2520950"/>
            <a:ext cx="901700" cy="596900"/>
          </a:xfrm>
          <a:prstGeom prst="ellipse">
            <a:avLst/>
          </a:prstGeom>
          <a:noFill/>
          <a:ln cap="flat" cmpd="sng" w="127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6" name="Google Shape;116;p17"/>
          <p:cNvSpPr txBox="1"/>
          <p:nvPr/>
        </p:nvSpPr>
        <p:spPr>
          <a:xfrm>
            <a:off x="3641725" y="1584325"/>
            <a:ext cx="30289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dk2"/>
              </a:buClr>
              <a:buSzPts val="2400"/>
              <a:buFont typeface="Times New Roman"/>
              <a:buNone/>
            </a:pPr>
            <a:r>
              <a:rPr b="1" i="0" lang="en-US" sz="2400" u="none">
                <a:solidFill>
                  <a:schemeClr val="dk2"/>
                </a:solidFill>
                <a:latin typeface="Times New Roman"/>
                <a:ea typeface="Times New Roman"/>
                <a:cs typeface="Times New Roman"/>
                <a:sym typeface="Times New Roman"/>
              </a:rPr>
              <a:t>Population of Interest</a:t>
            </a:r>
            <a:endParaRPr/>
          </a:p>
        </p:txBody>
      </p:sp>
      <p:sp>
        <p:nvSpPr>
          <p:cNvPr id="117" name="Google Shape;117;p17"/>
          <p:cNvSpPr txBox="1"/>
          <p:nvPr/>
        </p:nvSpPr>
        <p:spPr>
          <a:xfrm>
            <a:off x="1355725" y="3870325"/>
            <a:ext cx="11493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dk2"/>
              </a:buClr>
              <a:buSzPts val="2400"/>
              <a:buFont typeface="Times New Roman"/>
              <a:buNone/>
            </a:pPr>
            <a:r>
              <a:rPr b="1" i="0" lang="en-US" sz="2400" u="none">
                <a:solidFill>
                  <a:schemeClr val="dk2"/>
                </a:solidFill>
                <a:latin typeface="Times New Roman"/>
                <a:ea typeface="Times New Roman"/>
                <a:cs typeface="Times New Roman"/>
                <a:sym typeface="Times New Roman"/>
              </a:rPr>
              <a:t>Sample</a:t>
            </a:r>
            <a:endParaRPr/>
          </a:p>
        </p:txBody>
      </p:sp>
      <p:cxnSp>
        <p:nvCxnSpPr>
          <p:cNvPr id="118" name="Google Shape;118;p17"/>
          <p:cNvCxnSpPr/>
          <p:nvPr/>
        </p:nvCxnSpPr>
        <p:spPr>
          <a:xfrm flipH="1">
            <a:off x="1981200" y="2895600"/>
            <a:ext cx="304800" cy="914400"/>
          </a:xfrm>
          <a:prstGeom prst="straightConnector1">
            <a:avLst/>
          </a:prstGeom>
          <a:noFill/>
          <a:ln cap="flat" cmpd="sng" w="76200">
            <a:solidFill>
              <a:schemeClr val="dk2"/>
            </a:solidFill>
            <a:prstDash val="solid"/>
            <a:miter lim="800000"/>
            <a:headEnd len="med" w="med" type="none"/>
            <a:tailEnd len="med" w="med" type="stealth"/>
          </a:ln>
        </p:spPr>
      </p:cxnSp>
      <p:sp>
        <p:nvSpPr>
          <p:cNvPr id="119" name="Google Shape;119;p17"/>
          <p:cNvSpPr txBox="1"/>
          <p:nvPr/>
        </p:nvSpPr>
        <p:spPr>
          <a:xfrm>
            <a:off x="4327525" y="3413125"/>
            <a:ext cx="3976687" cy="1552575"/>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dk2"/>
              </a:buClr>
              <a:buSzPts val="2400"/>
              <a:buFont typeface="Times New Roman"/>
              <a:buNone/>
            </a:pPr>
            <a:r>
              <a:rPr b="1" i="0" lang="en-US" sz="2400" u="none">
                <a:solidFill>
                  <a:schemeClr val="dk2"/>
                </a:solidFill>
                <a:latin typeface="Times New Roman"/>
                <a:ea typeface="Times New Roman"/>
                <a:cs typeface="Times New Roman"/>
                <a:sym typeface="Times New Roman"/>
              </a:rPr>
              <a:t>Population		Sample</a:t>
            </a:r>
            <a:endParaRPr/>
          </a:p>
          <a:p>
            <a:pPr indent="0" lvl="0" marL="0" marR="0" rtl="0" algn="l">
              <a:lnSpc>
                <a:spcPct val="100000"/>
              </a:lnSpc>
              <a:spcBef>
                <a:spcPts val="0"/>
              </a:spcBef>
              <a:spcAft>
                <a:spcPts val="0"/>
              </a:spcAft>
              <a:buClr>
                <a:schemeClr val="dk2"/>
              </a:buClr>
              <a:buSzPts val="2400"/>
              <a:buFont typeface="Times New Roman"/>
              <a:buNone/>
            </a:pPr>
            <a:br>
              <a:rPr b="1" i="0" lang="en-US" sz="2400" u="none">
                <a:solidFill>
                  <a:schemeClr val="dk2"/>
                </a:solidFill>
                <a:latin typeface="Times New Roman"/>
                <a:ea typeface="Times New Roman"/>
                <a:cs typeface="Times New Roman"/>
                <a:sym typeface="Times New Roman"/>
              </a:rPr>
            </a:br>
            <a:endParaRPr/>
          </a:p>
          <a:p>
            <a:pPr indent="0" lvl="0" marL="0" marR="0" rtl="0" algn="l">
              <a:lnSpc>
                <a:spcPct val="100000"/>
              </a:lnSpc>
              <a:spcBef>
                <a:spcPts val="0"/>
              </a:spcBef>
              <a:spcAft>
                <a:spcPts val="0"/>
              </a:spcAft>
              <a:buClr>
                <a:schemeClr val="dk2"/>
              </a:buClr>
              <a:buSzPts val="2400"/>
              <a:buFont typeface="Times New Roman"/>
              <a:buNone/>
            </a:pPr>
            <a:r>
              <a:rPr b="1" i="0" lang="en-US" sz="2400" u="none">
                <a:solidFill>
                  <a:schemeClr val="dk2"/>
                </a:solidFill>
                <a:latin typeface="Times New Roman"/>
                <a:ea typeface="Times New Roman"/>
                <a:cs typeface="Times New Roman"/>
                <a:sym typeface="Times New Roman"/>
              </a:rPr>
              <a:t>Parameter		Statistic</a:t>
            </a:r>
            <a:endParaRPr/>
          </a:p>
        </p:txBody>
      </p:sp>
      <p:cxnSp>
        <p:nvCxnSpPr>
          <p:cNvPr id="120" name="Google Shape;120;p17"/>
          <p:cNvCxnSpPr/>
          <p:nvPr/>
        </p:nvCxnSpPr>
        <p:spPr>
          <a:xfrm>
            <a:off x="5791200" y="3657600"/>
            <a:ext cx="1219200" cy="0"/>
          </a:xfrm>
          <a:prstGeom prst="straightConnector1">
            <a:avLst/>
          </a:prstGeom>
          <a:noFill/>
          <a:ln cap="flat" cmpd="sng" w="50800">
            <a:solidFill>
              <a:schemeClr val="dk2"/>
            </a:solidFill>
            <a:prstDash val="solid"/>
            <a:miter lim="800000"/>
            <a:headEnd len="med" w="med" type="stealth"/>
            <a:tailEnd len="med" w="med" type="none"/>
          </a:ln>
        </p:spPr>
      </p:cxnSp>
      <p:cxnSp>
        <p:nvCxnSpPr>
          <p:cNvPr id="121" name="Google Shape;121;p17"/>
          <p:cNvCxnSpPr/>
          <p:nvPr/>
        </p:nvCxnSpPr>
        <p:spPr>
          <a:xfrm>
            <a:off x="5791200" y="4724400"/>
            <a:ext cx="1219200" cy="0"/>
          </a:xfrm>
          <a:prstGeom prst="straightConnector1">
            <a:avLst/>
          </a:prstGeom>
          <a:noFill/>
          <a:ln cap="flat" cmpd="sng" w="50800">
            <a:solidFill>
              <a:schemeClr val="dk2"/>
            </a:solidFill>
            <a:prstDash val="solid"/>
            <a:miter lim="800000"/>
            <a:headEnd len="med" w="med" type="stealth"/>
            <a:tailEnd len="med" w="med" type="none"/>
          </a:ln>
        </p:spPr>
      </p:cxnSp>
      <p:cxnSp>
        <p:nvCxnSpPr>
          <p:cNvPr id="122" name="Google Shape;122;p17"/>
          <p:cNvCxnSpPr/>
          <p:nvPr/>
        </p:nvCxnSpPr>
        <p:spPr>
          <a:xfrm>
            <a:off x="5029200" y="3810000"/>
            <a:ext cx="0" cy="838200"/>
          </a:xfrm>
          <a:prstGeom prst="straightConnector1">
            <a:avLst/>
          </a:prstGeom>
          <a:noFill/>
          <a:ln cap="flat" cmpd="sng" w="76200">
            <a:solidFill>
              <a:schemeClr val="dk2"/>
            </a:solidFill>
            <a:prstDash val="solid"/>
            <a:miter lim="800000"/>
            <a:headEnd len="med" w="med" type="none"/>
            <a:tailEnd len="med" w="med" type="stealth"/>
          </a:ln>
        </p:spPr>
      </p:cxnSp>
      <p:cxnSp>
        <p:nvCxnSpPr>
          <p:cNvPr id="123" name="Google Shape;123;p17"/>
          <p:cNvCxnSpPr/>
          <p:nvPr/>
        </p:nvCxnSpPr>
        <p:spPr>
          <a:xfrm>
            <a:off x="7543800" y="3810000"/>
            <a:ext cx="0" cy="838200"/>
          </a:xfrm>
          <a:prstGeom prst="straightConnector1">
            <a:avLst/>
          </a:prstGeom>
          <a:noFill/>
          <a:ln cap="flat" cmpd="sng" w="76200">
            <a:solidFill>
              <a:schemeClr val="dk2"/>
            </a:solidFill>
            <a:prstDash val="solid"/>
            <a:miter lim="800000"/>
            <a:headEnd len="med" w="med" type="none"/>
            <a:tailEnd len="med" w="med" type="stealth"/>
          </a:ln>
        </p:spPr>
      </p:cxnSp>
      <p:sp>
        <p:nvSpPr>
          <p:cNvPr id="124" name="Google Shape;124;p17"/>
          <p:cNvSpPr txBox="1"/>
          <p:nvPr/>
        </p:nvSpPr>
        <p:spPr>
          <a:xfrm>
            <a:off x="381000" y="5181600"/>
            <a:ext cx="8153400" cy="954087"/>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dk2"/>
              </a:buClr>
              <a:buSzPts val="2800"/>
              <a:buFont typeface="Times New Roman"/>
              <a:buNone/>
            </a:pPr>
            <a:r>
              <a:rPr b="0" i="0" lang="en-US" sz="2800" u="none">
                <a:solidFill>
                  <a:schemeClr val="dk2"/>
                </a:solidFill>
                <a:latin typeface="Times New Roman"/>
                <a:ea typeface="Times New Roman"/>
                <a:cs typeface="Times New Roman"/>
                <a:sym typeface="Times New Roman"/>
              </a:rPr>
              <a:t>We measure the sample using statistics in order to draw</a:t>
            </a:r>
            <a:endParaRPr/>
          </a:p>
          <a:p>
            <a:pPr indent="0" lvl="0" marL="0" marR="0" rtl="0" algn="l">
              <a:lnSpc>
                <a:spcPct val="100000"/>
              </a:lnSpc>
              <a:spcBef>
                <a:spcPts val="0"/>
              </a:spcBef>
              <a:spcAft>
                <a:spcPts val="0"/>
              </a:spcAft>
              <a:buClr>
                <a:schemeClr val="dk2"/>
              </a:buClr>
              <a:buSzPts val="2800"/>
              <a:buFont typeface="Times New Roman"/>
              <a:buNone/>
            </a:pPr>
            <a:r>
              <a:rPr b="0" i="0" lang="en-US" sz="2800" u="none">
                <a:solidFill>
                  <a:schemeClr val="dk2"/>
                </a:solidFill>
                <a:latin typeface="Times New Roman"/>
                <a:ea typeface="Times New Roman"/>
                <a:cs typeface="Times New Roman"/>
                <a:sym typeface="Times New Roman"/>
              </a:rPr>
              <a:t>inferences about the population and its parameters.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8"/>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…this (bad)…</a:t>
            </a:r>
            <a:endParaRPr/>
          </a:p>
        </p:txBody>
      </p:sp>
      <p:sp>
        <p:nvSpPr>
          <p:cNvPr id="131" name="Google Shape;131;p18"/>
          <p:cNvSpPr/>
          <p:nvPr/>
        </p:nvSpPr>
        <p:spPr>
          <a:xfrm>
            <a:off x="755650" y="1700212"/>
            <a:ext cx="6589712" cy="4319587"/>
          </a:xfrm>
          <a:prstGeom prst="ellipse">
            <a:avLst/>
          </a:prstGeom>
          <a:solidFill>
            <a:srgbClr val="FF00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800"/>
              <a:buFont typeface="Times New Roman"/>
              <a:buNone/>
            </a:pPr>
            <a:r>
              <a:rPr b="1" i="0" lang="en-US" sz="4800" u="none">
                <a:solidFill>
                  <a:schemeClr val="dk1"/>
                </a:solidFill>
                <a:latin typeface="Times New Roman"/>
                <a:ea typeface="Times New Roman"/>
                <a:cs typeface="Times New Roman"/>
                <a:sym typeface="Times New Roman"/>
              </a:rPr>
              <a:t>Population</a:t>
            </a:r>
            <a:endParaRPr/>
          </a:p>
        </p:txBody>
      </p:sp>
      <p:sp>
        <p:nvSpPr>
          <p:cNvPr id="132" name="Google Shape;132;p18"/>
          <p:cNvSpPr/>
          <p:nvPr/>
        </p:nvSpPr>
        <p:spPr>
          <a:xfrm>
            <a:off x="6156325" y="2060575"/>
            <a:ext cx="2266950" cy="2376487"/>
          </a:xfrm>
          <a:prstGeom prst="ellipse">
            <a:avLst/>
          </a:prstGeom>
          <a:solidFill>
            <a:srgbClr val="FF00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imes New Roman"/>
              <a:buNone/>
            </a:pPr>
            <a:r>
              <a:rPr b="1" i="0" lang="en-US" sz="2800" u="none">
                <a:solidFill>
                  <a:schemeClr val="dk1"/>
                </a:solidFill>
                <a:latin typeface="Times New Roman"/>
                <a:ea typeface="Times New Roman"/>
                <a:cs typeface="Times New Roman"/>
                <a:sym typeface="Times New Roman"/>
              </a:rPr>
              <a:t>Sample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9"/>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…or this (VERY bad)…</a:t>
            </a:r>
            <a:endParaRPr/>
          </a:p>
        </p:txBody>
      </p:sp>
      <p:sp>
        <p:nvSpPr>
          <p:cNvPr id="139" name="Google Shape;139;p19"/>
          <p:cNvSpPr/>
          <p:nvPr/>
        </p:nvSpPr>
        <p:spPr>
          <a:xfrm>
            <a:off x="250825" y="1700212"/>
            <a:ext cx="6589712" cy="4319587"/>
          </a:xfrm>
          <a:prstGeom prst="ellipse">
            <a:avLst/>
          </a:prstGeom>
          <a:solidFill>
            <a:srgbClr val="FF00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800"/>
              <a:buFont typeface="Times New Roman"/>
              <a:buNone/>
            </a:pPr>
            <a:r>
              <a:rPr b="1" i="0" lang="en-US" sz="4800" u="none">
                <a:solidFill>
                  <a:schemeClr val="dk1"/>
                </a:solidFill>
                <a:latin typeface="Times New Roman"/>
                <a:ea typeface="Times New Roman"/>
                <a:cs typeface="Times New Roman"/>
                <a:sym typeface="Times New Roman"/>
              </a:rPr>
              <a:t>Population</a:t>
            </a:r>
            <a:endParaRPr/>
          </a:p>
        </p:txBody>
      </p:sp>
      <p:sp>
        <p:nvSpPr>
          <p:cNvPr id="140" name="Google Shape;140;p19"/>
          <p:cNvSpPr/>
          <p:nvPr/>
        </p:nvSpPr>
        <p:spPr>
          <a:xfrm>
            <a:off x="6877050" y="1484312"/>
            <a:ext cx="2266950" cy="2376487"/>
          </a:xfrm>
          <a:prstGeom prst="ellipse">
            <a:avLst/>
          </a:prstGeom>
          <a:solidFill>
            <a:srgbClr val="FF00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imes New Roman"/>
              <a:buNone/>
            </a:pPr>
            <a:r>
              <a:rPr b="1" i="0" lang="en-US" sz="2800" u="none">
                <a:solidFill>
                  <a:schemeClr val="dk1"/>
                </a:solidFill>
                <a:latin typeface="Times New Roman"/>
                <a:ea typeface="Times New Roman"/>
                <a:cs typeface="Times New Roman"/>
                <a:sym typeface="Times New Roman"/>
              </a:rPr>
              <a:t>Sample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0"/>
          <p:cNvSpPr txBox="1"/>
          <p:nvPr/>
        </p:nvSpPr>
        <p:spPr>
          <a:xfrm>
            <a:off x="228600" y="1187450"/>
            <a:ext cx="8763000" cy="483235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0" i="1" lang="en-US" sz="2800" u="none">
                <a:solidFill>
                  <a:schemeClr val="dk1"/>
                </a:solidFill>
                <a:latin typeface="Times New Roman"/>
                <a:ea typeface="Times New Roman"/>
                <a:cs typeface="Times New Roman"/>
                <a:sym typeface="Times New Roman"/>
              </a:rPr>
              <a:t>Population</a:t>
            </a:r>
            <a:endParaRPr/>
          </a:p>
          <a:p>
            <a:pPr indent="-177800" lvl="1" marL="457200" marR="0" rtl="0" algn="just">
              <a:lnSpc>
                <a:spcPct val="100000"/>
              </a:lnSpc>
              <a:spcBef>
                <a:spcPts val="0"/>
              </a:spcBef>
              <a:spcAft>
                <a:spcPts val="0"/>
              </a:spcAft>
              <a:buClr>
                <a:schemeClr val="dk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The entire group of people of interest from whom the researcher needs to obtain information.</a:t>
            </a:r>
            <a:endParaRPr/>
          </a:p>
          <a:p>
            <a:pPr indent="-177800" lvl="1" marL="457200" marR="0" rtl="0" algn="just">
              <a:lnSpc>
                <a:spcPct val="100000"/>
              </a:lnSpc>
              <a:spcBef>
                <a:spcPts val="0"/>
              </a:spcBef>
              <a:spcAft>
                <a:spcPts val="0"/>
              </a:spcAft>
              <a:buClr>
                <a:schemeClr val="dk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All the units in the field of inquiry constitute a ‘universe’ or ‘population’.</a:t>
            </a:r>
            <a:endParaRPr/>
          </a:p>
          <a:p>
            <a:pPr indent="0" lvl="1" marL="457200" marR="0" rtl="0" algn="just">
              <a:lnSpc>
                <a:spcPct val="100000"/>
              </a:lnSpc>
              <a:spcBef>
                <a:spcPts val="0"/>
              </a:spcBef>
              <a:spcAft>
                <a:spcPts val="0"/>
              </a:spcAft>
              <a:buClr>
                <a:schemeClr val="dk1"/>
              </a:buClr>
              <a:buSzPts val="2800"/>
              <a:buFont typeface="Times New Roman"/>
              <a:buNone/>
            </a:pPr>
            <a:r>
              <a:t/>
            </a:r>
            <a:endParaRPr b="0" i="0" sz="28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dk1"/>
              </a:buClr>
              <a:buSzPts val="2800"/>
              <a:buFont typeface="Times New Roman"/>
              <a:buNone/>
            </a:pPr>
            <a:r>
              <a:rPr b="0" i="1" lang="en-US" sz="2800" u="none">
                <a:solidFill>
                  <a:schemeClr val="dk1"/>
                </a:solidFill>
                <a:latin typeface="Times New Roman"/>
                <a:ea typeface="Times New Roman"/>
                <a:cs typeface="Times New Roman"/>
                <a:sym typeface="Times New Roman"/>
              </a:rPr>
              <a:t>Sampling unit</a:t>
            </a:r>
            <a:endParaRPr/>
          </a:p>
          <a:p>
            <a:pPr indent="-177800" lvl="1" marL="457200" marR="0" rtl="0" algn="just">
              <a:lnSpc>
                <a:spcPct val="100000"/>
              </a:lnSpc>
              <a:spcBef>
                <a:spcPts val="0"/>
              </a:spcBef>
              <a:spcAft>
                <a:spcPts val="0"/>
              </a:spcAft>
              <a:buClr>
                <a:schemeClr val="dk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one unit from a population</a:t>
            </a:r>
            <a:endParaRPr/>
          </a:p>
          <a:p>
            <a:pPr indent="-177800" lvl="1" marL="457200" marR="0" rtl="0" algn="just">
              <a:lnSpc>
                <a:spcPct val="100000"/>
              </a:lnSpc>
              <a:spcBef>
                <a:spcPts val="0"/>
              </a:spcBef>
              <a:spcAft>
                <a:spcPts val="0"/>
              </a:spcAft>
              <a:buClr>
                <a:schemeClr val="dk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Family, school, state, district. Sampling unit may be geographical such as family, institution etc.</a:t>
            </a:r>
            <a:endParaRPr/>
          </a:p>
          <a:p>
            <a:pPr indent="0" lvl="0" marL="0" marR="0" rtl="0" algn="l">
              <a:lnSpc>
                <a:spcPct val="100000"/>
              </a:lnSpc>
              <a:spcBef>
                <a:spcPts val="0"/>
              </a:spcBef>
              <a:spcAft>
                <a:spcPts val="0"/>
              </a:spcAft>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147" name="Google Shape;147;p20"/>
          <p:cNvSpPr txBox="1"/>
          <p:nvPr/>
        </p:nvSpPr>
        <p:spPr>
          <a:xfrm>
            <a:off x="457200" y="228600"/>
            <a:ext cx="7696200" cy="762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Terminology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0" st="0"/>
                                            </p:txEl>
                                          </p:spTgt>
                                        </p:tgtEl>
                                        <p:attrNameLst>
                                          <p:attrName>style.visibility</p:attrName>
                                        </p:attrNameLst>
                                      </p:cBhvr>
                                      <p:to>
                                        <p:strVal val="visible"/>
                                      </p:to>
                                    </p:set>
                                    <p:animEffect filter="fade" transition="in">
                                      <p:cBhvr>
                                        <p:cTn dur="500"/>
                                        <p:tgtEl>
                                          <p:spTgt spid="14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1" st="1"/>
                                            </p:txEl>
                                          </p:spTgt>
                                        </p:tgtEl>
                                        <p:attrNameLst>
                                          <p:attrName>style.visibility</p:attrName>
                                        </p:attrNameLst>
                                      </p:cBhvr>
                                      <p:to>
                                        <p:strVal val="visible"/>
                                      </p:to>
                                    </p:set>
                                    <p:animEffect filter="fade" transition="in">
                                      <p:cBhvr>
                                        <p:cTn dur="500"/>
                                        <p:tgtEl>
                                          <p:spTgt spid="14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2" st="2"/>
                                            </p:txEl>
                                          </p:spTgt>
                                        </p:tgtEl>
                                        <p:attrNameLst>
                                          <p:attrName>style.visibility</p:attrName>
                                        </p:attrNameLst>
                                      </p:cBhvr>
                                      <p:to>
                                        <p:strVal val="visible"/>
                                      </p:to>
                                    </p:set>
                                    <p:animEffect filter="fade" transition="in">
                                      <p:cBhvr>
                                        <p:cTn dur="500"/>
                                        <p:tgtEl>
                                          <p:spTgt spid="14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3" st="3"/>
                                            </p:txEl>
                                          </p:spTgt>
                                        </p:tgtEl>
                                        <p:attrNameLst>
                                          <p:attrName>style.visibility</p:attrName>
                                        </p:attrNameLst>
                                      </p:cBhvr>
                                      <p:to>
                                        <p:strVal val="visible"/>
                                      </p:to>
                                    </p:set>
                                    <p:animEffect filter="fade" transition="in">
                                      <p:cBhvr>
                                        <p:cTn dur="500"/>
                                        <p:tgtEl>
                                          <p:spTgt spid="14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4" st="4"/>
                                            </p:txEl>
                                          </p:spTgt>
                                        </p:tgtEl>
                                        <p:attrNameLst>
                                          <p:attrName>style.visibility</p:attrName>
                                        </p:attrNameLst>
                                      </p:cBhvr>
                                      <p:to>
                                        <p:strVal val="visible"/>
                                      </p:to>
                                    </p:set>
                                    <p:animEffect filter="fade" transition="in">
                                      <p:cBhvr>
                                        <p:cTn dur="500"/>
                                        <p:tgtEl>
                                          <p:spTgt spid="14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5" st="5"/>
                                            </p:txEl>
                                          </p:spTgt>
                                        </p:tgtEl>
                                        <p:attrNameLst>
                                          <p:attrName>style.visibility</p:attrName>
                                        </p:attrNameLst>
                                      </p:cBhvr>
                                      <p:to>
                                        <p:strVal val="visible"/>
                                      </p:to>
                                    </p:set>
                                    <p:animEffect filter="fade" transition="in">
                                      <p:cBhvr>
                                        <p:cTn dur="500"/>
                                        <p:tgtEl>
                                          <p:spTgt spid="14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6" st="6"/>
                                            </p:txEl>
                                          </p:spTgt>
                                        </p:tgtEl>
                                        <p:attrNameLst>
                                          <p:attrName>style.visibility</p:attrName>
                                        </p:attrNameLst>
                                      </p:cBhvr>
                                      <p:to>
                                        <p:strVal val="visible"/>
                                      </p:to>
                                    </p:set>
                                    <p:animEffect filter="fade" transition="in">
                                      <p:cBhvr>
                                        <p:cTn dur="500"/>
                                        <p:tgtEl>
                                          <p:spTgt spid="14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7" st="7"/>
                                            </p:txEl>
                                          </p:spTgt>
                                        </p:tgtEl>
                                        <p:attrNameLst>
                                          <p:attrName>style.visibility</p:attrName>
                                        </p:attrNameLst>
                                      </p:cBhvr>
                                      <p:to>
                                        <p:strVal val="visible"/>
                                      </p:to>
                                    </p:set>
                                    <p:animEffect filter="fade" transition="in">
                                      <p:cBhvr>
                                        <p:cTn dur="500"/>
                                        <p:tgtEl>
                                          <p:spTgt spid="146">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1"/>
          <p:cNvSpPr txBox="1"/>
          <p:nvPr>
            <p:ph idx="1" type="body"/>
          </p:nvPr>
        </p:nvSpPr>
        <p:spPr>
          <a:xfrm>
            <a:off x="457200" y="762000"/>
            <a:ext cx="8305800" cy="6019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Times New Roman"/>
              <a:buNone/>
            </a:pPr>
            <a:r>
              <a:rPr b="0" i="1" lang="en-US" sz="2800" u="none">
                <a:solidFill>
                  <a:schemeClr val="dk1"/>
                </a:solidFill>
                <a:latin typeface="Times New Roman"/>
                <a:ea typeface="Times New Roman"/>
                <a:cs typeface="Times New Roman"/>
                <a:sym typeface="Times New Roman"/>
              </a:rPr>
              <a:t>Sampling Frame</a:t>
            </a:r>
            <a:endParaRPr/>
          </a:p>
          <a:p>
            <a:pPr indent="-285750" lvl="1" marL="742950" marR="0" rtl="0" algn="l">
              <a:lnSpc>
                <a:spcPct val="100000"/>
              </a:lnSpc>
              <a:spcBef>
                <a:spcPts val="560"/>
              </a:spcBef>
              <a:spcAft>
                <a:spcPts val="0"/>
              </a:spcAft>
              <a:buClr>
                <a:schemeClr val="dk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Listing of population from which a sample is chosen</a:t>
            </a:r>
            <a:endParaRPr/>
          </a:p>
          <a:p>
            <a:pPr indent="-285750" lvl="1" marL="742950" marR="0" rtl="0" algn="l">
              <a:lnSpc>
                <a:spcPct val="120000"/>
              </a:lnSpc>
              <a:spcBef>
                <a:spcPts val="560"/>
              </a:spcBef>
              <a:spcAft>
                <a:spcPts val="0"/>
              </a:spcAft>
              <a:buClr>
                <a:schemeClr val="dk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Obtaining a “list” of population (how will you reach sample)</a:t>
            </a:r>
            <a:endParaRPr/>
          </a:p>
          <a:p>
            <a:pPr indent="-285750" lvl="1" marL="742950" marR="0" rtl="0" algn="l">
              <a:lnSpc>
                <a:spcPct val="100000"/>
              </a:lnSpc>
              <a:spcBef>
                <a:spcPts val="420"/>
              </a:spcBef>
              <a:spcAft>
                <a:spcPts val="0"/>
              </a:spcAft>
              <a:buClr>
                <a:srgbClr val="FF0000"/>
              </a:buClr>
              <a:buSzPts val="3360"/>
              <a:buFont typeface="Noto Sans Symbols"/>
              <a:buChar char="▪"/>
            </a:pPr>
            <a:r>
              <a:rPr b="0" i="0" lang="en-US" sz="2800" u="none" cap="none" strike="noStrike">
                <a:solidFill>
                  <a:schemeClr val="dk1"/>
                </a:solidFill>
                <a:latin typeface="Times New Roman"/>
                <a:ea typeface="Times New Roman"/>
                <a:cs typeface="Times New Roman"/>
                <a:sym typeface="Times New Roman"/>
              </a:rPr>
              <a:t>Students who eat at McDonalds?  </a:t>
            </a:r>
            <a:endParaRPr/>
          </a:p>
          <a:p>
            <a:pPr indent="-285750" lvl="1" marL="742950" marR="0" rtl="0" algn="l">
              <a:lnSpc>
                <a:spcPct val="100000"/>
              </a:lnSpc>
              <a:spcBef>
                <a:spcPts val="420"/>
              </a:spcBef>
              <a:spcAft>
                <a:spcPts val="0"/>
              </a:spcAft>
              <a:buClr>
                <a:srgbClr val="FF0000"/>
              </a:buClr>
              <a:buSzPts val="3360"/>
              <a:buFont typeface="Noto Sans Symbols"/>
              <a:buChar char="▪"/>
            </a:pPr>
            <a:r>
              <a:rPr b="0" i="0" lang="en-US" sz="2800" u="none" cap="none" strike="noStrike">
                <a:solidFill>
                  <a:schemeClr val="dk1"/>
                </a:solidFill>
                <a:latin typeface="Times New Roman"/>
                <a:ea typeface="Times New Roman"/>
                <a:cs typeface="Times New Roman"/>
                <a:sym typeface="Times New Roman"/>
              </a:rPr>
              <a:t>young people at random in the street?</a:t>
            </a:r>
            <a:endParaRPr/>
          </a:p>
          <a:p>
            <a:pPr indent="-285750" lvl="1" marL="742950" marR="0" rtl="0" algn="l">
              <a:lnSpc>
                <a:spcPct val="100000"/>
              </a:lnSpc>
              <a:spcBef>
                <a:spcPts val="420"/>
              </a:spcBef>
              <a:spcAft>
                <a:spcPts val="0"/>
              </a:spcAft>
              <a:buClr>
                <a:srgbClr val="FF0000"/>
              </a:buClr>
              <a:buSzPts val="3360"/>
              <a:buFont typeface="Noto Sans Symbols"/>
              <a:buChar char="▪"/>
            </a:pPr>
            <a:r>
              <a:rPr b="0" i="0" lang="en-US" sz="2800" u="none" cap="none" strike="noStrike">
                <a:solidFill>
                  <a:schemeClr val="dk1"/>
                </a:solidFill>
                <a:latin typeface="Times New Roman"/>
                <a:ea typeface="Times New Roman"/>
                <a:cs typeface="Times New Roman"/>
                <a:sym typeface="Times New Roman"/>
              </a:rPr>
              <a:t>phone book</a:t>
            </a:r>
            <a:endParaRPr/>
          </a:p>
          <a:p>
            <a:pPr indent="-285750" lvl="1" marL="742950" marR="0" rtl="0" algn="l">
              <a:lnSpc>
                <a:spcPct val="100000"/>
              </a:lnSpc>
              <a:spcBef>
                <a:spcPts val="420"/>
              </a:spcBef>
              <a:spcAft>
                <a:spcPts val="0"/>
              </a:spcAft>
              <a:buClr>
                <a:srgbClr val="FF0000"/>
              </a:buClr>
              <a:buSzPts val="3360"/>
              <a:buFont typeface="Noto Sans Symbols"/>
              <a:buChar char="▪"/>
            </a:pPr>
            <a:r>
              <a:rPr b="0" i="0" lang="en-US" sz="2800" u="none" cap="none" strike="noStrike">
                <a:solidFill>
                  <a:schemeClr val="dk1"/>
                </a:solidFill>
                <a:latin typeface="Times New Roman"/>
                <a:ea typeface="Times New Roman"/>
                <a:cs typeface="Times New Roman"/>
                <a:sym typeface="Times New Roman"/>
              </a:rPr>
              <a:t>students union listing</a:t>
            </a:r>
            <a:endParaRPr/>
          </a:p>
          <a:p>
            <a:pPr indent="-285750" lvl="1" marL="742950" marR="0" rtl="0" algn="l">
              <a:lnSpc>
                <a:spcPct val="100000"/>
              </a:lnSpc>
              <a:spcBef>
                <a:spcPts val="420"/>
              </a:spcBef>
              <a:spcAft>
                <a:spcPts val="0"/>
              </a:spcAft>
              <a:buClr>
                <a:srgbClr val="FF0000"/>
              </a:buClr>
              <a:buSzPts val="3360"/>
              <a:buFont typeface="Noto Sans Symbols"/>
              <a:buChar char="▪"/>
            </a:pPr>
            <a:r>
              <a:rPr b="0" i="0" lang="en-US" sz="2800" u="none" cap="none" strike="noStrike">
                <a:solidFill>
                  <a:schemeClr val="dk1"/>
                </a:solidFill>
                <a:latin typeface="Times New Roman"/>
                <a:ea typeface="Times New Roman"/>
                <a:cs typeface="Times New Roman"/>
                <a:sym typeface="Times New Roman"/>
              </a:rPr>
              <a:t>University mailing list</a:t>
            </a:r>
            <a:endParaRPr/>
          </a:p>
          <a:p>
            <a:pPr indent="-165100" lvl="0" marL="342900" marR="0" rtl="0" algn="l">
              <a:spcBef>
                <a:spcPts val="560"/>
              </a:spcBef>
              <a:spcAft>
                <a:spcPts val="0"/>
              </a:spcAft>
              <a:buClr>
                <a:schemeClr val="dk1"/>
              </a:buClr>
              <a:buSzPts val="2800"/>
              <a:buFont typeface="Times New Roman"/>
              <a:buNone/>
            </a:pPr>
            <a:r>
              <a:t/>
            </a:r>
            <a:endParaRPr b="0" i="0" sz="2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2"/>
          <p:cNvSpPr txBox="1"/>
          <p:nvPr>
            <p:ph type="title"/>
          </p:nvPr>
        </p:nvSpPr>
        <p:spPr>
          <a:xfrm>
            <a:off x="0" y="228600"/>
            <a:ext cx="8839200" cy="990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1" i="0" lang="en-US" sz="4400" u="none">
                <a:solidFill>
                  <a:schemeClr val="dk2"/>
                </a:solidFill>
                <a:latin typeface="Times New Roman"/>
                <a:ea typeface="Times New Roman"/>
                <a:cs typeface="Times New Roman"/>
                <a:sym typeface="Times New Roman"/>
              </a:rPr>
              <a:t>Characteristics of a Good Sample</a:t>
            </a:r>
            <a:endParaRPr/>
          </a:p>
        </p:txBody>
      </p:sp>
      <p:sp>
        <p:nvSpPr>
          <p:cNvPr id="158" name="Google Shape;158;p22"/>
          <p:cNvSpPr txBox="1"/>
          <p:nvPr>
            <p:ph idx="1" type="body"/>
          </p:nvPr>
        </p:nvSpPr>
        <p:spPr>
          <a:xfrm>
            <a:off x="381000" y="1447800"/>
            <a:ext cx="8534400" cy="4953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Accurate and representative of the universe.</a:t>
            </a:r>
            <a:endParaRPr/>
          </a:p>
          <a:p>
            <a:pPr indent="-342900" lvl="0" marL="342900" marR="0" rtl="0" algn="l">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Goal-oriented</a:t>
            </a:r>
            <a:endParaRPr/>
          </a:p>
          <a:p>
            <a:pPr indent="-342900" lvl="0" marL="342900" marR="0" rtl="0" algn="l">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Economical </a:t>
            </a:r>
            <a:endParaRPr/>
          </a:p>
          <a:p>
            <a:pPr indent="-342900" lvl="0" marL="342900" marR="0" rtl="0" algn="l">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Precision </a:t>
            </a:r>
            <a:endParaRPr/>
          </a:p>
          <a:p>
            <a:pPr indent="-342900" lvl="0" marL="342900" marR="0" rtl="0" algn="l">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Random selection</a:t>
            </a:r>
            <a:endParaRPr/>
          </a:p>
          <a:p>
            <a:pPr indent="-342900" lvl="0" marL="342900" marR="0" rtl="0" algn="l">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Proportional </a:t>
            </a:r>
            <a:endParaRPr/>
          </a:p>
          <a:p>
            <a:pPr indent="-342900" lvl="0" marL="342900" marR="0" rtl="0" algn="l">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Proper selection of sample units</a:t>
            </a:r>
            <a:endParaRPr/>
          </a:p>
          <a:p>
            <a:pPr indent="-342900" lvl="0" marL="342900" marR="0" rtl="0" algn="l">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Low sampling error, high confidence level &amp; least degree of variability.</a:t>
            </a:r>
            <a:endParaRPr/>
          </a:p>
          <a:p>
            <a:pPr indent="-342900" lvl="0" marL="342900" marR="0" rtl="0" algn="l">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Actual information provider.</a:t>
            </a:r>
            <a:endParaRPr/>
          </a:p>
          <a:p>
            <a:pPr indent="-190500" lvl="0" marL="342900" marR="0" rtl="0" algn="l">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3"/>
          <p:cNvSpPr txBox="1"/>
          <p:nvPr>
            <p:ph type="title"/>
          </p:nvPr>
        </p:nvSpPr>
        <p:spPr>
          <a:xfrm>
            <a:off x="685800" y="1524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1" i="0" lang="en-US" sz="4400" u="none">
                <a:solidFill>
                  <a:schemeClr val="dk2"/>
                </a:solidFill>
                <a:latin typeface="Times New Roman"/>
                <a:ea typeface="Times New Roman"/>
                <a:cs typeface="Times New Roman"/>
                <a:sym typeface="Times New Roman"/>
              </a:rPr>
              <a:t>Sampling Error</a:t>
            </a:r>
            <a:endParaRPr/>
          </a:p>
        </p:txBody>
      </p:sp>
      <p:sp>
        <p:nvSpPr>
          <p:cNvPr id="164" name="Google Shape;164;p23"/>
          <p:cNvSpPr txBox="1"/>
          <p:nvPr>
            <p:ph idx="1" type="body"/>
          </p:nvPr>
        </p:nvSpPr>
        <p:spPr>
          <a:xfrm>
            <a:off x="304800" y="1524000"/>
            <a:ext cx="8534400" cy="48006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	Sampling error arises from the fact that samples differ from their population.</a:t>
            </a:r>
            <a:endParaRPr/>
          </a:p>
          <a:p>
            <a:pPr indent="-342900" lvl="0" marL="342900" marR="0" rtl="0" algn="just">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It refers to the difference between the sample &amp; the population.</a:t>
            </a:r>
            <a:endParaRPr/>
          </a:p>
          <a:p>
            <a:pPr indent="-342900" lvl="0" marL="342900" marR="0" rtl="0" algn="just">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Sampling errors occur because inferences about the entire population are based on information obtained from only a sample of that population.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4"/>
          <p:cNvSpPr txBox="1"/>
          <p:nvPr>
            <p:ph type="title"/>
          </p:nvPr>
        </p:nvSpPr>
        <p:spPr>
          <a:xfrm>
            <a:off x="685800" y="762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1" i="0" lang="en-US" sz="4000" u="none">
                <a:solidFill>
                  <a:schemeClr val="dk2"/>
                </a:solidFill>
                <a:latin typeface="Times New Roman"/>
                <a:ea typeface="Times New Roman"/>
                <a:cs typeface="Times New Roman"/>
                <a:sym typeface="Times New Roman"/>
              </a:rPr>
              <a:t>Non-sampling Error</a:t>
            </a:r>
            <a:endParaRPr/>
          </a:p>
        </p:txBody>
      </p:sp>
      <p:sp>
        <p:nvSpPr>
          <p:cNvPr id="170" name="Google Shape;170;p24"/>
          <p:cNvSpPr txBox="1"/>
          <p:nvPr>
            <p:ph idx="1" type="body"/>
          </p:nvPr>
        </p:nvSpPr>
        <p:spPr>
          <a:xfrm>
            <a:off x="228600" y="1371600"/>
            <a:ext cx="8610600" cy="51054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Occur due to mistakes made while collecting the data or sample observations correctly.</a:t>
            </a:r>
            <a:endParaRPr/>
          </a:p>
          <a:p>
            <a:pPr indent="-342900" lvl="0" marL="342900" marR="0" rtl="0" algn="just">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It may include data entry errors, biased questions in a questionnaire, poorly worded questions, improperly trained personnel, false information provided by respondents.</a:t>
            </a:r>
            <a:endParaRPr/>
          </a:p>
          <a:p>
            <a:pPr indent="-342900" lvl="0" marL="342900" marR="0" rtl="0" algn="just">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Examples: in the form of refusals, not-at-home, unreturned or lost questionnaires, long interviews result in inaccurate responses.</a:t>
            </a:r>
            <a:endParaRPr/>
          </a:p>
          <a:p>
            <a:pPr indent="-342900" lvl="0" marL="342900" marR="0" rtl="0" algn="just">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Wrong interpretation of the questions due to wrong wordings etc.</a:t>
            </a:r>
            <a:endParaRPr/>
          </a:p>
          <a:p>
            <a:pPr indent="-165100" lvl="0" marL="342900" marR="0" rtl="0" algn="l">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5"/>
          <p:cNvSpPr txBox="1"/>
          <p:nvPr>
            <p:ph idx="1" type="body"/>
          </p:nvPr>
        </p:nvSpPr>
        <p:spPr>
          <a:xfrm>
            <a:off x="381000" y="762000"/>
            <a:ext cx="8382000" cy="56388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9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	A </a:t>
            </a:r>
            <a:r>
              <a:rPr b="0" i="1" lang="en-US" sz="2800" u="none">
                <a:solidFill>
                  <a:schemeClr val="dk1"/>
                </a:solidFill>
                <a:latin typeface="Times New Roman"/>
                <a:ea typeface="Times New Roman"/>
                <a:cs typeface="Times New Roman"/>
                <a:sym typeface="Times New Roman"/>
              </a:rPr>
              <a:t>response or data error</a:t>
            </a:r>
            <a:r>
              <a:rPr b="0" i="0" lang="en-US" sz="2800" u="none">
                <a:solidFill>
                  <a:schemeClr val="dk1"/>
                </a:solidFill>
                <a:latin typeface="Times New Roman"/>
                <a:ea typeface="Times New Roman"/>
                <a:cs typeface="Times New Roman"/>
                <a:sym typeface="Times New Roman"/>
              </a:rPr>
              <a:t> is any systematic bias that occurs during data collection, analysis or interpretation </a:t>
            </a:r>
            <a:endParaRPr/>
          </a:p>
          <a:p>
            <a:pPr indent="-285750" lvl="1" marL="742950" marR="0" rtl="0" algn="just">
              <a:lnSpc>
                <a:spcPct val="90000"/>
              </a:lnSpc>
              <a:spcBef>
                <a:spcPts val="1680"/>
              </a:spcBef>
              <a:spcAft>
                <a:spcPts val="0"/>
              </a:spcAft>
              <a:buClr>
                <a:schemeClr val="dk1"/>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Respondent error (e.g., lying, forgetting, etc.)</a:t>
            </a:r>
            <a:endParaRPr/>
          </a:p>
          <a:p>
            <a:pPr indent="-285750" lvl="1" marL="742950" marR="0" rtl="0" algn="just">
              <a:lnSpc>
                <a:spcPct val="90000"/>
              </a:lnSpc>
              <a:spcBef>
                <a:spcPts val="1680"/>
              </a:spcBef>
              <a:spcAft>
                <a:spcPts val="0"/>
              </a:spcAft>
              <a:buClr>
                <a:schemeClr val="dk1"/>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Interviewer bias</a:t>
            </a:r>
            <a:endParaRPr/>
          </a:p>
          <a:p>
            <a:pPr indent="-285750" lvl="1" marL="742950" marR="0" rtl="0" algn="just">
              <a:lnSpc>
                <a:spcPct val="90000"/>
              </a:lnSpc>
              <a:spcBef>
                <a:spcPts val="1680"/>
              </a:spcBef>
              <a:spcAft>
                <a:spcPts val="0"/>
              </a:spcAft>
              <a:buClr>
                <a:schemeClr val="dk1"/>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Recording errors</a:t>
            </a:r>
            <a:endParaRPr/>
          </a:p>
          <a:p>
            <a:pPr indent="-285750" lvl="1" marL="742950" marR="0" rtl="0" algn="just">
              <a:lnSpc>
                <a:spcPct val="90000"/>
              </a:lnSpc>
              <a:spcBef>
                <a:spcPts val="1680"/>
              </a:spcBef>
              <a:spcAft>
                <a:spcPts val="0"/>
              </a:spcAft>
              <a:buClr>
                <a:schemeClr val="dk1"/>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Poorly designed questionnaires</a:t>
            </a:r>
            <a:endParaRPr/>
          </a:p>
          <a:p>
            <a:pPr indent="-165100" lvl="0" marL="342900" marR="0" rtl="0" algn="l">
              <a:spcBef>
                <a:spcPts val="1680"/>
              </a:spcBef>
              <a:spcAft>
                <a:spcPts val="0"/>
              </a:spcAft>
              <a:buClr>
                <a:schemeClr val="dk1"/>
              </a:buClr>
              <a:buSzPts val="2800"/>
              <a:buFont typeface="Times New Roman"/>
              <a:buNone/>
            </a:pPr>
            <a:r>
              <a:t/>
            </a:r>
            <a:endParaRPr b="0" i="0" sz="2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6"/>
          <p:cNvSpPr txBox="1"/>
          <p:nvPr>
            <p:ph type="title"/>
          </p:nvPr>
        </p:nvSpPr>
        <p:spPr>
          <a:xfrm>
            <a:off x="685800" y="228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Methods to reduce errors</a:t>
            </a:r>
            <a:endParaRPr/>
          </a:p>
        </p:txBody>
      </p:sp>
      <p:sp>
        <p:nvSpPr>
          <p:cNvPr id="181" name="Google Shape;181;p26"/>
          <p:cNvSpPr txBox="1"/>
          <p:nvPr>
            <p:ph idx="1" type="body"/>
          </p:nvPr>
        </p:nvSpPr>
        <p:spPr>
          <a:xfrm>
            <a:off x="381000" y="1981200"/>
            <a:ext cx="8305800" cy="41148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Investigate the entire survey process &amp; identifying the sources of the error.</a:t>
            </a:r>
            <a:endParaRPr/>
          </a:p>
          <a:p>
            <a:pPr indent="-342900" lvl="0" marL="342900" marR="0" rtl="0" algn="just">
              <a:lnSpc>
                <a:spcPct val="100000"/>
              </a:lnSpc>
              <a:spcBef>
                <a:spcPts val="64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Understand the cause of the error.</a:t>
            </a:r>
            <a:endParaRPr/>
          </a:p>
          <a:p>
            <a:pPr indent="-342900" lvl="0" marL="342900" marR="0" rtl="0" algn="just">
              <a:lnSpc>
                <a:spcPct val="100000"/>
              </a:lnSpc>
              <a:spcBef>
                <a:spcPts val="64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Identify the impact of error so as to decide the extent.</a:t>
            </a:r>
            <a:endParaRPr/>
          </a:p>
          <a:p>
            <a:pPr indent="-139700" lvl="0" marL="342900" marR="0" rtl="0" algn="l">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7"/>
          <p:cNvSpPr txBox="1"/>
          <p:nvPr>
            <p:ph type="title"/>
          </p:nvPr>
        </p:nvSpPr>
        <p:spPr>
          <a:xfrm>
            <a:off x="685800" y="762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Sample size constraint</a:t>
            </a:r>
            <a:endParaRPr/>
          </a:p>
        </p:txBody>
      </p:sp>
      <p:sp>
        <p:nvSpPr>
          <p:cNvPr id="187" name="Google Shape;187;p27"/>
          <p:cNvSpPr txBox="1"/>
          <p:nvPr>
            <p:ph idx="1" type="body"/>
          </p:nvPr>
        </p:nvSpPr>
        <p:spPr>
          <a:xfrm>
            <a:off x="381000" y="1447800"/>
            <a:ext cx="8382000" cy="43434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Sample size represents number of observations taken to conduct a statistical analysis</a:t>
            </a:r>
            <a:endParaRPr/>
          </a:p>
          <a:p>
            <a:pPr indent="-342900" lvl="0" marL="342900" marR="0" rtl="0" algn="just">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It is composed of people, food batches, machines etc.</a:t>
            </a:r>
            <a:endParaRPr/>
          </a:p>
          <a:p>
            <a:pPr indent="-342900" lvl="0" marL="342900" marR="0" rtl="0" algn="just">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The sample size is the larger the better because as sample size increases, the estimates become more accurate.</a:t>
            </a:r>
            <a:endParaRPr/>
          </a:p>
          <a:p>
            <a:pPr indent="-342900" lvl="0" marL="342900" marR="0" rtl="0" algn="just">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But as the sample size increases, it means more expensive in terms of time and money.</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8"/>
          <p:cNvSpPr txBox="1"/>
          <p:nvPr>
            <p:ph type="title"/>
          </p:nvPr>
        </p:nvSpPr>
        <p:spPr>
          <a:xfrm>
            <a:off x="685800" y="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Non-response</a:t>
            </a:r>
            <a:endParaRPr/>
          </a:p>
        </p:txBody>
      </p:sp>
      <p:sp>
        <p:nvSpPr>
          <p:cNvPr id="193" name="Google Shape;193;p28"/>
          <p:cNvSpPr txBox="1"/>
          <p:nvPr>
            <p:ph idx="1" type="body"/>
          </p:nvPr>
        </p:nvSpPr>
        <p:spPr>
          <a:xfrm>
            <a:off x="228600" y="1143000"/>
            <a:ext cx="8610600" cy="49530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Researcher needs to minimize the non-response.</a:t>
            </a:r>
            <a:endParaRPr/>
          </a:p>
          <a:p>
            <a:pPr indent="-342900" lvl="0" marL="342900" marR="0" rtl="0" algn="just">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Response rates in a survey can be improved through good survey design, clarity of purpose, questions etc.</a:t>
            </a:r>
            <a:endParaRPr/>
          </a:p>
          <a:p>
            <a:pPr indent="-342900" lvl="0" marL="342900" marR="0" rtl="0" algn="just">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Assurances of privacy &amp; confidentiality can improve the response rates considerably.</a:t>
            </a:r>
            <a:endParaRPr/>
          </a:p>
          <a:p>
            <a:pPr indent="-342900" lvl="0" marL="342900" marR="0" rtl="0" algn="just">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Suggested measures for non-response:</a:t>
            </a:r>
            <a:endParaRPr/>
          </a:p>
          <a:p>
            <a:pPr indent="-342900" lvl="0" marL="342900" marR="0" rtl="0" algn="just">
              <a:lnSpc>
                <a:spcPct val="100000"/>
              </a:lnSpc>
              <a:spcBef>
                <a:spcPts val="56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1.Try to identify reasons for refusals. </a:t>
            </a:r>
            <a:endParaRPr/>
          </a:p>
          <a:p>
            <a:pPr indent="-342900" lvl="0" marL="342900" marR="0" rtl="0" algn="just">
              <a:lnSpc>
                <a:spcPct val="100000"/>
              </a:lnSpc>
              <a:spcBef>
                <a:spcPts val="56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2. use positive language </a:t>
            </a:r>
            <a:endParaRPr/>
          </a:p>
          <a:p>
            <a:pPr indent="-342900" lvl="0" marL="342900" marR="0" rtl="0" algn="just">
              <a:lnSpc>
                <a:spcPct val="100000"/>
              </a:lnSpc>
              <a:spcBef>
                <a:spcPts val="56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3. Focus on the importance of the survey &amp; explain role of the respondents in the survey. 4. Assure confidentiality of the responses.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9"/>
          <p:cNvSpPr txBox="1"/>
          <p:nvPr>
            <p:ph type="title"/>
          </p:nvPr>
        </p:nvSpPr>
        <p:spPr>
          <a:xfrm>
            <a:off x="685800" y="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Steps in Sampling Process</a:t>
            </a:r>
            <a:endParaRPr/>
          </a:p>
        </p:txBody>
      </p:sp>
      <p:sp>
        <p:nvSpPr>
          <p:cNvPr id="200" name="Google Shape;200;p29"/>
          <p:cNvSpPr txBox="1"/>
          <p:nvPr>
            <p:ph idx="1" type="body"/>
          </p:nvPr>
        </p:nvSpPr>
        <p:spPr>
          <a:xfrm>
            <a:off x="381000" y="1295400"/>
            <a:ext cx="8305800" cy="48006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1.	Define the population</a:t>
            </a:r>
            <a:endParaRPr/>
          </a:p>
          <a:p>
            <a:pPr indent="-342900" lvl="0" marL="342900" rtl="0" algn="l">
              <a:lnSpc>
                <a:spcPct val="90000"/>
              </a:lnSpc>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342900" lvl="0" marL="342900" rtl="0" algn="l">
              <a:lnSpc>
                <a:spcPct val="90000"/>
              </a:lnSpc>
              <a:spcBef>
                <a:spcPts val="56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2.	Identify the sampling frame</a:t>
            </a:r>
            <a:endParaRPr/>
          </a:p>
          <a:p>
            <a:pPr indent="-342900" lvl="0" marL="342900" rtl="0" algn="l">
              <a:lnSpc>
                <a:spcPct val="90000"/>
              </a:lnSpc>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342900" lvl="0" marL="342900" rtl="0" algn="l">
              <a:lnSpc>
                <a:spcPct val="90000"/>
              </a:lnSpc>
              <a:spcBef>
                <a:spcPts val="56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3.	Select a sampling design or procedure</a:t>
            </a:r>
            <a:endParaRPr/>
          </a:p>
          <a:p>
            <a:pPr indent="-342900" lvl="0" marL="342900" rtl="0" algn="l">
              <a:lnSpc>
                <a:spcPct val="90000"/>
              </a:lnSpc>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342900" lvl="0" marL="342900" rtl="0" algn="l">
              <a:lnSpc>
                <a:spcPct val="90000"/>
              </a:lnSpc>
              <a:spcBef>
                <a:spcPts val="56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4.	Determine the sample size</a:t>
            </a:r>
            <a:endParaRPr/>
          </a:p>
          <a:p>
            <a:pPr indent="-342900" lvl="0" marL="342900" rtl="0" algn="l">
              <a:lnSpc>
                <a:spcPct val="90000"/>
              </a:lnSpc>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342900" lvl="0" marL="342900" rtl="0" algn="l">
              <a:lnSpc>
                <a:spcPct val="90000"/>
              </a:lnSpc>
              <a:spcBef>
                <a:spcPts val="56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5.	Draw the sample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0"/>
          <p:cNvSpPr txBox="1"/>
          <p:nvPr/>
        </p:nvSpPr>
        <p:spPr>
          <a:xfrm>
            <a:off x="250825" y="219075"/>
            <a:ext cx="8629650" cy="762000"/>
          </a:xfrm>
          <a:prstGeom prst="rect">
            <a:avLst/>
          </a:prstGeom>
          <a:noFill/>
          <a:ln>
            <a:noFill/>
          </a:ln>
        </p:spPr>
        <p:txBody>
          <a:bodyPr anchorCtr="0" anchor="ctr" bIns="44450" lIns="90475" spcFirstLastPara="1" rIns="90475" wrap="square" tIns="44450">
            <a:noAutofit/>
          </a:bodyPr>
          <a:lstStyle/>
          <a:p>
            <a:pPr indent="0" lvl="0" marL="0" marR="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Sampling Design Process</a:t>
            </a:r>
            <a:endParaRPr/>
          </a:p>
        </p:txBody>
      </p:sp>
      <p:sp>
        <p:nvSpPr>
          <p:cNvPr id="207" name="Google Shape;207;p30"/>
          <p:cNvSpPr txBox="1"/>
          <p:nvPr/>
        </p:nvSpPr>
        <p:spPr>
          <a:xfrm>
            <a:off x="3071812" y="1128712"/>
            <a:ext cx="2749550" cy="481012"/>
          </a:xfrm>
          <a:prstGeom prst="rect">
            <a:avLst/>
          </a:prstGeom>
          <a:solidFill>
            <a:schemeClr val="accent1"/>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08" name="Google Shape;208;p30"/>
          <p:cNvSpPr txBox="1"/>
          <p:nvPr/>
        </p:nvSpPr>
        <p:spPr>
          <a:xfrm>
            <a:off x="2895600" y="2001837"/>
            <a:ext cx="3200400" cy="481012"/>
          </a:xfrm>
          <a:prstGeom prst="rect">
            <a:avLst/>
          </a:prstGeom>
          <a:solidFill>
            <a:schemeClr val="accent1"/>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09" name="Google Shape;209;p30"/>
          <p:cNvSpPr txBox="1"/>
          <p:nvPr/>
        </p:nvSpPr>
        <p:spPr>
          <a:xfrm>
            <a:off x="2895600" y="2941637"/>
            <a:ext cx="3276600" cy="481012"/>
          </a:xfrm>
          <a:prstGeom prst="rect">
            <a:avLst/>
          </a:prstGeom>
          <a:solidFill>
            <a:schemeClr val="accent1"/>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10" name="Google Shape;210;p30"/>
          <p:cNvSpPr txBox="1"/>
          <p:nvPr/>
        </p:nvSpPr>
        <p:spPr>
          <a:xfrm>
            <a:off x="592137" y="3678237"/>
            <a:ext cx="2684462" cy="1430337"/>
          </a:xfrm>
          <a:prstGeom prst="rect">
            <a:avLst/>
          </a:prstGeom>
          <a:solidFill>
            <a:schemeClr val="accent1"/>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11" name="Google Shape;211;p30"/>
          <p:cNvSpPr txBox="1"/>
          <p:nvPr/>
        </p:nvSpPr>
        <p:spPr>
          <a:xfrm>
            <a:off x="5973762" y="3621087"/>
            <a:ext cx="2941637" cy="1430337"/>
          </a:xfrm>
          <a:prstGeom prst="rect">
            <a:avLst/>
          </a:prstGeom>
          <a:solidFill>
            <a:schemeClr val="accent1"/>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12" name="Google Shape;212;p30"/>
          <p:cNvSpPr txBox="1"/>
          <p:nvPr/>
        </p:nvSpPr>
        <p:spPr>
          <a:xfrm>
            <a:off x="3078162" y="5372100"/>
            <a:ext cx="2749550" cy="481012"/>
          </a:xfrm>
          <a:prstGeom prst="rect">
            <a:avLst/>
          </a:prstGeom>
          <a:solidFill>
            <a:schemeClr val="accent1"/>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13" name="Google Shape;213;p30"/>
          <p:cNvSpPr txBox="1"/>
          <p:nvPr/>
        </p:nvSpPr>
        <p:spPr>
          <a:xfrm>
            <a:off x="3057525" y="6153150"/>
            <a:ext cx="2749550" cy="481012"/>
          </a:xfrm>
          <a:prstGeom prst="rect">
            <a:avLst/>
          </a:prstGeom>
          <a:solidFill>
            <a:schemeClr val="accent1"/>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14" name="Google Shape;214;p30"/>
          <p:cNvSpPr txBox="1"/>
          <p:nvPr/>
        </p:nvSpPr>
        <p:spPr>
          <a:xfrm>
            <a:off x="3432175" y="1176337"/>
            <a:ext cx="2154237" cy="396875"/>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chemeClr val="dk1"/>
              </a:buClr>
              <a:buSzPts val="2000"/>
              <a:buFont typeface="Times New Roman"/>
              <a:buNone/>
            </a:pPr>
            <a:r>
              <a:rPr b="1" i="0" lang="en-US" sz="2000" u="none">
                <a:solidFill>
                  <a:schemeClr val="dk1"/>
                </a:solidFill>
                <a:latin typeface="Times New Roman"/>
                <a:ea typeface="Times New Roman"/>
                <a:cs typeface="Times New Roman"/>
                <a:sym typeface="Times New Roman"/>
              </a:rPr>
              <a:t>Define Population</a:t>
            </a:r>
            <a:endParaRPr/>
          </a:p>
        </p:txBody>
      </p:sp>
      <p:sp>
        <p:nvSpPr>
          <p:cNvPr id="215" name="Google Shape;215;p30"/>
          <p:cNvSpPr txBox="1"/>
          <p:nvPr/>
        </p:nvSpPr>
        <p:spPr>
          <a:xfrm>
            <a:off x="3048000" y="1981200"/>
            <a:ext cx="2927350" cy="366712"/>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Determine Sampling Frame</a:t>
            </a:r>
            <a:endParaRPr/>
          </a:p>
        </p:txBody>
      </p:sp>
      <p:sp>
        <p:nvSpPr>
          <p:cNvPr id="216" name="Google Shape;216;p30"/>
          <p:cNvSpPr txBox="1"/>
          <p:nvPr/>
        </p:nvSpPr>
        <p:spPr>
          <a:xfrm>
            <a:off x="3048000" y="3048000"/>
            <a:ext cx="2927350" cy="333375"/>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chemeClr val="dk1"/>
              </a:buClr>
              <a:buSzPts val="1600"/>
              <a:buFont typeface="Times New Roman"/>
              <a:buNone/>
            </a:pPr>
            <a:r>
              <a:rPr b="1" i="0" lang="en-US" sz="1600" u="none">
                <a:solidFill>
                  <a:schemeClr val="dk1"/>
                </a:solidFill>
                <a:latin typeface="Times New Roman"/>
                <a:ea typeface="Times New Roman"/>
                <a:cs typeface="Times New Roman"/>
                <a:sym typeface="Times New Roman"/>
              </a:rPr>
              <a:t>Determine Sampling Procedure</a:t>
            </a:r>
            <a:endParaRPr/>
          </a:p>
        </p:txBody>
      </p:sp>
      <p:sp>
        <p:nvSpPr>
          <p:cNvPr id="217" name="Google Shape;217;p30"/>
          <p:cNvSpPr txBox="1"/>
          <p:nvPr/>
        </p:nvSpPr>
        <p:spPr>
          <a:xfrm>
            <a:off x="533400" y="3657600"/>
            <a:ext cx="2922587" cy="1474787"/>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chemeClr val="dk1"/>
              </a:buClr>
              <a:buSzPts val="1800"/>
              <a:buFont typeface="Times New Roman"/>
              <a:buNone/>
            </a:pPr>
            <a:r>
              <a:rPr b="1" i="0" lang="en-US" sz="1800" u="sng">
                <a:solidFill>
                  <a:schemeClr val="dk1"/>
                </a:solidFill>
                <a:latin typeface="Times New Roman"/>
                <a:ea typeface="Times New Roman"/>
                <a:cs typeface="Times New Roman"/>
                <a:sym typeface="Times New Roman"/>
              </a:rPr>
              <a:t>   Probability Sampling       </a:t>
            </a:r>
            <a:endParaRPr/>
          </a:p>
          <a:p>
            <a:pPr indent="0" lvl="0" marL="0" marR="0" rtl="0" algn="l">
              <a:lnSpc>
                <a:spcPct val="100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Type of Procedure</a:t>
            </a:r>
            <a:endParaRPr/>
          </a:p>
          <a:p>
            <a:pPr indent="0" lvl="0" marL="0" marR="0" rtl="0" algn="l">
              <a:lnSpc>
                <a:spcPct val="100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Simple Random Sampling</a:t>
            </a:r>
            <a:endParaRPr/>
          </a:p>
          <a:p>
            <a:pPr indent="0" lvl="0" marL="0" marR="0" rtl="0" algn="l">
              <a:lnSpc>
                <a:spcPct val="100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Stratified Sampling</a:t>
            </a:r>
            <a:endParaRPr/>
          </a:p>
          <a:p>
            <a:pPr indent="0" lvl="0" marL="0" marR="0" rtl="0" algn="l">
              <a:lnSpc>
                <a:spcPct val="100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Cluster Sampling</a:t>
            </a:r>
            <a:endParaRPr/>
          </a:p>
        </p:txBody>
      </p:sp>
      <p:sp>
        <p:nvSpPr>
          <p:cNvPr id="218" name="Google Shape;218;p30"/>
          <p:cNvSpPr txBox="1"/>
          <p:nvPr/>
        </p:nvSpPr>
        <p:spPr>
          <a:xfrm>
            <a:off x="6134100" y="3581400"/>
            <a:ext cx="3009900" cy="1462087"/>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chemeClr val="dk1"/>
              </a:buClr>
              <a:buSzPts val="1800"/>
              <a:buFont typeface="Times New Roman"/>
              <a:buNone/>
            </a:pPr>
            <a:r>
              <a:rPr b="1" i="0" lang="en-US" sz="1800" u="sng">
                <a:solidFill>
                  <a:schemeClr val="dk1"/>
                </a:solidFill>
                <a:latin typeface="Times New Roman"/>
                <a:ea typeface="Times New Roman"/>
                <a:cs typeface="Times New Roman"/>
                <a:sym typeface="Times New Roman"/>
              </a:rPr>
              <a:t>Non-Probability Sampling</a:t>
            </a:r>
            <a:endParaRPr/>
          </a:p>
          <a:p>
            <a:pPr indent="0" lvl="0" marL="0" marR="0" rtl="0" algn="l">
              <a:lnSpc>
                <a:spcPct val="100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Type of Procedure</a:t>
            </a:r>
            <a:endParaRPr/>
          </a:p>
          <a:p>
            <a:pPr indent="0" lvl="0" marL="0" marR="0" rtl="0" algn="l">
              <a:lnSpc>
                <a:spcPct val="100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Convenience</a:t>
            </a:r>
            <a:endParaRPr/>
          </a:p>
          <a:p>
            <a:pPr indent="0" lvl="0" marL="0" marR="0" rtl="0" algn="l">
              <a:lnSpc>
                <a:spcPct val="100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Judgmental</a:t>
            </a:r>
            <a:endParaRPr/>
          </a:p>
          <a:p>
            <a:pPr indent="0" lvl="0" marL="0" marR="0" rtl="0" algn="l">
              <a:lnSpc>
                <a:spcPct val="100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Quota</a:t>
            </a:r>
            <a:endParaRPr/>
          </a:p>
        </p:txBody>
      </p:sp>
      <p:sp>
        <p:nvSpPr>
          <p:cNvPr id="219" name="Google Shape;219;p30"/>
          <p:cNvSpPr txBox="1"/>
          <p:nvPr/>
        </p:nvSpPr>
        <p:spPr>
          <a:xfrm>
            <a:off x="3289300" y="5321300"/>
            <a:ext cx="2232025" cy="577850"/>
          </a:xfrm>
          <a:prstGeom prst="rect">
            <a:avLst/>
          </a:prstGeom>
          <a:noFill/>
          <a:ln>
            <a:noFill/>
          </a:ln>
        </p:spPr>
        <p:txBody>
          <a:bodyPr anchorCtr="0" anchor="t" bIns="44450" lIns="90475" spcFirstLastPara="1" rIns="90475" wrap="square" tIns="44450">
            <a:spAutoFit/>
          </a:bodyPr>
          <a:lstStyle/>
          <a:p>
            <a:pPr indent="0" lvl="0" marL="0" marR="0" rtl="0" algn="ctr">
              <a:lnSpc>
                <a:spcPct val="100000"/>
              </a:lnSpc>
              <a:spcBef>
                <a:spcPts val="0"/>
              </a:spcBef>
              <a:spcAft>
                <a:spcPts val="0"/>
              </a:spcAft>
              <a:buClr>
                <a:schemeClr val="dk1"/>
              </a:buClr>
              <a:buSzPts val="1600"/>
              <a:buFont typeface="Times New Roman"/>
              <a:buNone/>
            </a:pPr>
            <a:r>
              <a:rPr b="1" i="0" lang="en-US" sz="1600" u="none">
                <a:solidFill>
                  <a:schemeClr val="dk1"/>
                </a:solidFill>
                <a:latin typeface="Times New Roman"/>
                <a:ea typeface="Times New Roman"/>
                <a:cs typeface="Times New Roman"/>
                <a:sym typeface="Times New Roman"/>
              </a:rPr>
              <a:t>Determine Appropriate</a:t>
            </a:r>
            <a:endParaRPr/>
          </a:p>
          <a:p>
            <a:pPr indent="0" lvl="0" marL="0" marR="0" rtl="0" algn="ctr">
              <a:lnSpc>
                <a:spcPct val="100000"/>
              </a:lnSpc>
              <a:spcBef>
                <a:spcPts val="0"/>
              </a:spcBef>
              <a:spcAft>
                <a:spcPts val="0"/>
              </a:spcAft>
              <a:buClr>
                <a:schemeClr val="dk1"/>
              </a:buClr>
              <a:buSzPts val="1600"/>
              <a:buFont typeface="Times New Roman"/>
              <a:buNone/>
            </a:pPr>
            <a:r>
              <a:rPr b="1" i="0" lang="en-US" sz="1600" u="none">
                <a:solidFill>
                  <a:schemeClr val="dk1"/>
                </a:solidFill>
                <a:latin typeface="Times New Roman"/>
                <a:ea typeface="Times New Roman"/>
                <a:cs typeface="Times New Roman"/>
                <a:sym typeface="Times New Roman"/>
              </a:rPr>
              <a:t>Sample Size</a:t>
            </a:r>
            <a:endParaRPr/>
          </a:p>
        </p:txBody>
      </p:sp>
      <p:sp>
        <p:nvSpPr>
          <p:cNvPr id="220" name="Google Shape;220;p30"/>
          <p:cNvSpPr txBox="1"/>
          <p:nvPr/>
        </p:nvSpPr>
        <p:spPr>
          <a:xfrm>
            <a:off x="3584575" y="6132512"/>
            <a:ext cx="1763712" cy="582612"/>
          </a:xfrm>
          <a:prstGeom prst="rect">
            <a:avLst/>
          </a:prstGeom>
          <a:noFill/>
          <a:ln>
            <a:noFill/>
          </a:ln>
        </p:spPr>
        <p:txBody>
          <a:bodyPr anchorCtr="0" anchor="t" bIns="44450" lIns="90475" spcFirstLastPara="1" rIns="90475" wrap="square" tIns="44450">
            <a:spAutoFit/>
          </a:bodyPr>
          <a:lstStyle/>
          <a:p>
            <a:pPr indent="0" lvl="0" marL="0" marR="0" rtl="0" algn="ctr">
              <a:lnSpc>
                <a:spcPct val="100000"/>
              </a:lnSpc>
              <a:spcBef>
                <a:spcPts val="0"/>
              </a:spcBef>
              <a:spcAft>
                <a:spcPts val="0"/>
              </a:spcAft>
              <a:buClr>
                <a:schemeClr val="dk1"/>
              </a:buClr>
              <a:buSzPts val="1600"/>
              <a:buFont typeface="Times New Roman"/>
              <a:buNone/>
            </a:pPr>
            <a:r>
              <a:rPr b="1" i="0" lang="en-US" sz="1600" u="none">
                <a:solidFill>
                  <a:schemeClr val="dk1"/>
                </a:solidFill>
                <a:latin typeface="Times New Roman"/>
                <a:ea typeface="Times New Roman"/>
                <a:cs typeface="Times New Roman"/>
                <a:sym typeface="Times New Roman"/>
              </a:rPr>
              <a:t>Execute Sampling</a:t>
            </a:r>
            <a:endParaRPr/>
          </a:p>
          <a:p>
            <a:pPr indent="0" lvl="0" marL="0" marR="0" rtl="0" algn="ctr">
              <a:lnSpc>
                <a:spcPct val="100000"/>
              </a:lnSpc>
              <a:spcBef>
                <a:spcPts val="0"/>
              </a:spcBef>
              <a:spcAft>
                <a:spcPts val="0"/>
              </a:spcAft>
              <a:buClr>
                <a:schemeClr val="dk1"/>
              </a:buClr>
              <a:buSzPts val="1600"/>
              <a:buFont typeface="Times New Roman"/>
              <a:buNone/>
            </a:pPr>
            <a:r>
              <a:rPr b="1" i="0" lang="en-US" sz="1600" u="none">
                <a:solidFill>
                  <a:schemeClr val="dk1"/>
                </a:solidFill>
                <a:latin typeface="Times New Roman"/>
                <a:ea typeface="Times New Roman"/>
                <a:cs typeface="Times New Roman"/>
                <a:sym typeface="Times New Roman"/>
              </a:rPr>
              <a:t>Design</a:t>
            </a:r>
            <a:endParaRPr/>
          </a:p>
        </p:txBody>
      </p:sp>
      <p:cxnSp>
        <p:nvCxnSpPr>
          <p:cNvPr id="221" name="Google Shape;221;p30"/>
          <p:cNvCxnSpPr/>
          <p:nvPr/>
        </p:nvCxnSpPr>
        <p:spPr>
          <a:xfrm>
            <a:off x="4402137" y="1619250"/>
            <a:ext cx="0" cy="369887"/>
          </a:xfrm>
          <a:prstGeom prst="straightConnector1">
            <a:avLst/>
          </a:prstGeom>
          <a:noFill/>
          <a:ln cap="flat" cmpd="sng" w="12700">
            <a:solidFill>
              <a:schemeClr val="dk1"/>
            </a:solidFill>
            <a:prstDash val="solid"/>
            <a:miter lim="800000"/>
            <a:headEnd len="med" w="med" type="none"/>
            <a:tailEnd len="med" w="med" type="triangle"/>
          </a:ln>
        </p:spPr>
      </p:cxnSp>
      <p:cxnSp>
        <p:nvCxnSpPr>
          <p:cNvPr id="222" name="Google Shape;222;p30"/>
          <p:cNvCxnSpPr/>
          <p:nvPr/>
        </p:nvCxnSpPr>
        <p:spPr>
          <a:xfrm rot="10800000">
            <a:off x="1792287" y="3178175"/>
            <a:ext cx="1249362" cy="0"/>
          </a:xfrm>
          <a:prstGeom prst="straightConnector1">
            <a:avLst/>
          </a:prstGeom>
          <a:noFill/>
          <a:ln cap="flat" cmpd="sng" w="12700">
            <a:solidFill>
              <a:schemeClr val="dk1"/>
            </a:solidFill>
            <a:prstDash val="solid"/>
            <a:miter lim="800000"/>
            <a:headEnd len="med" w="med" type="none"/>
            <a:tailEnd len="med" w="med" type="none"/>
          </a:ln>
        </p:spPr>
      </p:cxnSp>
      <p:cxnSp>
        <p:nvCxnSpPr>
          <p:cNvPr id="223" name="Google Shape;223;p30"/>
          <p:cNvCxnSpPr/>
          <p:nvPr/>
        </p:nvCxnSpPr>
        <p:spPr>
          <a:xfrm flipH="1">
            <a:off x="6172200" y="3190875"/>
            <a:ext cx="931862" cy="9525"/>
          </a:xfrm>
          <a:prstGeom prst="straightConnector1">
            <a:avLst/>
          </a:prstGeom>
          <a:noFill/>
          <a:ln cap="flat" cmpd="sng" w="12700">
            <a:solidFill>
              <a:schemeClr val="dk1"/>
            </a:solidFill>
            <a:prstDash val="solid"/>
            <a:miter lim="800000"/>
            <a:headEnd len="med" w="med" type="none"/>
            <a:tailEnd len="med" w="med" type="none"/>
          </a:ln>
        </p:spPr>
      </p:cxnSp>
      <p:cxnSp>
        <p:nvCxnSpPr>
          <p:cNvPr id="224" name="Google Shape;224;p30"/>
          <p:cNvCxnSpPr/>
          <p:nvPr/>
        </p:nvCxnSpPr>
        <p:spPr>
          <a:xfrm>
            <a:off x="1800225" y="3179762"/>
            <a:ext cx="0" cy="469900"/>
          </a:xfrm>
          <a:prstGeom prst="straightConnector1">
            <a:avLst/>
          </a:prstGeom>
          <a:noFill/>
          <a:ln cap="flat" cmpd="sng" w="12700">
            <a:solidFill>
              <a:schemeClr val="dk1"/>
            </a:solidFill>
            <a:prstDash val="solid"/>
            <a:miter lim="800000"/>
            <a:headEnd len="med" w="med" type="none"/>
            <a:tailEnd len="med" w="med" type="triangle"/>
          </a:ln>
        </p:spPr>
      </p:cxnSp>
      <p:cxnSp>
        <p:nvCxnSpPr>
          <p:cNvPr id="225" name="Google Shape;225;p30"/>
          <p:cNvCxnSpPr/>
          <p:nvPr/>
        </p:nvCxnSpPr>
        <p:spPr>
          <a:xfrm>
            <a:off x="7102475" y="3181350"/>
            <a:ext cx="0" cy="447675"/>
          </a:xfrm>
          <a:prstGeom prst="straightConnector1">
            <a:avLst/>
          </a:prstGeom>
          <a:noFill/>
          <a:ln cap="flat" cmpd="sng" w="12700">
            <a:solidFill>
              <a:schemeClr val="dk1"/>
            </a:solidFill>
            <a:prstDash val="solid"/>
            <a:miter lim="800000"/>
            <a:headEnd len="med" w="med" type="none"/>
            <a:tailEnd len="med" w="med" type="triangle"/>
          </a:ln>
        </p:spPr>
      </p:cxnSp>
      <p:cxnSp>
        <p:nvCxnSpPr>
          <p:cNvPr id="226" name="Google Shape;226;p30"/>
          <p:cNvCxnSpPr/>
          <p:nvPr/>
        </p:nvCxnSpPr>
        <p:spPr>
          <a:xfrm>
            <a:off x="1811337" y="5129212"/>
            <a:ext cx="0" cy="490537"/>
          </a:xfrm>
          <a:prstGeom prst="straightConnector1">
            <a:avLst/>
          </a:prstGeom>
          <a:noFill/>
          <a:ln cap="flat" cmpd="sng" w="12700">
            <a:solidFill>
              <a:schemeClr val="dk1"/>
            </a:solidFill>
            <a:prstDash val="solid"/>
            <a:miter lim="800000"/>
            <a:headEnd len="med" w="med" type="none"/>
            <a:tailEnd len="med" w="med" type="none"/>
          </a:ln>
        </p:spPr>
      </p:cxnSp>
      <p:cxnSp>
        <p:nvCxnSpPr>
          <p:cNvPr id="227" name="Google Shape;227;p30"/>
          <p:cNvCxnSpPr/>
          <p:nvPr/>
        </p:nvCxnSpPr>
        <p:spPr>
          <a:xfrm>
            <a:off x="1801812" y="5619750"/>
            <a:ext cx="1250950" cy="0"/>
          </a:xfrm>
          <a:prstGeom prst="straightConnector1">
            <a:avLst/>
          </a:prstGeom>
          <a:noFill/>
          <a:ln cap="flat" cmpd="sng" w="12700">
            <a:solidFill>
              <a:schemeClr val="dk1"/>
            </a:solidFill>
            <a:prstDash val="solid"/>
            <a:miter lim="800000"/>
            <a:headEnd len="med" w="med" type="none"/>
            <a:tailEnd len="med" w="med" type="triangle"/>
          </a:ln>
        </p:spPr>
      </p:cxnSp>
      <p:cxnSp>
        <p:nvCxnSpPr>
          <p:cNvPr id="228" name="Google Shape;228;p30"/>
          <p:cNvCxnSpPr/>
          <p:nvPr/>
        </p:nvCxnSpPr>
        <p:spPr>
          <a:xfrm rot="10800000">
            <a:off x="5864225" y="5641975"/>
            <a:ext cx="1250950" cy="0"/>
          </a:xfrm>
          <a:prstGeom prst="straightConnector1">
            <a:avLst/>
          </a:prstGeom>
          <a:noFill/>
          <a:ln cap="flat" cmpd="sng" w="12700">
            <a:solidFill>
              <a:schemeClr val="dk1"/>
            </a:solidFill>
            <a:prstDash val="solid"/>
            <a:miter lim="800000"/>
            <a:headEnd len="med" w="med" type="none"/>
            <a:tailEnd len="med" w="med" type="triangle"/>
          </a:ln>
        </p:spPr>
      </p:cxnSp>
      <p:cxnSp>
        <p:nvCxnSpPr>
          <p:cNvPr id="229" name="Google Shape;229;p30"/>
          <p:cNvCxnSpPr/>
          <p:nvPr/>
        </p:nvCxnSpPr>
        <p:spPr>
          <a:xfrm rot="10800000">
            <a:off x="7123112" y="5059362"/>
            <a:ext cx="0" cy="579437"/>
          </a:xfrm>
          <a:prstGeom prst="straightConnector1">
            <a:avLst/>
          </a:prstGeom>
          <a:noFill/>
          <a:ln cap="flat" cmpd="sng" w="12700">
            <a:solidFill>
              <a:schemeClr val="dk1"/>
            </a:solidFill>
            <a:prstDash val="solid"/>
            <a:miter lim="800000"/>
            <a:headEnd len="med" w="med" type="none"/>
            <a:tailEnd len="med" w="med" type="none"/>
          </a:ln>
        </p:spPr>
      </p:cxnSp>
      <p:cxnSp>
        <p:nvCxnSpPr>
          <p:cNvPr id="230" name="Google Shape;230;p30"/>
          <p:cNvCxnSpPr/>
          <p:nvPr/>
        </p:nvCxnSpPr>
        <p:spPr>
          <a:xfrm flipH="1">
            <a:off x="4371975" y="2511425"/>
            <a:ext cx="1587" cy="427037"/>
          </a:xfrm>
          <a:prstGeom prst="straightConnector1">
            <a:avLst/>
          </a:prstGeom>
          <a:noFill/>
          <a:ln cap="flat" cmpd="sng" w="12700">
            <a:solidFill>
              <a:schemeClr val="dk1"/>
            </a:solidFill>
            <a:prstDash val="solid"/>
            <a:miter lim="800000"/>
            <a:headEnd len="med" w="med" type="none"/>
            <a:tailEnd len="med" w="med" type="triangle"/>
          </a:ln>
        </p:spPr>
      </p:cxnSp>
      <p:cxnSp>
        <p:nvCxnSpPr>
          <p:cNvPr id="231" name="Google Shape;231;p30"/>
          <p:cNvCxnSpPr/>
          <p:nvPr/>
        </p:nvCxnSpPr>
        <p:spPr>
          <a:xfrm>
            <a:off x="4403725" y="5862637"/>
            <a:ext cx="7937" cy="285750"/>
          </a:xfrm>
          <a:prstGeom prst="straightConnector1">
            <a:avLst/>
          </a:prstGeom>
          <a:noFill/>
          <a:ln cap="flat" cmpd="sng" w="12700">
            <a:solidFill>
              <a:schemeClr val="dk1"/>
            </a:solidFill>
            <a:prstDash val="solid"/>
            <a:miter lim="800000"/>
            <a:headEnd len="med" w="med" type="none"/>
            <a:tailEnd len="med" w="med" type="triangl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1"/>
          <p:cNvSpPr txBox="1"/>
          <p:nvPr/>
        </p:nvSpPr>
        <p:spPr>
          <a:xfrm>
            <a:off x="381000" y="0"/>
            <a:ext cx="8229600" cy="990600"/>
          </a:xfrm>
          <a:prstGeom prst="rect">
            <a:avLst/>
          </a:prstGeom>
          <a:noFill/>
          <a:ln>
            <a:noFill/>
          </a:ln>
        </p:spPr>
        <p:txBody>
          <a:bodyPr anchorCtr="0" anchor="b" bIns="44450" lIns="90475" spcFirstLastPara="1" rIns="90475" wrap="square" tIns="44450">
            <a:noAutofit/>
          </a:bodyPr>
          <a:lstStyle/>
          <a:p>
            <a:pPr indent="0" lvl="0" marL="0" marR="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1. Define the Target Population</a:t>
            </a:r>
            <a:endParaRPr/>
          </a:p>
        </p:txBody>
      </p:sp>
      <p:sp>
        <p:nvSpPr>
          <p:cNvPr id="238" name="Google Shape;238;p31"/>
          <p:cNvSpPr txBox="1"/>
          <p:nvPr/>
        </p:nvSpPr>
        <p:spPr>
          <a:xfrm>
            <a:off x="152400" y="1219200"/>
            <a:ext cx="8763000" cy="5105400"/>
          </a:xfrm>
          <a:prstGeom prst="rect">
            <a:avLst/>
          </a:prstGeom>
          <a:noFill/>
          <a:ln>
            <a:noFill/>
          </a:ln>
        </p:spPr>
        <p:txBody>
          <a:bodyPr anchorCtr="0" anchor="t" bIns="44450" lIns="90475" spcFirstLastPara="1" rIns="90475" wrap="square" tIns="44450">
            <a:noAutofit/>
          </a:bodyPr>
          <a:lstStyle/>
          <a:p>
            <a:pPr indent="-342900" lvl="0" marL="342900" marR="0" rtl="0" algn="just">
              <a:lnSpc>
                <a:spcPct val="100000"/>
              </a:lnSpc>
              <a:spcBef>
                <a:spcPts val="0"/>
              </a:spcBef>
              <a:spcAft>
                <a:spcPts val="0"/>
              </a:spcAft>
              <a:buClr>
                <a:schemeClr val="dk1"/>
              </a:buClr>
              <a:buSzPts val="2800"/>
              <a:buFont typeface="Noto Sans Symbols"/>
              <a:buChar char="⮚"/>
            </a:pPr>
            <a:r>
              <a:rPr b="0" i="0" lang="en-US" sz="2800" u="none">
                <a:solidFill>
                  <a:schemeClr val="dk1"/>
                </a:solidFill>
                <a:latin typeface="Times New Roman"/>
                <a:ea typeface="Times New Roman"/>
                <a:cs typeface="Times New Roman"/>
                <a:sym typeface="Times New Roman"/>
              </a:rPr>
              <a:t>It addresses the question “Ideally, who do you want to survey?” i.e. those who have the information sought  What are their characteristics. Who should be excluded?</a:t>
            </a:r>
            <a:endParaRPr/>
          </a:p>
          <a:p>
            <a:pPr indent="-285750" lvl="1" marL="742950" marR="0" rtl="0" algn="just">
              <a:lnSpc>
                <a:spcPct val="100000"/>
              </a:lnSpc>
              <a:spcBef>
                <a:spcPts val="560"/>
              </a:spcBef>
              <a:spcAft>
                <a:spcPts val="0"/>
              </a:spcAft>
              <a:buClr>
                <a:schemeClr val="dk1"/>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age, gender, product use, those in industry</a:t>
            </a:r>
            <a:endParaRPr/>
          </a:p>
          <a:p>
            <a:pPr indent="-285750" lvl="1" marL="742950" marR="0" rtl="0" algn="just">
              <a:lnSpc>
                <a:spcPct val="100000"/>
              </a:lnSpc>
              <a:spcBef>
                <a:spcPts val="560"/>
              </a:spcBef>
              <a:spcAft>
                <a:spcPts val="0"/>
              </a:spcAft>
              <a:buClr>
                <a:schemeClr val="dk1"/>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Geographic area</a:t>
            </a:r>
            <a:endParaRPr/>
          </a:p>
          <a:p>
            <a:pPr indent="-342900" lvl="0" marL="342900" marR="0" rtl="0" algn="just">
              <a:lnSpc>
                <a:spcPct val="100000"/>
              </a:lnSpc>
              <a:spcBef>
                <a:spcPts val="560"/>
              </a:spcBef>
              <a:spcAft>
                <a:spcPts val="0"/>
              </a:spcAft>
              <a:buClr>
                <a:schemeClr val="dk1"/>
              </a:buClr>
              <a:buSzPts val="2800"/>
              <a:buFont typeface="Noto Sans Symbols"/>
              <a:buChar char="⮚"/>
            </a:pPr>
            <a:r>
              <a:rPr b="0" i="0" lang="en-US" sz="2800" u="none">
                <a:solidFill>
                  <a:schemeClr val="dk1"/>
                </a:solidFill>
                <a:latin typeface="Times New Roman"/>
                <a:ea typeface="Times New Roman"/>
                <a:cs typeface="Times New Roman"/>
                <a:sym typeface="Times New Roman"/>
              </a:rPr>
              <a:t>It involves </a:t>
            </a:r>
            <a:endParaRPr/>
          </a:p>
          <a:p>
            <a:pPr indent="-285750" lvl="1" marL="742950" marR="0" rtl="0" algn="just">
              <a:lnSpc>
                <a:spcPct val="120000"/>
              </a:lnSpc>
              <a:spcBef>
                <a:spcPts val="560"/>
              </a:spcBef>
              <a:spcAft>
                <a:spcPts val="0"/>
              </a:spcAft>
              <a:buClr>
                <a:schemeClr val="dk1"/>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defining population units</a:t>
            </a:r>
            <a:endParaRPr/>
          </a:p>
          <a:p>
            <a:pPr indent="-285750" lvl="1" marL="742950" marR="0" rtl="0" algn="just">
              <a:lnSpc>
                <a:spcPct val="120000"/>
              </a:lnSpc>
              <a:spcBef>
                <a:spcPts val="560"/>
              </a:spcBef>
              <a:spcAft>
                <a:spcPts val="0"/>
              </a:spcAft>
              <a:buClr>
                <a:schemeClr val="dk1"/>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setting population boundaries</a:t>
            </a:r>
            <a:endParaRPr/>
          </a:p>
          <a:p>
            <a:pPr indent="-285750" lvl="1" marL="742950" marR="0" rtl="0" algn="just">
              <a:lnSpc>
                <a:spcPct val="120000"/>
              </a:lnSpc>
              <a:spcBef>
                <a:spcPts val="560"/>
              </a:spcBef>
              <a:spcAft>
                <a:spcPts val="0"/>
              </a:spcAft>
              <a:buClr>
                <a:schemeClr val="dk1"/>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Screening (e.g. security questions, product use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2"/>
          <p:cNvSpPr txBox="1"/>
          <p:nvPr/>
        </p:nvSpPr>
        <p:spPr>
          <a:xfrm>
            <a:off x="304800" y="1447800"/>
            <a:ext cx="8382000" cy="4876800"/>
          </a:xfrm>
          <a:prstGeom prst="rect">
            <a:avLst/>
          </a:prstGeom>
          <a:noFill/>
          <a:ln>
            <a:noFill/>
          </a:ln>
        </p:spPr>
        <p:txBody>
          <a:bodyPr anchorCtr="0" anchor="t" bIns="44450" lIns="90475" spcFirstLastPara="1" rIns="90475" wrap="square" tIns="44450">
            <a:noAutofit/>
          </a:bodyPr>
          <a:lstStyle/>
          <a:p>
            <a:pPr indent="-342900" lvl="0" marL="342900" marR="0" rtl="0" algn="ctr">
              <a:lnSpc>
                <a:spcPct val="100000"/>
              </a:lnSpc>
              <a:spcBef>
                <a:spcPts val="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56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	The Element  ......	</a:t>
            </a:r>
            <a:r>
              <a:rPr b="0" i="1" lang="en-US" sz="2800" u="none">
                <a:solidFill>
                  <a:schemeClr val="dk1"/>
                </a:solidFill>
                <a:latin typeface="Times New Roman"/>
                <a:ea typeface="Times New Roman"/>
                <a:cs typeface="Times New Roman"/>
                <a:sym typeface="Times New Roman"/>
              </a:rPr>
              <a:t>individuals</a:t>
            </a:r>
            <a:endParaRPr/>
          </a:p>
          <a:p>
            <a:pPr indent="-342900" lvl="0" marL="342900" marR="0" rtl="0" algn="l">
              <a:lnSpc>
                <a:spcPct val="100000"/>
              </a:lnSpc>
              <a:spcBef>
                <a:spcPts val="560"/>
              </a:spcBef>
              <a:spcAft>
                <a:spcPts val="0"/>
              </a:spcAft>
              <a:buClr>
                <a:schemeClr val="dk1"/>
              </a:buClr>
              <a:buSzPts val="2800"/>
              <a:buFont typeface="Times New Roman"/>
              <a:buNone/>
            </a:pPr>
            <a:r>
              <a:rPr b="0" i="1" lang="en-US" sz="2800" u="none">
                <a:solidFill>
                  <a:schemeClr val="dk1"/>
                </a:solidFill>
                <a:latin typeface="Times New Roman"/>
                <a:ea typeface="Times New Roman"/>
                <a:cs typeface="Times New Roman"/>
                <a:sym typeface="Times New Roman"/>
              </a:rPr>
              <a:t>				families</a:t>
            </a:r>
            <a:endParaRPr/>
          </a:p>
          <a:p>
            <a:pPr indent="-342900" lvl="0" marL="342900" marR="0" rtl="0" algn="l">
              <a:lnSpc>
                <a:spcPct val="100000"/>
              </a:lnSpc>
              <a:spcBef>
                <a:spcPts val="560"/>
              </a:spcBef>
              <a:spcAft>
                <a:spcPts val="0"/>
              </a:spcAft>
              <a:buClr>
                <a:schemeClr val="dk1"/>
              </a:buClr>
              <a:buSzPts val="2800"/>
              <a:buFont typeface="Times New Roman"/>
              <a:buNone/>
            </a:pPr>
            <a:r>
              <a:rPr b="0" i="1" lang="en-US" sz="2800" u="none">
                <a:solidFill>
                  <a:schemeClr val="dk1"/>
                </a:solidFill>
                <a:latin typeface="Times New Roman"/>
                <a:ea typeface="Times New Roman"/>
                <a:cs typeface="Times New Roman"/>
                <a:sym typeface="Times New Roman"/>
              </a:rPr>
              <a:t>				seminar groups</a:t>
            </a:r>
            <a:endParaRPr/>
          </a:p>
          <a:p>
            <a:pPr indent="-342900" lvl="0" marL="342900" marR="0" rtl="0" algn="l">
              <a:lnSpc>
                <a:spcPct val="100000"/>
              </a:lnSpc>
              <a:spcBef>
                <a:spcPts val="560"/>
              </a:spcBef>
              <a:spcAft>
                <a:spcPts val="0"/>
              </a:spcAft>
              <a:buClr>
                <a:schemeClr val="dk1"/>
              </a:buClr>
              <a:buSzPts val="2800"/>
              <a:buFont typeface="Times New Roman"/>
              <a:buNone/>
            </a:pPr>
            <a:r>
              <a:t/>
            </a:r>
            <a:endParaRPr b="0" i="1" sz="28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560"/>
              </a:spcBef>
              <a:spcAft>
                <a:spcPts val="0"/>
              </a:spcAft>
              <a:buClr>
                <a:schemeClr val="dk1"/>
              </a:buClr>
              <a:buSzPts val="2800"/>
              <a:buFont typeface="Times New Roman"/>
              <a:buNone/>
            </a:pPr>
            <a:r>
              <a:rPr b="0" i="1" lang="en-US" sz="2800" u="none">
                <a:solidFill>
                  <a:schemeClr val="dk1"/>
                </a:solidFill>
                <a:latin typeface="Times New Roman"/>
                <a:ea typeface="Times New Roman"/>
                <a:cs typeface="Times New Roman"/>
                <a:sym typeface="Times New Roman"/>
              </a:rPr>
              <a:t>	</a:t>
            </a:r>
            <a:r>
              <a:rPr b="0" i="0" lang="en-US" sz="2800" u="none">
                <a:solidFill>
                  <a:schemeClr val="dk1"/>
                </a:solidFill>
                <a:latin typeface="Times New Roman"/>
                <a:ea typeface="Times New Roman"/>
                <a:cs typeface="Times New Roman"/>
                <a:sym typeface="Times New Roman"/>
              </a:rPr>
              <a:t>sampling Unit</a:t>
            </a:r>
            <a:r>
              <a:rPr b="0" i="1" lang="en-US" sz="2800" u="none">
                <a:solidFill>
                  <a:schemeClr val="dk1"/>
                </a:solidFill>
                <a:latin typeface="Times New Roman"/>
                <a:ea typeface="Times New Roman"/>
                <a:cs typeface="Times New Roman"/>
                <a:sym typeface="Times New Roman"/>
              </a:rPr>
              <a:t>….      individuals over 20</a:t>
            </a:r>
            <a:endParaRPr/>
          </a:p>
          <a:p>
            <a:pPr indent="-342900" lvl="0" marL="342900" marR="0" rtl="0" algn="l">
              <a:lnSpc>
                <a:spcPct val="100000"/>
              </a:lnSpc>
              <a:spcBef>
                <a:spcPts val="560"/>
              </a:spcBef>
              <a:spcAft>
                <a:spcPts val="0"/>
              </a:spcAft>
              <a:buClr>
                <a:schemeClr val="dk1"/>
              </a:buClr>
              <a:buSzPts val="2800"/>
              <a:buFont typeface="Times New Roman"/>
              <a:buNone/>
            </a:pPr>
            <a:r>
              <a:rPr b="0" i="1" lang="en-US" sz="2800" u="none">
                <a:solidFill>
                  <a:schemeClr val="dk1"/>
                </a:solidFill>
                <a:latin typeface="Times New Roman"/>
                <a:ea typeface="Times New Roman"/>
                <a:cs typeface="Times New Roman"/>
                <a:sym typeface="Times New Roman"/>
              </a:rPr>
              <a:t>				families with 2 kids</a:t>
            </a:r>
            <a:endParaRPr/>
          </a:p>
          <a:p>
            <a:pPr indent="-342900" lvl="0" marL="342900" marR="0" rtl="0" algn="l">
              <a:lnSpc>
                <a:spcPct val="100000"/>
              </a:lnSpc>
              <a:spcBef>
                <a:spcPts val="560"/>
              </a:spcBef>
              <a:spcAft>
                <a:spcPts val="0"/>
              </a:spcAft>
              <a:buClr>
                <a:schemeClr val="dk1"/>
              </a:buClr>
              <a:buSzPts val="2800"/>
              <a:buFont typeface="Times New Roman"/>
              <a:buNone/>
            </a:pPr>
            <a:r>
              <a:rPr b="0" i="1" lang="en-US" sz="2800" u="none">
                <a:solidFill>
                  <a:schemeClr val="dk1"/>
                </a:solidFill>
                <a:latin typeface="Times New Roman"/>
                <a:ea typeface="Times New Roman"/>
                <a:cs typeface="Times New Roman"/>
                <a:sym typeface="Times New Roman"/>
              </a:rPr>
              <a:t>				seminar groups at ”new” university</a:t>
            </a:r>
            <a:endParaRPr/>
          </a:p>
          <a:p>
            <a:pPr indent="-342900" lvl="0" marL="342900" marR="0" rtl="0" algn="l">
              <a:lnSpc>
                <a:spcPct val="100000"/>
              </a:lnSpc>
              <a:spcBef>
                <a:spcPts val="560"/>
              </a:spcBef>
              <a:spcAft>
                <a:spcPts val="0"/>
              </a:spcAft>
              <a:buClr>
                <a:schemeClr val="dk1"/>
              </a:buClr>
              <a:buSzPts val="2800"/>
              <a:buFont typeface="Times New Roman"/>
              <a:buNone/>
            </a:pPr>
            <a:r>
              <a:t/>
            </a:r>
            <a:endParaRPr b="0" i="1" sz="28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560"/>
              </a:spcBef>
              <a:spcAft>
                <a:spcPts val="0"/>
              </a:spcAft>
              <a:buClr>
                <a:schemeClr val="dk1"/>
              </a:buClr>
              <a:buSzPts val="2800"/>
              <a:buFont typeface="Times New Roman"/>
              <a:buNone/>
            </a:pPr>
            <a:r>
              <a:rPr b="0" i="1" lang="en-US" sz="2800" u="none">
                <a:solidFill>
                  <a:schemeClr val="dk1"/>
                </a:solidFill>
                <a:latin typeface="Times New Roman"/>
                <a:ea typeface="Times New Roman"/>
                <a:cs typeface="Times New Roman"/>
                <a:sym typeface="Times New Roman"/>
              </a:rPr>
              <a:t>		</a:t>
            </a:r>
            <a:endParaRPr/>
          </a:p>
          <a:p>
            <a:pPr indent="-342900" lvl="0" marL="342900" marR="0" rtl="0" algn="l">
              <a:lnSpc>
                <a:spcPct val="100000"/>
              </a:lnSpc>
              <a:spcBef>
                <a:spcPts val="560"/>
              </a:spcBef>
              <a:spcAft>
                <a:spcPts val="0"/>
              </a:spcAft>
              <a:buClr>
                <a:schemeClr val="dk1"/>
              </a:buClr>
              <a:buSzPts val="2800"/>
              <a:buFont typeface="Times New Roman"/>
              <a:buNone/>
            </a:pPr>
            <a:r>
              <a:t/>
            </a:r>
            <a:endParaRPr b="0" i="1" sz="28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560"/>
              </a:spcBef>
              <a:spcAft>
                <a:spcPts val="0"/>
              </a:spcAft>
              <a:buClr>
                <a:schemeClr val="dk1"/>
              </a:buClr>
              <a:buSzPts val="2800"/>
              <a:buFont typeface="Times New Roman"/>
              <a:buNone/>
            </a:pPr>
            <a:r>
              <a:rPr b="0" i="1" lang="en-US" sz="2800" u="none">
                <a:solidFill>
                  <a:schemeClr val="dk1"/>
                </a:solidFill>
                <a:latin typeface="Times New Roman"/>
                <a:ea typeface="Times New Roman"/>
                <a:cs typeface="Times New Roman"/>
                <a:sym typeface="Times New Roman"/>
              </a:rPr>
              <a:t>		</a:t>
            </a:r>
            <a:endParaRPr/>
          </a:p>
        </p:txBody>
      </p:sp>
      <p:sp>
        <p:nvSpPr>
          <p:cNvPr id="245" name="Google Shape;245;p32"/>
          <p:cNvSpPr txBox="1"/>
          <p:nvPr/>
        </p:nvSpPr>
        <p:spPr>
          <a:xfrm>
            <a:off x="304800" y="0"/>
            <a:ext cx="8229600" cy="1066800"/>
          </a:xfrm>
          <a:prstGeom prst="rect">
            <a:avLst/>
          </a:prstGeom>
          <a:noFill/>
          <a:ln>
            <a:noFill/>
          </a:ln>
        </p:spPr>
        <p:txBody>
          <a:bodyPr anchorCtr="0" anchor="b" bIns="44450" lIns="90475" spcFirstLastPara="1" rIns="90475" wrap="square" tIns="4445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6" name="Google Shape;246;p32"/>
          <p:cNvSpPr txBox="1"/>
          <p:nvPr/>
        </p:nvSpPr>
        <p:spPr>
          <a:xfrm>
            <a:off x="152400" y="228600"/>
            <a:ext cx="8915400" cy="762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1. Define the Target Population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3"/>
          <p:cNvSpPr txBox="1"/>
          <p:nvPr>
            <p:ph type="title"/>
          </p:nvPr>
        </p:nvSpPr>
        <p:spPr>
          <a:xfrm>
            <a:off x="685800" y="76200"/>
            <a:ext cx="7848600" cy="838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Sampling Methods</a:t>
            </a:r>
            <a:endParaRPr/>
          </a:p>
        </p:txBody>
      </p:sp>
      <p:sp>
        <p:nvSpPr>
          <p:cNvPr id="253" name="Google Shape;253;p33"/>
          <p:cNvSpPr txBox="1"/>
          <p:nvPr>
            <p:ph idx="1" type="body"/>
          </p:nvPr>
        </p:nvSpPr>
        <p:spPr>
          <a:xfrm>
            <a:off x="381000" y="1066800"/>
            <a:ext cx="8534400" cy="54102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Noto Sans Symbols"/>
              <a:buChar char="⮚"/>
            </a:pPr>
            <a:r>
              <a:rPr b="0" i="0" lang="en-US" sz="2800" u="none">
                <a:solidFill>
                  <a:schemeClr val="dk1"/>
                </a:solidFill>
                <a:latin typeface="Times New Roman"/>
                <a:ea typeface="Times New Roman"/>
                <a:cs typeface="Times New Roman"/>
                <a:sym typeface="Times New Roman"/>
              </a:rPr>
              <a:t>Probability sampling - equal chance of being included in the sample (random)</a:t>
            </a:r>
            <a:endParaRPr/>
          </a:p>
          <a:p>
            <a:pPr indent="-285750" lvl="1" marL="742950" rtl="0" algn="l">
              <a:lnSpc>
                <a:spcPct val="100000"/>
              </a:lnSpc>
              <a:spcBef>
                <a:spcPts val="60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simple random sampling</a:t>
            </a:r>
            <a:endParaRPr/>
          </a:p>
          <a:p>
            <a:pPr indent="-285750" lvl="1" marL="742950" rtl="0" algn="l">
              <a:lnSpc>
                <a:spcPct val="100000"/>
              </a:lnSpc>
              <a:spcBef>
                <a:spcPts val="60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systematic sampling</a:t>
            </a:r>
            <a:endParaRPr/>
          </a:p>
          <a:p>
            <a:pPr indent="-285750" lvl="1" marL="742950" rtl="0" algn="l">
              <a:lnSpc>
                <a:spcPct val="100000"/>
              </a:lnSpc>
              <a:spcBef>
                <a:spcPts val="60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stratified sampling</a:t>
            </a:r>
            <a:endParaRPr/>
          </a:p>
          <a:p>
            <a:pPr indent="-285750" lvl="1" marL="742950" rtl="0" algn="l">
              <a:lnSpc>
                <a:spcPct val="100000"/>
              </a:lnSpc>
              <a:spcBef>
                <a:spcPts val="60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cluster sampling</a:t>
            </a:r>
            <a:endParaRPr/>
          </a:p>
          <a:p>
            <a:pPr indent="-342900" lvl="0" marL="342900" rtl="0" algn="l">
              <a:lnSpc>
                <a:spcPct val="100000"/>
              </a:lnSpc>
              <a:spcBef>
                <a:spcPts val="560"/>
              </a:spcBef>
              <a:spcAft>
                <a:spcPts val="0"/>
              </a:spcAft>
              <a:buClr>
                <a:schemeClr val="dk1"/>
              </a:buClr>
              <a:buSzPts val="2800"/>
              <a:buFont typeface="Noto Sans Symbols"/>
              <a:buChar char="⮚"/>
            </a:pPr>
            <a:r>
              <a:rPr b="0" i="0" lang="en-US" sz="2800" u="none">
                <a:solidFill>
                  <a:schemeClr val="dk1"/>
                </a:solidFill>
                <a:latin typeface="Times New Roman"/>
                <a:ea typeface="Times New Roman"/>
                <a:cs typeface="Times New Roman"/>
                <a:sym typeface="Times New Roman"/>
              </a:rPr>
              <a:t>Non-probability sampling - - unequal chance of being included in the sample (non-random)</a:t>
            </a:r>
            <a:endParaRPr b="0" i="0" sz="2800" u="sng">
              <a:solidFill>
                <a:schemeClr val="dk1"/>
              </a:solidFill>
              <a:latin typeface="Times New Roman"/>
              <a:ea typeface="Times New Roman"/>
              <a:cs typeface="Times New Roman"/>
              <a:sym typeface="Times New Roman"/>
            </a:endParaRPr>
          </a:p>
          <a:p>
            <a:pPr indent="-285750" lvl="1" marL="742950" rtl="0" algn="l">
              <a:lnSpc>
                <a:spcPct val="100000"/>
              </a:lnSpc>
              <a:spcBef>
                <a:spcPts val="60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convenience sampling	</a:t>
            </a:r>
            <a:endParaRPr/>
          </a:p>
          <a:p>
            <a:pPr indent="-285750" lvl="1" marL="742950" rtl="0" algn="l">
              <a:lnSpc>
                <a:spcPct val="100000"/>
              </a:lnSpc>
              <a:spcBef>
                <a:spcPts val="60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judgement sampling</a:t>
            </a:r>
            <a:endParaRPr/>
          </a:p>
          <a:p>
            <a:pPr indent="-285750" lvl="1" marL="742950" rtl="0" algn="l">
              <a:lnSpc>
                <a:spcPct val="100000"/>
              </a:lnSpc>
              <a:spcBef>
                <a:spcPts val="60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snowball sampling</a:t>
            </a:r>
            <a:endParaRPr/>
          </a:p>
          <a:p>
            <a:pPr indent="-285750" lvl="1" marL="742950" rtl="0" algn="l">
              <a:lnSpc>
                <a:spcPct val="100000"/>
              </a:lnSpc>
              <a:spcBef>
                <a:spcPts val="60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quota sampling</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4"/>
          <p:cNvSpPr txBox="1"/>
          <p:nvPr>
            <p:ph type="title"/>
          </p:nvPr>
        </p:nvSpPr>
        <p:spPr>
          <a:xfrm>
            <a:off x="457200" y="304800"/>
            <a:ext cx="7848600" cy="838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1. Probability Sampling </a:t>
            </a:r>
            <a:endParaRPr/>
          </a:p>
        </p:txBody>
      </p:sp>
      <p:sp>
        <p:nvSpPr>
          <p:cNvPr id="260" name="Google Shape;260;p34"/>
          <p:cNvSpPr txBox="1"/>
          <p:nvPr>
            <p:ph idx="1" type="body"/>
          </p:nvPr>
        </p:nvSpPr>
        <p:spPr>
          <a:xfrm>
            <a:off x="304800" y="1219200"/>
            <a:ext cx="8686800" cy="45720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Noto Sans Symbols"/>
              <a:buChar char="⮚"/>
            </a:pPr>
            <a:r>
              <a:rPr b="0" i="0" lang="en-US" sz="2800" u="none">
                <a:solidFill>
                  <a:schemeClr val="dk1"/>
                </a:solidFill>
                <a:latin typeface="Times New Roman"/>
                <a:ea typeface="Times New Roman"/>
                <a:cs typeface="Times New Roman"/>
                <a:sym typeface="Times New Roman"/>
              </a:rPr>
              <a:t>An objective procedure in which the probability of selection is </a:t>
            </a:r>
            <a:r>
              <a:rPr b="0" i="0" lang="en-US" sz="2800" u="sng">
                <a:solidFill>
                  <a:schemeClr val="dk1"/>
                </a:solidFill>
                <a:latin typeface="Times New Roman"/>
                <a:ea typeface="Times New Roman"/>
                <a:cs typeface="Times New Roman"/>
                <a:sym typeface="Times New Roman"/>
              </a:rPr>
              <a:t>nonzero</a:t>
            </a:r>
            <a:r>
              <a:rPr b="0" i="0" lang="en-US" sz="2800" u="none">
                <a:solidFill>
                  <a:schemeClr val="dk1"/>
                </a:solidFill>
                <a:latin typeface="Times New Roman"/>
                <a:ea typeface="Times New Roman"/>
                <a:cs typeface="Times New Roman"/>
                <a:sym typeface="Times New Roman"/>
              </a:rPr>
              <a:t> and is </a:t>
            </a:r>
            <a:r>
              <a:rPr b="0" i="0" lang="en-US" sz="2800" u="sng">
                <a:solidFill>
                  <a:schemeClr val="dk1"/>
                </a:solidFill>
                <a:latin typeface="Times New Roman"/>
                <a:ea typeface="Times New Roman"/>
                <a:cs typeface="Times New Roman"/>
                <a:sym typeface="Times New Roman"/>
              </a:rPr>
              <a:t>known in advance</a:t>
            </a:r>
            <a:r>
              <a:rPr b="0" i="0" lang="en-US" sz="2800" u="none">
                <a:solidFill>
                  <a:schemeClr val="dk1"/>
                </a:solidFill>
                <a:latin typeface="Times New Roman"/>
                <a:ea typeface="Times New Roman"/>
                <a:cs typeface="Times New Roman"/>
                <a:sym typeface="Times New Roman"/>
              </a:rPr>
              <a:t> for each population unit.</a:t>
            </a:r>
            <a:endParaRPr/>
          </a:p>
          <a:p>
            <a:pPr indent="-342900" lvl="0" marL="342900" rtl="0" algn="l">
              <a:lnSpc>
                <a:spcPct val="100000"/>
              </a:lnSpc>
              <a:spcBef>
                <a:spcPts val="700"/>
              </a:spcBef>
              <a:spcAft>
                <a:spcPts val="0"/>
              </a:spcAft>
              <a:buClr>
                <a:schemeClr val="dk1"/>
              </a:buClr>
              <a:buSzPts val="2800"/>
              <a:buFont typeface="Noto Sans Symbols"/>
              <a:buChar char="⮚"/>
            </a:pPr>
            <a:r>
              <a:rPr b="0" i="0" lang="en-US" sz="2800" u="none">
                <a:solidFill>
                  <a:schemeClr val="dk1"/>
                </a:solidFill>
                <a:latin typeface="Times New Roman"/>
                <a:ea typeface="Times New Roman"/>
                <a:cs typeface="Times New Roman"/>
                <a:sym typeface="Times New Roman"/>
              </a:rPr>
              <a:t>Every unit in the population has equal chance of getting selected</a:t>
            </a:r>
            <a:endParaRPr/>
          </a:p>
          <a:p>
            <a:pPr indent="-342900" lvl="0" marL="342900" rtl="0" algn="l">
              <a:lnSpc>
                <a:spcPct val="100000"/>
              </a:lnSpc>
              <a:spcBef>
                <a:spcPts val="700"/>
              </a:spcBef>
              <a:spcAft>
                <a:spcPts val="0"/>
              </a:spcAft>
              <a:buClr>
                <a:schemeClr val="dk1"/>
              </a:buClr>
              <a:buSzPts val="2800"/>
              <a:buFont typeface="Noto Sans Symbols"/>
              <a:buChar char="⮚"/>
            </a:pPr>
            <a:r>
              <a:rPr b="0" i="0" lang="en-US" sz="2800" u="none">
                <a:solidFill>
                  <a:schemeClr val="dk1"/>
                </a:solidFill>
                <a:latin typeface="Times New Roman"/>
                <a:ea typeface="Times New Roman"/>
                <a:cs typeface="Times New Roman"/>
                <a:sym typeface="Times New Roman"/>
              </a:rPr>
              <a:t>It is also called random sampling.</a:t>
            </a:r>
            <a:endParaRPr/>
          </a:p>
          <a:p>
            <a:pPr indent="-342900" lvl="0" marL="342900" rtl="0" algn="l">
              <a:lnSpc>
                <a:spcPct val="100000"/>
              </a:lnSpc>
              <a:spcBef>
                <a:spcPts val="700"/>
              </a:spcBef>
              <a:spcAft>
                <a:spcPts val="0"/>
              </a:spcAft>
              <a:buClr>
                <a:schemeClr val="dk1"/>
              </a:buClr>
              <a:buSzPts val="2800"/>
              <a:buFont typeface="Noto Sans Symbols"/>
              <a:buChar char="⮚"/>
            </a:pPr>
            <a:r>
              <a:rPr b="0" i="0" lang="en-US" sz="2800" u="none">
                <a:solidFill>
                  <a:schemeClr val="dk1"/>
                </a:solidFill>
                <a:latin typeface="Times New Roman"/>
                <a:ea typeface="Times New Roman"/>
                <a:cs typeface="Times New Roman"/>
                <a:sym typeface="Times New Roman"/>
              </a:rPr>
              <a:t>Ensures information is obtained from a representative sample of the population</a:t>
            </a:r>
            <a:endParaRPr/>
          </a:p>
          <a:p>
            <a:pPr indent="-342900" lvl="0" marL="342900" rtl="0" algn="l">
              <a:lnSpc>
                <a:spcPct val="100000"/>
              </a:lnSpc>
              <a:spcBef>
                <a:spcPts val="700"/>
              </a:spcBef>
              <a:spcAft>
                <a:spcPts val="0"/>
              </a:spcAft>
              <a:buClr>
                <a:schemeClr val="dk1"/>
              </a:buClr>
              <a:buSzPts val="2800"/>
              <a:buFont typeface="Noto Sans Symbols"/>
              <a:buChar char="⮚"/>
            </a:pPr>
            <a:r>
              <a:rPr b="0" i="0" lang="en-US" sz="2800" u="none">
                <a:solidFill>
                  <a:schemeClr val="dk1"/>
                </a:solidFill>
                <a:latin typeface="Times New Roman"/>
                <a:ea typeface="Times New Roman"/>
                <a:cs typeface="Times New Roman"/>
                <a:sym typeface="Times New Roman"/>
              </a:rPr>
              <a:t>Sampling error can be computed</a:t>
            </a:r>
            <a:endParaRPr/>
          </a:p>
          <a:p>
            <a:pPr indent="-342900" lvl="0" marL="342900" rtl="0" algn="l">
              <a:lnSpc>
                <a:spcPct val="100000"/>
              </a:lnSpc>
              <a:spcBef>
                <a:spcPts val="700"/>
              </a:spcBef>
              <a:spcAft>
                <a:spcPts val="0"/>
              </a:spcAft>
              <a:buClr>
                <a:schemeClr val="dk1"/>
              </a:buClr>
              <a:buSzPts val="2800"/>
              <a:buFont typeface="Noto Sans Symbols"/>
              <a:buChar char="⮚"/>
            </a:pPr>
            <a:r>
              <a:rPr b="0" i="0" lang="en-US" sz="2800" u="none">
                <a:solidFill>
                  <a:schemeClr val="dk1"/>
                </a:solidFill>
                <a:latin typeface="Times New Roman"/>
                <a:ea typeface="Times New Roman"/>
                <a:cs typeface="Times New Roman"/>
                <a:sym typeface="Times New Roman"/>
              </a:rPr>
              <a:t>Survey results can be projected to the population</a:t>
            </a:r>
            <a:endParaRPr/>
          </a:p>
          <a:p>
            <a:pPr indent="-342900" lvl="0" marL="342900" rtl="0" algn="l">
              <a:lnSpc>
                <a:spcPct val="100000"/>
              </a:lnSpc>
              <a:spcBef>
                <a:spcPts val="700"/>
              </a:spcBef>
              <a:spcAft>
                <a:spcPts val="0"/>
              </a:spcAft>
              <a:buClr>
                <a:schemeClr val="dk1"/>
              </a:buClr>
              <a:buSzPts val="2800"/>
              <a:buFont typeface="Noto Sans Symbols"/>
              <a:buChar char="⮚"/>
            </a:pPr>
            <a:r>
              <a:rPr b="0" i="0" lang="en-US" sz="2800" u="none">
                <a:solidFill>
                  <a:schemeClr val="dk1"/>
                </a:solidFill>
                <a:latin typeface="Times New Roman"/>
                <a:ea typeface="Times New Roman"/>
                <a:cs typeface="Times New Roman"/>
                <a:sym typeface="Times New Roman"/>
              </a:rPr>
              <a:t>More expensive than non-probability samples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5"/>
          <p:cNvSpPr txBox="1"/>
          <p:nvPr>
            <p:ph type="title"/>
          </p:nvPr>
        </p:nvSpPr>
        <p:spPr>
          <a:xfrm>
            <a:off x="685800" y="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Simple Random Sampling (SRS)</a:t>
            </a:r>
            <a:endParaRPr/>
          </a:p>
        </p:txBody>
      </p:sp>
      <p:sp>
        <p:nvSpPr>
          <p:cNvPr id="267" name="Google Shape;267;p35"/>
          <p:cNvSpPr txBox="1"/>
          <p:nvPr>
            <p:ph idx="1" type="body"/>
          </p:nvPr>
        </p:nvSpPr>
        <p:spPr>
          <a:xfrm>
            <a:off x="152400" y="1524000"/>
            <a:ext cx="8991600" cy="4800600"/>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Population members are selected directly from the sampling frame</a:t>
            </a:r>
            <a:endParaRPr/>
          </a:p>
          <a:p>
            <a:pPr indent="-342900" lvl="0" marL="342900" rtl="0" algn="just">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Equal probability of selection for every member (sample size/population size)</a:t>
            </a:r>
            <a:endParaRPr/>
          </a:p>
          <a:p>
            <a:pPr indent="-342900" lvl="0" marL="342900" rtl="0" algn="just">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400/10,000 = .04</a:t>
            </a:r>
            <a:endParaRPr/>
          </a:p>
          <a:p>
            <a:pPr indent="-342900" lvl="0" marL="342900" rtl="0" algn="just">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Use random number table or random number generator</a:t>
            </a:r>
            <a:endParaRPr/>
          </a:p>
          <a:p>
            <a:pPr indent="-342900" lvl="0" marL="342900" rtl="0" algn="just">
              <a:lnSpc>
                <a:spcPct val="100000"/>
              </a:lnSpc>
              <a:spcBef>
                <a:spcPts val="560"/>
              </a:spcBef>
              <a:spcAft>
                <a:spcPts val="0"/>
              </a:spcAft>
              <a:buClr>
                <a:srgbClr val="000000"/>
              </a:buClr>
              <a:buSzPts val="2800"/>
              <a:buFont typeface="Times New Roman"/>
              <a:buChar char="•"/>
            </a:pPr>
            <a:r>
              <a:rPr b="0" i="0" lang="en-US" sz="2800" u="none">
                <a:solidFill>
                  <a:srgbClr val="000000"/>
                </a:solidFill>
                <a:latin typeface="Times New Roman"/>
                <a:ea typeface="Times New Roman"/>
                <a:cs typeface="Times New Roman"/>
                <a:sym typeface="Times New Roman"/>
              </a:rPr>
              <a:t>Each element in the population has a known and equal probability of selection. </a:t>
            </a:r>
            <a:endParaRPr/>
          </a:p>
          <a:p>
            <a:pPr indent="-342900" lvl="0" marL="342900" rtl="0" algn="just">
              <a:lnSpc>
                <a:spcPct val="100000"/>
              </a:lnSpc>
              <a:spcBef>
                <a:spcPts val="560"/>
              </a:spcBef>
              <a:spcAft>
                <a:spcPts val="0"/>
              </a:spcAft>
              <a:buClr>
                <a:srgbClr val="000000"/>
              </a:buClr>
              <a:buSzPts val="2800"/>
              <a:buFont typeface="Times New Roman"/>
              <a:buChar char="•"/>
            </a:pPr>
            <a:r>
              <a:rPr b="0" i="0" lang="en-US" sz="2800" u="none">
                <a:solidFill>
                  <a:srgbClr val="000000"/>
                </a:solidFill>
                <a:latin typeface="Times New Roman"/>
                <a:ea typeface="Times New Roman"/>
                <a:cs typeface="Times New Roman"/>
                <a:sym typeface="Times New Roman"/>
              </a:rPr>
              <a:t>Each possible sample of a given size (n) has a known and equal probability of being the sample actually selected.  </a:t>
            </a:r>
            <a:endParaRPr/>
          </a:p>
          <a:p>
            <a:pPr indent="-165100" lvl="0" marL="342900" rtl="0" algn="just">
              <a:lnSpc>
                <a:spcPct val="100000"/>
              </a:lnSpc>
              <a:spcBef>
                <a:spcPts val="560"/>
              </a:spcBef>
              <a:spcAft>
                <a:spcPts val="0"/>
              </a:spcAft>
              <a:buClr>
                <a:schemeClr val="dk1"/>
              </a:buClr>
              <a:buSzPts val="2800"/>
              <a:buFont typeface="Times New Roman"/>
              <a:buNone/>
            </a:pPr>
            <a:r>
              <a:t/>
            </a:r>
            <a:endParaRPr b="0" i="1" sz="2800" u="none">
              <a:solidFill>
                <a:schemeClr val="dk1"/>
              </a:solidFill>
              <a:latin typeface="Times New Roman"/>
              <a:ea typeface="Times New Roman"/>
              <a:cs typeface="Times New Roman"/>
              <a:sym typeface="Times New Roman"/>
            </a:endParaRPr>
          </a:p>
          <a:p>
            <a:pPr indent="-165100" lvl="0" marL="342900" rtl="0" algn="l">
              <a:spcBef>
                <a:spcPts val="560"/>
              </a:spcBef>
              <a:spcAft>
                <a:spcPts val="0"/>
              </a:spcAft>
              <a:buClr>
                <a:schemeClr val="dk1"/>
              </a:buClr>
              <a:buSzPts val="2800"/>
              <a:buFont typeface="Times New Roman"/>
              <a:buNone/>
            </a:pPr>
            <a:r>
              <a:t/>
            </a:r>
            <a:endParaRPr b="0" i="1" sz="2800" u="none">
              <a:solidFill>
                <a:schemeClr val="dk1"/>
              </a:solidFill>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36"/>
          <p:cNvSpPr txBox="1"/>
          <p:nvPr>
            <p:ph type="title"/>
          </p:nvPr>
        </p:nvSpPr>
        <p:spPr>
          <a:xfrm>
            <a:off x="609600" y="762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Simple Random Sampling</a:t>
            </a:r>
            <a:endParaRPr/>
          </a:p>
        </p:txBody>
      </p:sp>
      <p:sp>
        <p:nvSpPr>
          <p:cNvPr id="273" name="Google Shape;273;p36"/>
          <p:cNvSpPr txBox="1"/>
          <p:nvPr>
            <p:ph idx="1" type="body"/>
          </p:nvPr>
        </p:nvSpPr>
        <p:spPr>
          <a:xfrm>
            <a:off x="228600" y="1524000"/>
            <a:ext cx="8610600" cy="4572000"/>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rgbClr val="000000"/>
              </a:buClr>
              <a:buSzPts val="2800"/>
              <a:buFont typeface="Times New Roman"/>
              <a:buChar char="•"/>
            </a:pPr>
            <a:r>
              <a:rPr b="0" i="0" lang="en-US" sz="2800" u="none">
                <a:solidFill>
                  <a:srgbClr val="000000"/>
                </a:solidFill>
                <a:latin typeface="Times New Roman"/>
                <a:ea typeface="Times New Roman"/>
                <a:cs typeface="Times New Roman"/>
                <a:sym typeface="Times New Roman"/>
              </a:rPr>
              <a:t>This implies that every element is selected independently of every other element.</a:t>
            </a:r>
            <a:endParaRPr/>
          </a:p>
          <a:p>
            <a:pPr indent="-342900" lvl="0" marL="342900" rtl="0" algn="just">
              <a:lnSpc>
                <a:spcPct val="100000"/>
              </a:lnSpc>
              <a:spcBef>
                <a:spcPts val="560"/>
              </a:spcBef>
              <a:spcAft>
                <a:spcPts val="0"/>
              </a:spcAft>
              <a:buClr>
                <a:srgbClr val="000000"/>
              </a:buClr>
              <a:buSzPts val="2800"/>
              <a:buFont typeface="Times New Roman"/>
              <a:buChar char="•"/>
            </a:pPr>
            <a:r>
              <a:rPr b="0" i="0" lang="en-US" sz="2800" u="none">
                <a:solidFill>
                  <a:srgbClr val="000000"/>
                </a:solidFill>
                <a:latin typeface="Times New Roman"/>
                <a:ea typeface="Times New Roman"/>
                <a:cs typeface="Times New Roman"/>
                <a:sym typeface="Times New Roman"/>
              </a:rPr>
              <a:t>It uses Lottery Method and Random number method.</a:t>
            </a:r>
            <a:endParaRPr/>
          </a:p>
          <a:p>
            <a:pPr indent="-342900" lvl="0" marL="342900" rtl="0" algn="just">
              <a:lnSpc>
                <a:spcPct val="100000"/>
              </a:lnSpc>
              <a:spcBef>
                <a:spcPts val="560"/>
              </a:spcBef>
              <a:spcAft>
                <a:spcPts val="0"/>
              </a:spcAft>
              <a:buClr>
                <a:srgbClr val="000000"/>
              </a:buClr>
              <a:buSzPts val="2800"/>
              <a:buFont typeface="Times New Roman"/>
              <a:buChar char="•"/>
            </a:pPr>
            <a:r>
              <a:rPr b="0" i="0" lang="en-US" sz="2800" u="none">
                <a:solidFill>
                  <a:srgbClr val="000000"/>
                </a:solidFill>
                <a:latin typeface="Times New Roman"/>
                <a:ea typeface="Times New Roman"/>
                <a:cs typeface="Times New Roman"/>
                <a:sym typeface="Times New Roman"/>
              </a:rPr>
              <a:t>Each element in the population has a known and equal probability of selection. </a:t>
            </a:r>
            <a:endParaRPr/>
          </a:p>
          <a:p>
            <a:pPr indent="-342900" lvl="0" marL="342900" rtl="0" algn="just">
              <a:lnSpc>
                <a:spcPct val="100000"/>
              </a:lnSpc>
              <a:spcBef>
                <a:spcPts val="560"/>
              </a:spcBef>
              <a:spcAft>
                <a:spcPts val="0"/>
              </a:spcAft>
              <a:buClr>
                <a:srgbClr val="000000"/>
              </a:buClr>
              <a:buSzPts val="2800"/>
              <a:buFont typeface="Times New Roman"/>
              <a:buChar char="•"/>
            </a:pPr>
            <a:r>
              <a:rPr b="0" i="0" lang="en-US" sz="2800" u="none">
                <a:solidFill>
                  <a:srgbClr val="000000"/>
                </a:solidFill>
                <a:latin typeface="Times New Roman"/>
                <a:ea typeface="Times New Roman"/>
                <a:cs typeface="Times New Roman"/>
                <a:sym typeface="Times New Roman"/>
              </a:rPr>
              <a:t>Each possible sample of a given size (n) has a known and equal probability of being the sample actually selected.  </a:t>
            </a:r>
            <a:endParaRPr/>
          </a:p>
          <a:p>
            <a:pPr indent="-342900" lvl="0" marL="342900" rtl="0" algn="just">
              <a:lnSpc>
                <a:spcPct val="100000"/>
              </a:lnSpc>
              <a:spcBef>
                <a:spcPts val="560"/>
              </a:spcBef>
              <a:spcAft>
                <a:spcPts val="0"/>
              </a:spcAft>
              <a:buClr>
                <a:srgbClr val="000000"/>
              </a:buClr>
              <a:buSzPts val="2800"/>
              <a:buFont typeface="Times New Roman"/>
              <a:buChar char="•"/>
            </a:pPr>
            <a:r>
              <a:rPr b="0" i="0" lang="en-US" sz="2800" u="none">
                <a:solidFill>
                  <a:srgbClr val="000000"/>
                </a:solidFill>
                <a:latin typeface="Times New Roman"/>
                <a:ea typeface="Times New Roman"/>
                <a:cs typeface="Times New Roman"/>
                <a:sym typeface="Times New Roman"/>
              </a:rPr>
              <a:t>This implies that every element is selected independently of every other element.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3">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7"/>
          <p:cNvSpPr txBox="1"/>
          <p:nvPr>
            <p:ph type="title"/>
          </p:nvPr>
        </p:nvSpPr>
        <p:spPr>
          <a:xfrm>
            <a:off x="609600" y="152400"/>
            <a:ext cx="7848600" cy="838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Systematic Sampling</a:t>
            </a:r>
            <a:endParaRPr/>
          </a:p>
        </p:txBody>
      </p:sp>
      <p:sp>
        <p:nvSpPr>
          <p:cNvPr id="280" name="Google Shape;280;p37"/>
          <p:cNvSpPr txBox="1"/>
          <p:nvPr>
            <p:ph idx="1" type="body"/>
          </p:nvPr>
        </p:nvSpPr>
        <p:spPr>
          <a:xfrm>
            <a:off x="228600" y="1600200"/>
            <a:ext cx="8763000" cy="50292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Order all units in the sampling frame based on some variable and number them from 1 to </a:t>
            </a:r>
            <a:r>
              <a:rPr b="0" i="1" lang="en-US" sz="2800" u="none">
                <a:solidFill>
                  <a:schemeClr val="dk1"/>
                </a:solidFill>
                <a:latin typeface="Times New Roman"/>
                <a:ea typeface="Times New Roman"/>
                <a:cs typeface="Times New Roman"/>
                <a:sym typeface="Times New Roman"/>
              </a:rPr>
              <a:t>N</a:t>
            </a:r>
            <a:endParaRPr/>
          </a:p>
          <a:p>
            <a:pPr indent="-342900" lvl="0" marL="342900" rtl="0" algn="l">
              <a:lnSpc>
                <a:spcPct val="100000"/>
              </a:lnSpc>
              <a:spcBef>
                <a:spcPts val="112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Choose a random starting place from 1 to</a:t>
            </a:r>
            <a:r>
              <a:rPr b="0" i="1" lang="en-US" sz="2800" u="none">
                <a:solidFill>
                  <a:schemeClr val="dk1"/>
                </a:solidFill>
                <a:latin typeface="Times New Roman"/>
                <a:ea typeface="Times New Roman"/>
                <a:cs typeface="Times New Roman"/>
                <a:sym typeface="Times New Roman"/>
              </a:rPr>
              <a:t> N</a:t>
            </a:r>
            <a:r>
              <a:rPr b="0" i="0" lang="en-US" sz="2800" u="none">
                <a:solidFill>
                  <a:schemeClr val="dk1"/>
                </a:solidFill>
                <a:latin typeface="Times New Roman"/>
                <a:ea typeface="Times New Roman"/>
                <a:cs typeface="Times New Roman"/>
                <a:sym typeface="Times New Roman"/>
              </a:rPr>
              <a:t> and then sample every k units after that</a:t>
            </a:r>
            <a:endParaRPr/>
          </a:p>
          <a:p>
            <a:pPr indent="-165100" lvl="0" marL="342900" rtl="0" algn="l">
              <a:spcBef>
                <a:spcPts val="112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pic>
        <p:nvPicPr>
          <p:cNvPr descr="http://trochim.human.cornell.edu/kb/images/sampsys.gif" id="286" name="Google Shape;286;p38"/>
          <p:cNvPicPr preferRelativeResize="0"/>
          <p:nvPr/>
        </p:nvPicPr>
        <p:blipFill rotWithShape="1">
          <a:blip r:embed="rId3">
            <a:alphaModFix/>
          </a:blip>
          <a:srcRect b="0" l="0" r="0" t="0"/>
          <a:stretch/>
        </p:blipFill>
        <p:spPr>
          <a:xfrm>
            <a:off x="1828800" y="1219200"/>
            <a:ext cx="7315200" cy="5165725"/>
          </a:xfrm>
          <a:prstGeom prst="rect">
            <a:avLst/>
          </a:prstGeom>
          <a:noFill/>
          <a:ln>
            <a:noFill/>
          </a:ln>
        </p:spPr>
      </p:pic>
      <p:sp>
        <p:nvSpPr>
          <p:cNvPr id="287" name="Google Shape;287;p38"/>
          <p:cNvSpPr txBox="1"/>
          <p:nvPr/>
        </p:nvSpPr>
        <p:spPr>
          <a:xfrm>
            <a:off x="1828800" y="304800"/>
            <a:ext cx="6248400" cy="7080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4000"/>
              <a:buFont typeface="Times New Roman"/>
              <a:buNone/>
            </a:pPr>
            <a:r>
              <a:rPr b="0" i="0" lang="en-US" sz="4000" u="none">
                <a:solidFill>
                  <a:schemeClr val="dk1"/>
                </a:solidFill>
                <a:latin typeface="Times New Roman"/>
                <a:ea typeface="Times New Roman"/>
                <a:cs typeface="Times New Roman"/>
                <a:sym typeface="Times New Roman"/>
              </a:rPr>
              <a:t>Systematic Random Sample</a:t>
            </a:r>
            <a:endParaRPr/>
          </a:p>
        </p:txBody>
      </p:sp>
      <p:sp>
        <p:nvSpPr>
          <p:cNvPr id="288" name="Google Shape;288;p38"/>
          <p:cNvSpPr txBox="1"/>
          <p:nvPr/>
        </p:nvSpPr>
        <p:spPr>
          <a:xfrm>
            <a:off x="0" y="1295400"/>
            <a:ext cx="5029200" cy="41544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number the units in the population from 1 to N </a:t>
            </a:r>
            <a:endParaRPr/>
          </a:p>
          <a:p>
            <a:pPr indent="0" lvl="0" marL="0" marR="0" rtl="0" algn="l">
              <a:lnSpc>
                <a:spcPct val="100000"/>
              </a:lnSpc>
              <a:spcBef>
                <a:spcPts val="120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decide on the n (sample size) that you want or need </a:t>
            </a:r>
            <a:endParaRPr/>
          </a:p>
          <a:p>
            <a:pPr indent="0" lvl="0" marL="0" marR="0" rtl="0" algn="l">
              <a:lnSpc>
                <a:spcPct val="100000"/>
              </a:lnSpc>
              <a:spcBef>
                <a:spcPts val="120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k = N/n = the interval size </a:t>
            </a:r>
            <a:endParaRPr/>
          </a:p>
          <a:p>
            <a:pPr indent="0" lvl="0" marL="0" marR="0" rtl="0" algn="l">
              <a:lnSpc>
                <a:spcPct val="100000"/>
              </a:lnSpc>
              <a:spcBef>
                <a:spcPts val="120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randomly select an integer between</a:t>
            </a:r>
            <a:endParaRPr/>
          </a:p>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1 to k </a:t>
            </a:r>
            <a:endParaRPr/>
          </a:p>
          <a:p>
            <a:pPr indent="0" lvl="0" marL="0" marR="0" rtl="0" algn="l">
              <a:lnSpc>
                <a:spcPct val="100000"/>
              </a:lnSpc>
              <a:spcBef>
                <a:spcPts val="120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then take</a:t>
            </a:r>
            <a:endParaRPr/>
          </a:p>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every kth unit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39"/>
          <p:cNvSpPr txBox="1"/>
          <p:nvPr>
            <p:ph type="title"/>
          </p:nvPr>
        </p:nvSpPr>
        <p:spPr>
          <a:xfrm>
            <a:off x="533400" y="157162"/>
            <a:ext cx="8001000" cy="776287"/>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Times New Roman"/>
              <a:buNone/>
            </a:pPr>
            <a:r>
              <a:rPr b="0" i="0" lang="en-US" sz="4400" u="none">
                <a:solidFill>
                  <a:schemeClr val="dk1"/>
                </a:solidFill>
                <a:latin typeface="Times New Roman"/>
                <a:ea typeface="Times New Roman"/>
                <a:cs typeface="Times New Roman"/>
                <a:sym typeface="Times New Roman"/>
              </a:rPr>
              <a:t>Systematic Sampling</a:t>
            </a:r>
            <a:endParaRPr/>
          </a:p>
        </p:txBody>
      </p:sp>
      <p:sp>
        <p:nvSpPr>
          <p:cNvPr id="294" name="Google Shape;294;p39"/>
          <p:cNvSpPr txBox="1"/>
          <p:nvPr/>
        </p:nvSpPr>
        <p:spPr>
          <a:xfrm>
            <a:off x="6437312" y="6248400"/>
            <a:ext cx="2020887"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295" name="Google Shape;295;p39"/>
          <p:cNvSpPr txBox="1"/>
          <p:nvPr>
            <p:ph idx="1" type="body"/>
          </p:nvPr>
        </p:nvSpPr>
        <p:spPr>
          <a:xfrm>
            <a:off x="0" y="914400"/>
            <a:ext cx="8763000" cy="57150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	As described above, systematic sampling is an EPS method, because all elements have the same probability of selection (in the example given, one in ten). It is </a:t>
            </a:r>
            <a:r>
              <a:rPr b="0" i="1" lang="en-US" sz="2800" u="none">
                <a:solidFill>
                  <a:schemeClr val="dk1"/>
                </a:solidFill>
                <a:latin typeface="Times New Roman"/>
                <a:ea typeface="Times New Roman"/>
                <a:cs typeface="Times New Roman"/>
                <a:sym typeface="Times New Roman"/>
              </a:rPr>
              <a:t>not</a:t>
            </a:r>
            <a:r>
              <a:rPr b="0" i="0" lang="en-US" sz="2800" u="none">
                <a:solidFill>
                  <a:schemeClr val="dk1"/>
                </a:solidFill>
                <a:latin typeface="Times New Roman"/>
                <a:ea typeface="Times New Roman"/>
                <a:cs typeface="Times New Roman"/>
                <a:sym typeface="Times New Roman"/>
              </a:rPr>
              <a:t> 'simple random sampling' because different subsets of the same size have different selection probabilities - e.g. the set {4,14,24,...,994} has a one-in-ten probability of selection, but the set {4,13,24,34,...} has zero probability of selection.</a:t>
            </a:r>
            <a:endParaRPr/>
          </a:p>
          <a:p>
            <a:pPr indent="-165100" lvl="0" marL="342900" marR="0" rtl="0" algn="l">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p:txBody>
      </p:sp>
      <p:pic>
        <p:nvPicPr>
          <p:cNvPr descr="1_Sys" id="296" name="Google Shape;296;p39"/>
          <p:cNvPicPr preferRelativeResize="0"/>
          <p:nvPr/>
        </p:nvPicPr>
        <p:blipFill rotWithShape="1">
          <a:blip r:embed="rId3">
            <a:alphaModFix/>
          </a:blip>
          <a:srcRect b="0" l="0" r="0" t="0"/>
          <a:stretch/>
        </p:blipFill>
        <p:spPr>
          <a:xfrm>
            <a:off x="523875" y="4408487"/>
            <a:ext cx="8162925" cy="2220912"/>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40"/>
          <p:cNvSpPr txBox="1"/>
          <p:nvPr>
            <p:ph type="title"/>
          </p:nvPr>
        </p:nvSpPr>
        <p:spPr>
          <a:xfrm>
            <a:off x="609600" y="152400"/>
            <a:ext cx="7543800" cy="811212"/>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Times New Roman"/>
              <a:buNone/>
            </a:pPr>
            <a:r>
              <a:rPr b="0" i="0" lang="en-US" sz="4000" u="none">
                <a:solidFill>
                  <a:schemeClr val="dk1"/>
                </a:solidFill>
                <a:latin typeface="Times New Roman"/>
                <a:ea typeface="Times New Roman"/>
                <a:cs typeface="Times New Roman"/>
                <a:sym typeface="Times New Roman"/>
              </a:rPr>
              <a:t>Systematic Sampling</a:t>
            </a:r>
            <a:endParaRPr/>
          </a:p>
        </p:txBody>
      </p:sp>
      <p:sp>
        <p:nvSpPr>
          <p:cNvPr id="302" name="Google Shape;302;p40"/>
          <p:cNvSpPr txBox="1"/>
          <p:nvPr>
            <p:ph idx="1" type="body"/>
          </p:nvPr>
        </p:nvSpPr>
        <p:spPr>
          <a:xfrm>
            <a:off x="304800" y="1143000"/>
            <a:ext cx="8534400" cy="54864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Times New Roman"/>
              <a:buChar char="•"/>
            </a:pPr>
            <a:r>
              <a:rPr b="1" i="0" lang="en-US" sz="2800" u="none">
                <a:solidFill>
                  <a:schemeClr val="dk1"/>
                </a:solidFill>
                <a:latin typeface="Times New Roman"/>
                <a:ea typeface="Times New Roman"/>
                <a:cs typeface="Times New Roman"/>
                <a:sym typeface="Times New Roman"/>
              </a:rPr>
              <a:t>ADVANTAGES:</a:t>
            </a:r>
            <a:endParaRPr/>
          </a:p>
          <a:p>
            <a:pPr indent="-342900" lvl="0" marL="342900" marR="0"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Sample easy to select</a:t>
            </a:r>
            <a:endParaRPr/>
          </a:p>
          <a:p>
            <a:pPr indent="-342900" lvl="0" marL="342900" marR="0"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Suitable sampling frame can be identified easily</a:t>
            </a:r>
            <a:endParaRPr/>
          </a:p>
          <a:p>
            <a:pPr indent="-342900" lvl="0" marL="342900" marR="0"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Sample evenly spread over entire reference population</a:t>
            </a:r>
            <a:endParaRPr/>
          </a:p>
          <a:p>
            <a:pPr indent="-342900" lvl="0" marL="342900" marR="0" rtl="0" algn="l">
              <a:lnSpc>
                <a:spcPct val="100000"/>
              </a:lnSpc>
              <a:spcBef>
                <a:spcPts val="560"/>
              </a:spcBef>
              <a:spcAft>
                <a:spcPts val="0"/>
              </a:spcAft>
              <a:buClr>
                <a:schemeClr val="dk1"/>
              </a:buClr>
              <a:buSzPts val="2800"/>
              <a:buFont typeface="Times New Roman"/>
              <a:buChar char="•"/>
            </a:pPr>
            <a:r>
              <a:rPr b="1" i="0" lang="en-US" sz="2800" u="none">
                <a:solidFill>
                  <a:schemeClr val="dk1"/>
                </a:solidFill>
                <a:latin typeface="Times New Roman"/>
                <a:ea typeface="Times New Roman"/>
                <a:cs typeface="Times New Roman"/>
                <a:sym typeface="Times New Roman"/>
              </a:rPr>
              <a:t>DISADVANTAGES:</a:t>
            </a:r>
            <a:endParaRPr/>
          </a:p>
          <a:p>
            <a:pPr indent="-342900" lvl="0" marL="342900" marR="0"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Sample may be biased if hidden periodicity in population coincides with that of selection.</a:t>
            </a:r>
            <a:endParaRPr/>
          </a:p>
          <a:p>
            <a:pPr indent="-342900" lvl="0" marL="342900" marR="0"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Difficult to assess precision of estimate from one survey.</a:t>
            </a:r>
            <a:endParaRPr/>
          </a:p>
          <a:p>
            <a:pPr indent="-165100" lvl="0" marL="342900" marR="0" rtl="0" algn="l">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1"/>
          <p:cNvSpPr txBox="1"/>
          <p:nvPr>
            <p:ph type="title"/>
          </p:nvPr>
        </p:nvSpPr>
        <p:spPr>
          <a:xfrm>
            <a:off x="685800" y="76200"/>
            <a:ext cx="7772400" cy="762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Stratified Sampling </a:t>
            </a:r>
            <a:endParaRPr/>
          </a:p>
        </p:txBody>
      </p:sp>
      <p:sp>
        <p:nvSpPr>
          <p:cNvPr id="309" name="Google Shape;309;p41"/>
          <p:cNvSpPr txBox="1"/>
          <p:nvPr>
            <p:ph idx="1" type="body"/>
          </p:nvPr>
        </p:nvSpPr>
        <p:spPr>
          <a:xfrm>
            <a:off x="304800" y="838200"/>
            <a:ext cx="8686800" cy="5638800"/>
          </a:xfrm>
          <a:prstGeom prst="rect">
            <a:avLst/>
          </a:prstGeom>
          <a:noFill/>
          <a:ln>
            <a:noFill/>
          </a:ln>
        </p:spPr>
        <p:txBody>
          <a:bodyPr anchorCtr="0" anchor="t" bIns="45700" lIns="91425" spcFirstLastPara="1" rIns="91425" wrap="square" tIns="45700">
            <a:noAutofit/>
          </a:bodyPr>
          <a:lstStyle/>
          <a:p>
            <a:pPr indent="-342900" lvl="0" marL="342900" rtl="0" algn="just">
              <a:lnSpc>
                <a:spcPct val="15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The heterogeneous population is divided into distinct, non-overlapping homogenous subgroups called “strata” according to some characteristics or variables like income, education, age etc. &amp; then a random sample is selected from within each subgroup.</a:t>
            </a:r>
            <a:endParaRPr/>
          </a:p>
          <a:p>
            <a:pPr indent="-342900" lvl="0" marL="342900" rtl="0" algn="just">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Example of stratum is according to gender male-female, according to cadre manager-non manager etc.</a:t>
            </a:r>
            <a:endParaRPr/>
          </a:p>
          <a:p>
            <a:pPr indent="-228600" lvl="2" marL="1143000" rtl="0" algn="just">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year in school, geographic area, product use, etc.</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42"/>
          <p:cNvSpPr txBox="1"/>
          <p:nvPr>
            <p:ph type="title"/>
          </p:nvPr>
        </p:nvSpPr>
        <p:spPr>
          <a:xfrm>
            <a:off x="685800" y="76200"/>
            <a:ext cx="7772400" cy="762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Stratified Sampling </a:t>
            </a:r>
            <a:endParaRPr/>
          </a:p>
        </p:txBody>
      </p:sp>
      <p:sp>
        <p:nvSpPr>
          <p:cNvPr id="316" name="Google Shape;316;p42"/>
          <p:cNvSpPr txBox="1"/>
          <p:nvPr>
            <p:ph idx="1" type="body"/>
          </p:nvPr>
        </p:nvSpPr>
        <p:spPr>
          <a:xfrm>
            <a:off x="304800" y="1295400"/>
            <a:ext cx="8686800" cy="5181600"/>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Steps:</a:t>
            </a:r>
            <a:endParaRPr/>
          </a:p>
          <a:p>
            <a:pPr indent="-285750" lvl="1" marL="742950" rtl="0" algn="just">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Population is divided into mutually exclusive and exhaustive strata based on an appropriate population characteristic. (e.g. race, age, gender etc.)</a:t>
            </a:r>
            <a:endParaRPr/>
          </a:p>
          <a:p>
            <a:pPr indent="-285750" lvl="1" marL="742950" rtl="0" algn="just">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Simple random samples are then drawn from each stratum.</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pic>
        <p:nvPicPr>
          <p:cNvPr descr="http://trochim.human.cornell.edu/kb/images/sampstrt.gif" id="322" name="Google Shape;322;p43"/>
          <p:cNvPicPr preferRelativeResize="0"/>
          <p:nvPr/>
        </p:nvPicPr>
        <p:blipFill rotWithShape="1">
          <a:blip r:embed="rId3">
            <a:alphaModFix/>
          </a:blip>
          <a:srcRect b="0" l="0" r="0" t="0"/>
          <a:stretch/>
        </p:blipFill>
        <p:spPr>
          <a:xfrm>
            <a:off x="0" y="838200"/>
            <a:ext cx="9144000" cy="5632450"/>
          </a:xfrm>
          <a:prstGeom prst="rect">
            <a:avLst/>
          </a:prstGeom>
          <a:noFill/>
          <a:ln>
            <a:noFill/>
          </a:ln>
        </p:spPr>
      </p:pic>
      <p:sp>
        <p:nvSpPr>
          <p:cNvPr id="323" name="Google Shape;323;p43"/>
          <p:cNvSpPr txBox="1"/>
          <p:nvPr/>
        </p:nvSpPr>
        <p:spPr>
          <a:xfrm>
            <a:off x="762000" y="0"/>
            <a:ext cx="7239000" cy="7016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4000"/>
              <a:buFont typeface="Times New Roman"/>
              <a:buNone/>
            </a:pPr>
            <a:r>
              <a:rPr b="0" i="0" lang="en-US" sz="4000" u="none">
                <a:solidFill>
                  <a:schemeClr val="dk1"/>
                </a:solidFill>
                <a:latin typeface="Times New Roman"/>
                <a:ea typeface="Times New Roman"/>
                <a:cs typeface="Times New Roman"/>
                <a:sym typeface="Times New Roman"/>
              </a:rPr>
              <a:t>Stratified Random Sampling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44"/>
          <p:cNvSpPr txBox="1"/>
          <p:nvPr/>
        </p:nvSpPr>
        <p:spPr>
          <a:xfrm>
            <a:off x="1411287" y="304800"/>
            <a:ext cx="6056312" cy="7080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4000"/>
              <a:buFont typeface="Times New Roman"/>
              <a:buNone/>
            </a:pPr>
            <a:r>
              <a:rPr b="0" i="0" lang="en-US" sz="4000" u="none">
                <a:solidFill>
                  <a:schemeClr val="dk1"/>
                </a:solidFill>
                <a:latin typeface="Times New Roman"/>
                <a:ea typeface="Times New Roman"/>
                <a:cs typeface="Times New Roman"/>
                <a:sym typeface="Times New Roman"/>
              </a:rPr>
              <a:t>Stratified Random Sampling</a:t>
            </a:r>
            <a:endParaRPr/>
          </a:p>
        </p:txBody>
      </p:sp>
      <p:sp>
        <p:nvSpPr>
          <p:cNvPr id="330" name="Google Shape;330;p44"/>
          <p:cNvSpPr txBox="1"/>
          <p:nvPr/>
        </p:nvSpPr>
        <p:spPr>
          <a:xfrm>
            <a:off x="228600" y="1600200"/>
            <a:ext cx="8534400" cy="3540125"/>
          </a:xfrm>
          <a:prstGeom prst="rect">
            <a:avLst/>
          </a:prstGeom>
          <a:noFill/>
          <a:ln>
            <a:noFill/>
          </a:ln>
        </p:spPr>
        <p:txBody>
          <a:bodyPr anchorCtr="0" anchor="t" bIns="45700" lIns="91425" spcFirstLastPara="1" rIns="91425" wrap="square" tIns="45700">
            <a:spAutoFit/>
          </a:bodyPr>
          <a:lstStyle/>
          <a:p>
            <a:pPr indent="-177800" lvl="0" marL="0" marR="0" rtl="0" algn="just">
              <a:lnSpc>
                <a:spcPct val="100000"/>
              </a:lnSpc>
              <a:spcBef>
                <a:spcPts val="0"/>
              </a:spcBef>
              <a:spcAft>
                <a:spcPts val="0"/>
              </a:spcAft>
              <a:buClr>
                <a:schemeClr val="dk1"/>
              </a:buClr>
              <a:buSzPts val="2800"/>
              <a:buFont typeface="Noto Sans Symbols"/>
              <a:buChar char="⮚"/>
            </a:pPr>
            <a:r>
              <a:rPr b="0" i="0" lang="en-US" sz="2800" u="none">
                <a:solidFill>
                  <a:schemeClr val="dk1"/>
                </a:solidFill>
                <a:latin typeface="Times New Roman"/>
                <a:ea typeface="Times New Roman"/>
                <a:cs typeface="Times New Roman"/>
                <a:sym typeface="Times New Roman"/>
              </a:rPr>
              <a:t>Population is divided on the basis of characteristic of interest in the population e.g. male and female may have different consumption patterns</a:t>
            </a:r>
            <a:endParaRPr/>
          </a:p>
          <a:p>
            <a:pPr indent="-177800" lvl="0" marL="0" marR="0" rtl="0" algn="just">
              <a:lnSpc>
                <a:spcPct val="100000"/>
              </a:lnSpc>
              <a:spcBef>
                <a:spcPts val="1400"/>
              </a:spcBef>
              <a:spcAft>
                <a:spcPts val="0"/>
              </a:spcAft>
              <a:buClr>
                <a:schemeClr val="dk1"/>
              </a:buClr>
              <a:buSzPts val="2800"/>
              <a:buFont typeface="Noto Sans Symbols"/>
              <a:buChar char="⮚"/>
            </a:pPr>
            <a:r>
              <a:rPr b="0" i="0" lang="en-US" sz="2800" u="none">
                <a:solidFill>
                  <a:schemeClr val="dk1"/>
                </a:solidFill>
                <a:latin typeface="Times New Roman"/>
                <a:ea typeface="Times New Roman"/>
                <a:cs typeface="Times New Roman"/>
                <a:sym typeface="Times New Roman"/>
              </a:rPr>
              <a:t>Has a smaller sampling error than simple random sample since a source of variation is eliminated</a:t>
            </a:r>
            <a:endParaRPr/>
          </a:p>
          <a:p>
            <a:pPr indent="-177800" lvl="0" marL="0" marR="0" rtl="0" algn="just">
              <a:lnSpc>
                <a:spcPct val="100000"/>
              </a:lnSpc>
              <a:spcBef>
                <a:spcPts val="1400"/>
              </a:spcBef>
              <a:spcAft>
                <a:spcPts val="0"/>
              </a:spcAft>
              <a:buClr>
                <a:schemeClr val="dk1"/>
              </a:buClr>
              <a:buSzPts val="2800"/>
              <a:buFont typeface="Noto Sans Symbols"/>
              <a:buChar char="⮚"/>
            </a:pPr>
            <a:r>
              <a:rPr b="0" i="0" lang="en-US" sz="2800" u="none">
                <a:solidFill>
                  <a:schemeClr val="dk1"/>
                </a:solidFill>
                <a:latin typeface="Times New Roman"/>
                <a:ea typeface="Times New Roman"/>
                <a:cs typeface="Times New Roman"/>
                <a:sym typeface="Times New Roman"/>
              </a:rPr>
              <a:t>Ensures representativeness when proportional sampling used</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45"/>
          <p:cNvSpPr txBox="1"/>
          <p:nvPr>
            <p:ph type="title"/>
          </p:nvPr>
        </p:nvSpPr>
        <p:spPr>
          <a:xfrm>
            <a:off x="457200" y="157162"/>
            <a:ext cx="7543800" cy="9525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Stratified Sampling</a:t>
            </a:r>
            <a:endParaRPr/>
          </a:p>
        </p:txBody>
      </p:sp>
      <p:pic>
        <p:nvPicPr>
          <p:cNvPr descr="1_Stra" id="336" name="Google Shape;336;p45"/>
          <p:cNvPicPr preferRelativeResize="0"/>
          <p:nvPr>
            <p:ph idx="1" type="body"/>
          </p:nvPr>
        </p:nvPicPr>
        <p:blipFill rotWithShape="1">
          <a:blip r:embed="rId3">
            <a:alphaModFix/>
          </a:blip>
          <a:srcRect b="0" l="0" r="0" t="0"/>
          <a:stretch/>
        </p:blipFill>
        <p:spPr>
          <a:xfrm>
            <a:off x="304800" y="2655887"/>
            <a:ext cx="8458200" cy="3821112"/>
          </a:xfrm>
          <a:prstGeom prst="rect">
            <a:avLst/>
          </a:prstGeom>
          <a:noFill/>
          <a:ln>
            <a:noFill/>
          </a:ln>
        </p:spPr>
      </p:pic>
      <p:sp>
        <p:nvSpPr>
          <p:cNvPr id="337" name="Google Shape;337;p45"/>
          <p:cNvSpPr txBox="1"/>
          <p:nvPr/>
        </p:nvSpPr>
        <p:spPr>
          <a:xfrm>
            <a:off x="381000" y="1219200"/>
            <a:ext cx="7924800" cy="1514475"/>
          </a:xfrm>
          <a:prstGeom prst="rect">
            <a:avLst/>
          </a:prstGeom>
          <a:noFill/>
          <a:ln>
            <a:noFill/>
          </a:ln>
        </p:spPr>
        <p:txBody>
          <a:bodyPr anchorCtr="0" anchor="t" bIns="45700" lIns="91425" spcFirstLastPara="1" rIns="91425" wrap="square" tIns="45700">
            <a:spAutoFit/>
          </a:bodyPr>
          <a:lstStyle/>
          <a:p>
            <a:pPr indent="0" lvl="3" marL="1371600" marR="0" rtl="0" algn="l">
              <a:lnSpc>
                <a:spcPct val="100000"/>
              </a:lnSpc>
              <a:spcBef>
                <a:spcPts val="0"/>
              </a:spcBef>
              <a:spcAft>
                <a:spcPts val="0"/>
              </a:spcAft>
              <a:buClr>
                <a:schemeClr val="dk1"/>
              </a:buClr>
              <a:buSzPts val="2800"/>
              <a:buFont typeface="Times New Roman"/>
              <a:buNone/>
            </a:pPr>
            <a:r>
              <a:t/>
            </a:r>
            <a:endParaRPr b="0" i="0" sz="2800" u="sng" cap="none" strike="noStrike">
              <a:solidFill>
                <a:schemeClr val="dk1"/>
              </a:solidFill>
              <a:latin typeface="Times New Roman"/>
              <a:ea typeface="Times New Roman"/>
              <a:cs typeface="Times New Roman"/>
              <a:sym typeface="Times New Roman"/>
            </a:endParaRPr>
          </a:p>
          <a:p>
            <a:pPr indent="0" lvl="4" marL="1828800" marR="0" rtl="0" algn="l">
              <a:lnSpc>
                <a:spcPct val="100000"/>
              </a:lnSpc>
              <a:spcBef>
                <a:spcPts val="0"/>
              </a:spcBef>
              <a:spcAft>
                <a:spcPts val="0"/>
              </a:spcAft>
              <a:buClr>
                <a:schemeClr val="dk1"/>
              </a:buClr>
              <a:buSzPts val="2800"/>
              <a:buFont typeface="Times New Roman"/>
              <a:buNone/>
            </a:pPr>
            <a:r>
              <a:rPr b="0" i="0" lang="en-US" sz="2800" u="none" cap="none" strike="noStrike">
                <a:solidFill>
                  <a:schemeClr val="dk1"/>
                </a:solidFill>
                <a:latin typeface="Times New Roman"/>
                <a:ea typeface="Times New Roman"/>
                <a:cs typeface="Times New Roman"/>
                <a:sym typeface="Times New Roman"/>
              </a:rPr>
              <a:t>Draw a sample from each stratum</a:t>
            </a:r>
            <a:endParaRPr/>
          </a:p>
          <a:p>
            <a:pPr indent="0" lvl="0" marL="0" marR="0" rtl="0" algn="l">
              <a:lnSpc>
                <a:spcPct val="100000"/>
              </a:lnSpc>
              <a:spcBef>
                <a:spcPts val="0"/>
              </a:spcBef>
              <a:spcAft>
                <a:spcPts val="0"/>
              </a:spcAft>
              <a:buNone/>
            </a:pPr>
            <a:r>
              <a:t/>
            </a:r>
            <a:endParaRPr b="0" i="0" sz="2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46"/>
          <p:cNvSpPr txBox="1"/>
          <p:nvPr>
            <p:ph type="title"/>
          </p:nvPr>
        </p:nvSpPr>
        <p:spPr>
          <a:xfrm>
            <a:off x="609600" y="152400"/>
            <a:ext cx="7848600" cy="838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Methods of Stratified Sampling </a:t>
            </a:r>
            <a:endParaRPr/>
          </a:p>
        </p:txBody>
      </p:sp>
      <p:sp>
        <p:nvSpPr>
          <p:cNvPr id="344" name="Google Shape;344;p46"/>
          <p:cNvSpPr txBox="1"/>
          <p:nvPr>
            <p:ph idx="1" type="body"/>
          </p:nvPr>
        </p:nvSpPr>
        <p:spPr>
          <a:xfrm>
            <a:off x="381000" y="1295400"/>
            <a:ext cx="8153400" cy="5181600"/>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 Proportionate Allocate Method</a:t>
            </a:r>
            <a:endParaRPr/>
          </a:p>
          <a:p>
            <a:pPr indent="-285750" lvl="1" marL="742950" rtl="0" algn="just">
              <a:lnSpc>
                <a:spcPct val="100000"/>
              </a:lnSpc>
              <a:spcBef>
                <a:spcPts val="70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The sample size in each stratum is proportional to the stratum size in the population</a:t>
            </a:r>
            <a:endParaRPr/>
          </a:p>
          <a:p>
            <a:pPr indent="-342900" lvl="0" marL="342900" rtl="0" algn="just">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Non-proportionate Allocate Method</a:t>
            </a:r>
            <a:endParaRPr/>
          </a:p>
          <a:p>
            <a:pPr indent="-285750" lvl="1" marL="742950" rtl="0" algn="just">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The sample size in each stratum is NOT proportional to the stratum size in the population</a:t>
            </a:r>
            <a:endParaRPr/>
          </a:p>
          <a:p>
            <a:pPr indent="-285750" lvl="1" marL="742950" rtl="0" algn="just">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Used if </a:t>
            </a:r>
            <a:endParaRPr/>
          </a:p>
          <a:p>
            <a:pPr indent="-285750" lvl="1" marL="742950" rtl="0" algn="just">
              <a:lnSpc>
                <a:spcPct val="100000"/>
              </a:lnSpc>
              <a:spcBef>
                <a:spcPts val="56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 1) some strata are too small</a:t>
            </a:r>
            <a:endParaRPr/>
          </a:p>
          <a:p>
            <a:pPr indent="-285750" lvl="1" marL="742950" rtl="0" algn="just">
              <a:lnSpc>
                <a:spcPct val="100000"/>
              </a:lnSpc>
              <a:spcBef>
                <a:spcPts val="56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 2) some strata are more important than others</a:t>
            </a:r>
            <a:endParaRPr/>
          </a:p>
          <a:p>
            <a:pPr indent="-285750" lvl="1" marL="742950" rtl="0" algn="just">
              <a:lnSpc>
                <a:spcPct val="100000"/>
              </a:lnSpc>
              <a:spcBef>
                <a:spcPts val="56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 3) some strata are more diversified than others</a:t>
            </a:r>
            <a:endParaRPr/>
          </a:p>
        </p:txBody>
      </p:sp>
      <p:sp>
        <p:nvSpPr>
          <p:cNvPr id="345" name="Google Shape;345;p46"/>
          <p:cNvSpPr txBox="1"/>
          <p:nvPr/>
        </p:nvSpPr>
        <p:spPr>
          <a:xfrm>
            <a:off x="609600" y="304800"/>
            <a:ext cx="7848600" cy="838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47"/>
          <p:cNvSpPr txBox="1"/>
          <p:nvPr>
            <p:ph type="title"/>
          </p:nvPr>
        </p:nvSpPr>
        <p:spPr>
          <a:xfrm>
            <a:off x="152400" y="609600"/>
            <a:ext cx="86868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Times New Roman"/>
              <a:buNone/>
            </a:pPr>
            <a:r>
              <a:rPr b="0" i="0" lang="en-US" sz="3200" u="none">
                <a:solidFill>
                  <a:schemeClr val="dk2"/>
                </a:solidFill>
                <a:latin typeface="Times New Roman"/>
                <a:ea typeface="Times New Roman"/>
                <a:cs typeface="Times New Roman"/>
                <a:sym typeface="Times New Roman"/>
              </a:rPr>
              <a:t>Example: Let a population of 100 employees be divided into the following manner</a:t>
            </a:r>
            <a:endParaRPr/>
          </a:p>
        </p:txBody>
      </p:sp>
      <p:graphicFrame>
        <p:nvGraphicFramePr>
          <p:cNvPr id="351" name="Google Shape;351;p47"/>
          <p:cNvGraphicFramePr/>
          <p:nvPr/>
        </p:nvGraphicFramePr>
        <p:xfrm>
          <a:off x="152400" y="1981200"/>
          <a:ext cx="3000000" cy="3000000"/>
        </p:xfrm>
        <a:graphic>
          <a:graphicData uri="http://schemas.openxmlformats.org/drawingml/2006/table">
            <a:tbl>
              <a:tblPr>
                <a:noFill/>
                <a:tableStyleId>{EE6AF3A5-7124-4198-8793-6F0CF24379E0}</a:tableStyleId>
              </a:tblPr>
              <a:tblGrid>
                <a:gridCol w="1117600"/>
                <a:gridCol w="2146300"/>
                <a:gridCol w="1633525"/>
                <a:gridCol w="1974850"/>
                <a:gridCol w="1890700"/>
              </a:tblGrid>
              <a:tr h="1246175">
                <a:tc>
                  <a:txBody>
                    <a:bodyPr/>
                    <a:lstStyle/>
                    <a:p>
                      <a:pPr indent="0" lvl="0" marL="0" marR="0" rtl="0" algn="l">
                        <a:lnSpc>
                          <a:spcPct val="100000"/>
                        </a:lnSpc>
                        <a:spcBef>
                          <a:spcPts val="0"/>
                        </a:spcBef>
                        <a:spcAft>
                          <a:spcPts val="0"/>
                        </a:spcAft>
                        <a:buClr>
                          <a:srgbClr val="FFFFFF"/>
                        </a:buClr>
                        <a:buSzPts val="2000"/>
                        <a:buFont typeface="Times New Roman"/>
                        <a:buNone/>
                      </a:pPr>
                      <a:r>
                        <a:rPr b="1" i="0" lang="en-US" sz="2000" u="none" cap="none" strike="noStrike">
                          <a:solidFill>
                            <a:srgbClr val="FFFFFF"/>
                          </a:solidFill>
                          <a:latin typeface="Times New Roman"/>
                          <a:ea typeface="Times New Roman"/>
                          <a:cs typeface="Times New Roman"/>
                          <a:sym typeface="Times New Roman"/>
                        </a:rPr>
                        <a:t>Group/strata</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FFFFFF"/>
                        </a:buClr>
                        <a:buSzPts val="2000"/>
                        <a:buFont typeface="Times New Roman"/>
                        <a:buNone/>
                      </a:pPr>
                      <a:r>
                        <a:rPr b="1" i="0" lang="en-US" sz="2000" u="none" cap="none" strike="noStrike">
                          <a:solidFill>
                            <a:srgbClr val="FFFFFF"/>
                          </a:solidFill>
                          <a:latin typeface="Times New Roman"/>
                          <a:ea typeface="Times New Roman"/>
                          <a:cs typeface="Times New Roman"/>
                          <a:sym typeface="Times New Roman"/>
                        </a:rPr>
                        <a:t>Characteristics</a:t>
                      </a:r>
                      <a:endParaRPr/>
                    </a:p>
                    <a:p>
                      <a:pPr indent="0" lvl="0" marL="0" marR="0" rtl="0" algn="l">
                        <a:lnSpc>
                          <a:spcPct val="100000"/>
                        </a:lnSpc>
                        <a:spcBef>
                          <a:spcPts val="0"/>
                        </a:spcBef>
                        <a:spcAft>
                          <a:spcPts val="0"/>
                        </a:spcAft>
                        <a:buClr>
                          <a:srgbClr val="FFFFFF"/>
                        </a:buClr>
                        <a:buSzPts val="2000"/>
                        <a:buFont typeface="Times New Roman"/>
                        <a:buNone/>
                      </a:pPr>
                      <a:r>
                        <a:rPr b="1" i="0" lang="en-US" sz="2000" u="none" cap="none" strike="noStrike">
                          <a:solidFill>
                            <a:srgbClr val="FFFFFF"/>
                          </a:solidFill>
                          <a:latin typeface="Times New Roman"/>
                          <a:ea typeface="Times New Roman"/>
                          <a:cs typeface="Times New Roman"/>
                          <a:sym typeface="Times New Roman"/>
                        </a:rPr>
                        <a:t>(experience in years)</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FFFFFF"/>
                        </a:buClr>
                        <a:buSzPts val="2000"/>
                        <a:buFont typeface="Times New Roman"/>
                        <a:buNone/>
                      </a:pPr>
                      <a:r>
                        <a:rPr b="1" i="0" lang="en-US" sz="2000" u="none" cap="none" strike="noStrike">
                          <a:solidFill>
                            <a:srgbClr val="FFFFFF"/>
                          </a:solidFill>
                          <a:latin typeface="Times New Roman"/>
                          <a:ea typeface="Times New Roman"/>
                          <a:cs typeface="Times New Roman"/>
                          <a:sym typeface="Times New Roman"/>
                        </a:rPr>
                        <a:t>Number of employees</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FFFFFF"/>
                        </a:buClr>
                        <a:buSzPts val="2000"/>
                        <a:buFont typeface="Times New Roman"/>
                        <a:buNone/>
                      </a:pPr>
                      <a:r>
                        <a:rPr b="1" i="0" lang="en-US" sz="2000" u="none" cap="none" strike="noStrike">
                          <a:solidFill>
                            <a:srgbClr val="FFFFFF"/>
                          </a:solidFill>
                          <a:latin typeface="Times New Roman"/>
                          <a:ea typeface="Times New Roman"/>
                          <a:cs typeface="Times New Roman"/>
                          <a:sym typeface="Times New Roman"/>
                        </a:rPr>
                        <a:t>Non-proportional allocation</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FFFFFF"/>
                        </a:buClr>
                        <a:buSzPts val="2000"/>
                        <a:buFont typeface="Times New Roman"/>
                        <a:buNone/>
                      </a:pPr>
                      <a:r>
                        <a:rPr b="1" i="0" lang="en-US" sz="2000" u="none" cap="none" strike="noStrike">
                          <a:solidFill>
                            <a:srgbClr val="FFFFFF"/>
                          </a:solidFill>
                          <a:latin typeface="Times New Roman"/>
                          <a:ea typeface="Times New Roman"/>
                          <a:cs typeface="Times New Roman"/>
                          <a:sym typeface="Times New Roman"/>
                        </a:rPr>
                        <a:t>20% sample proportional allocation</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r>
              <a:tr h="869950">
                <a:tc>
                  <a:txBody>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cap="none" strike="noStrike">
                          <a:solidFill>
                            <a:srgbClr val="000000"/>
                          </a:solidFill>
                          <a:latin typeface="Times New Roman"/>
                          <a:ea typeface="Times New Roman"/>
                          <a:cs typeface="Times New Roman"/>
                          <a:sym typeface="Times New Roman"/>
                        </a:rPr>
                        <a:t>A</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BECDE"/>
                    </a:solidFill>
                  </a:tcPr>
                </a:tc>
                <a:tc>
                  <a:txBody>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cap="none" strike="noStrike">
                          <a:solidFill>
                            <a:srgbClr val="000000"/>
                          </a:solidFill>
                          <a:latin typeface="Times New Roman"/>
                          <a:ea typeface="Times New Roman"/>
                          <a:cs typeface="Times New Roman"/>
                          <a:sym typeface="Times New Roman"/>
                        </a:rPr>
                        <a:t>Less than 5 years</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BECDE"/>
                    </a:solidFill>
                  </a:tcPr>
                </a:tc>
                <a:tc>
                  <a:txBody>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cap="none" strike="noStrike">
                          <a:solidFill>
                            <a:srgbClr val="000000"/>
                          </a:solidFill>
                          <a:latin typeface="Times New Roman"/>
                          <a:ea typeface="Times New Roman"/>
                          <a:cs typeface="Times New Roman"/>
                          <a:sym typeface="Times New Roman"/>
                        </a:rPr>
                        <a:t>10</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BECDE"/>
                    </a:solidFill>
                  </a:tcPr>
                </a:tc>
                <a:tc>
                  <a:txBody>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cap="none" strike="noStrike">
                          <a:solidFill>
                            <a:srgbClr val="000000"/>
                          </a:solidFill>
                          <a:latin typeface="Times New Roman"/>
                          <a:ea typeface="Times New Roman"/>
                          <a:cs typeface="Times New Roman"/>
                          <a:sym typeface="Times New Roman"/>
                        </a:rPr>
                        <a:t>5</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BECDE"/>
                    </a:solidFill>
                  </a:tcPr>
                </a:tc>
                <a:tc>
                  <a:txBody>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cap="none" strike="noStrike">
                          <a:solidFill>
                            <a:srgbClr val="000000"/>
                          </a:solidFill>
                          <a:latin typeface="Times New Roman"/>
                          <a:ea typeface="Times New Roman"/>
                          <a:cs typeface="Times New Roman"/>
                          <a:sym typeface="Times New Roman"/>
                        </a:rPr>
                        <a:t>2</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BECDE"/>
                    </a:solidFill>
                  </a:tcPr>
                </a:tc>
              </a:tr>
              <a:tr h="490525">
                <a:tc>
                  <a:txBody>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cap="none" strike="noStrike">
                          <a:solidFill>
                            <a:srgbClr val="000000"/>
                          </a:solidFill>
                          <a:latin typeface="Times New Roman"/>
                          <a:ea typeface="Times New Roman"/>
                          <a:cs typeface="Times New Roman"/>
                          <a:sym typeface="Times New Roman"/>
                        </a:rPr>
                        <a:t>B </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6EF"/>
                    </a:solidFill>
                  </a:tcPr>
                </a:tc>
                <a:tc>
                  <a:txBody>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cap="none" strike="noStrike">
                          <a:solidFill>
                            <a:srgbClr val="000000"/>
                          </a:solidFill>
                          <a:latin typeface="Times New Roman"/>
                          <a:ea typeface="Times New Roman"/>
                          <a:cs typeface="Times New Roman"/>
                          <a:sym typeface="Times New Roman"/>
                        </a:rPr>
                        <a:t>5 to 10 years</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6EF"/>
                    </a:solidFill>
                  </a:tcPr>
                </a:tc>
                <a:tc>
                  <a:txBody>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cap="none" strike="noStrike">
                          <a:solidFill>
                            <a:srgbClr val="000000"/>
                          </a:solidFill>
                          <a:latin typeface="Times New Roman"/>
                          <a:ea typeface="Times New Roman"/>
                          <a:cs typeface="Times New Roman"/>
                          <a:sym typeface="Times New Roman"/>
                        </a:rPr>
                        <a:t>30</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6EF"/>
                    </a:solidFill>
                  </a:tcPr>
                </a:tc>
                <a:tc>
                  <a:txBody>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cap="none" strike="noStrike">
                          <a:solidFill>
                            <a:srgbClr val="000000"/>
                          </a:solidFill>
                          <a:latin typeface="Times New Roman"/>
                          <a:ea typeface="Times New Roman"/>
                          <a:cs typeface="Times New Roman"/>
                          <a:sym typeface="Times New Roman"/>
                        </a:rPr>
                        <a:t>5</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6EF"/>
                    </a:solidFill>
                  </a:tcPr>
                </a:tc>
                <a:tc>
                  <a:txBody>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cap="none" strike="noStrike">
                          <a:solidFill>
                            <a:srgbClr val="000000"/>
                          </a:solidFill>
                          <a:latin typeface="Times New Roman"/>
                          <a:ea typeface="Times New Roman"/>
                          <a:cs typeface="Times New Roman"/>
                          <a:sym typeface="Times New Roman"/>
                        </a:rPr>
                        <a:t>6</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6EF"/>
                    </a:solidFill>
                  </a:tcPr>
                </a:tc>
              </a:tr>
              <a:tr h="492125">
                <a:tc>
                  <a:txBody>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cap="none" strike="noStrike">
                          <a:solidFill>
                            <a:srgbClr val="000000"/>
                          </a:solidFill>
                          <a:latin typeface="Times New Roman"/>
                          <a:ea typeface="Times New Roman"/>
                          <a:cs typeface="Times New Roman"/>
                          <a:sym typeface="Times New Roman"/>
                        </a:rPr>
                        <a:t>C</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BECDE"/>
                    </a:solidFill>
                  </a:tcPr>
                </a:tc>
                <a:tc>
                  <a:txBody>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cap="none" strike="noStrike">
                          <a:solidFill>
                            <a:srgbClr val="000000"/>
                          </a:solidFill>
                          <a:latin typeface="Times New Roman"/>
                          <a:ea typeface="Times New Roman"/>
                          <a:cs typeface="Times New Roman"/>
                          <a:sym typeface="Times New Roman"/>
                        </a:rPr>
                        <a:t>10-20 years</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BECDE"/>
                    </a:solidFill>
                  </a:tcPr>
                </a:tc>
                <a:tc>
                  <a:txBody>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cap="none" strike="noStrike">
                          <a:solidFill>
                            <a:srgbClr val="000000"/>
                          </a:solidFill>
                          <a:latin typeface="Times New Roman"/>
                          <a:ea typeface="Times New Roman"/>
                          <a:cs typeface="Times New Roman"/>
                          <a:sym typeface="Times New Roman"/>
                        </a:rPr>
                        <a:t>40</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BECDE"/>
                    </a:solidFill>
                  </a:tcPr>
                </a:tc>
                <a:tc>
                  <a:txBody>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cap="none" strike="noStrike">
                          <a:solidFill>
                            <a:srgbClr val="000000"/>
                          </a:solidFill>
                          <a:latin typeface="Times New Roman"/>
                          <a:ea typeface="Times New Roman"/>
                          <a:cs typeface="Times New Roman"/>
                          <a:sym typeface="Times New Roman"/>
                        </a:rPr>
                        <a:t>5</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BECDE"/>
                    </a:solidFill>
                  </a:tcPr>
                </a:tc>
                <a:tc>
                  <a:txBody>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cap="none" strike="noStrike">
                          <a:solidFill>
                            <a:srgbClr val="000000"/>
                          </a:solidFill>
                          <a:latin typeface="Times New Roman"/>
                          <a:ea typeface="Times New Roman"/>
                          <a:cs typeface="Times New Roman"/>
                          <a:sym typeface="Times New Roman"/>
                        </a:rPr>
                        <a:t>8</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BECDE"/>
                    </a:solidFill>
                  </a:tcPr>
                </a:tc>
              </a:tr>
              <a:tr h="490525">
                <a:tc>
                  <a:txBody>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cap="none" strike="noStrike">
                          <a:solidFill>
                            <a:srgbClr val="000000"/>
                          </a:solidFill>
                          <a:latin typeface="Times New Roman"/>
                          <a:ea typeface="Times New Roman"/>
                          <a:cs typeface="Times New Roman"/>
                          <a:sym typeface="Times New Roman"/>
                        </a:rPr>
                        <a:t>D</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6EF"/>
                    </a:solidFill>
                  </a:tcPr>
                </a:tc>
                <a:tc>
                  <a:txBody>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cap="none" strike="noStrike">
                          <a:solidFill>
                            <a:srgbClr val="000000"/>
                          </a:solidFill>
                          <a:latin typeface="Times New Roman"/>
                          <a:ea typeface="Times New Roman"/>
                          <a:cs typeface="Times New Roman"/>
                          <a:sym typeface="Times New Roman"/>
                        </a:rPr>
                        <a:t>200 and above</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6EF"/>
                    </a:solidFill>
                  </a:tcPr>
                </a:tc>
                <a:tc>
                  <a:txBody>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cap="none" strike="noStrike">
                          <a:solidFill>
                            <a:srgbClr val="000000"/>
                          </a:solidFill>
                          <a:latin typeface="Times New Roman"/>
                          <a:ea typeface="Times New Roman"/>
                          <a:cs typeface="Times New Roman"/>
                          <a:sym typeface="Times New Roman"/>
                        </a:rPr>
                        <a:t>20</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6EF"/>
                    </a:solidFill>
                  </a:tcPr>
                </a:tc>
                <a:tc>
                  <a:txBody>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cap="none" strike="noStrike">
                          <a:solidFill>
                            <a:srgbClr val="000000"/>
                          </a:solidFill>
                          <a:latin typeface="Times New Roman"/>
                          <a:ea typeface="Times New Roman"/>
                          <a:cs typeface="Times New Roman"/>
                          <a:sym typeface="Times New Roman"/>
                        </a:rPr>
                        <a:t>5</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6EF"/>
                    </a:solidFill>
                  </a:tcPr>
                </a:tc>
                <a:tc>
                  <a:txBody>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cap="none" strike="noStrike">
                          <a:solidFill>
                            <a:srgbClr val="000000"/>
                          </a:solidFill>
                          <a:latin typeface="Times New Roman"/>
                          <a:ea typeface="Times New Roman"/>
                          <a:cs typeface="Times New Roman"/>
                          <a:sym typeface="Times New Roman"/>
                        </a:rPr>
                        <a:t>4</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6EF"/>
                    </a:solidFill>
                  </a:tcPr>
                </a:tc>
              </a:tr>
              <a:tr h="492125">
                <a:tc>
                  <a:txBody>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BECDE"/>
                    </a:solidFill>
                  </a:tcPr>
                </a:tc>
                <a:tc>
                  <a:txBody>
                    <a:bodyPr/>
                    <a:lstStyle/>
                    <a:p>
                      <a:pPr indent="0" lvl="0" marL="0" marR="0" rtl="0" algn="ctr">
                        <a:lnSpc>
                          <a:spcPct val="100000"/>
                        </a:lnSpc>
                        <a:spcBef>
                          <a:spcPts val="0"/>
                        </a:spcBef>
                        <a:spcAft>
                          <a:spcPts val="0"/>
                        </a:spcAft>
                        <a:buClr>
                          <a:srgbClr val="000000"/>
                        </a:buClr>
                        <a:buSzPts val="2000"/>
                        <a:buFont typeface="Times New Roman"/>
                        <a:buNone/>
                      </a:pPr>
                      <a:r>
                        <a:rPr b="0" i="0" lang="en-US" sz="2000" u="none">
                          <a:solidFill>
                            <a:srgbClr val="000000"/>
                          </a:solidFill>
                          <a:latin typeface="Times New Roman"/>
                          <a:ea typeface="Times New Roman"/>
                          <a:cs typeface="Times New Roman"/>
                          <a:sym typeface="Times New Roman"/>
                        </a:rPr>
                        <a:t>Total </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BECDE"/>
                    </a:solidFill>
                  </a:tcPr>
                </a:tc>
                <a:tc>
                  <a:txBody>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a:solidFill>
                            <a:srgbClr val="000000"/>
                          </a:solidFill>
                          <a:latin typeface="Times New Roman"/>
                          <a:ea typeface="Times New Roman"/>
                          <a:cs typeface="Times New Roman"/>
                          <a:sym typeface="Times New Roman"/>
                        </a:rPr>
                        <a:t>100</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BECDE"/>
                    </a:solidFill>
                  </a:tcPr>
                </a:tc>
                <a:tc>
                  <a:txBody>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a:solidFill>
                            <a:srgbClr val="000000"/>
                          </a:solidFill>
                          <a:latin typeface="Times New Roman"/>
                          <a:ea typeface="Times New Roman"/>
                          <a:cs typeface="Times New Roman"/>
                          <a:sym typeface="Times New Roman"/>
                        </a:rPr>
                        <a:t>20</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BECDE"/>
                    </a:solidFill>
                  </a:tcPr>
                </a:tc>
                <a:tc>
                  <a:txBody>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a:solidFill>
                            <a:srgbClr val="000000"/>
                          </a:solidFill>
                          <a:latin typeface="Times New Roman"/>
                          <a:ea typeface="Times New Roman"/>
                          <a:cs typeface="Times New Roman"/>
                          <a:sym typeface="Times New Roman"/>
                        </a:rPr>
                        <a:t>20</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BECDE"/>
                    </a:solidFill>
                  </a:tcPr>
                </a:tc>
              </a:tr>
              <a:tr h="490525">
                <a:tc>
                  <a:txBody>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6EF"/>
                    </a:solidFill>
                  </a:tcPr>
                </a:tc>
                <a:tc>
                  <a:txBody>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6EF"/>
                    </a:solidFill>
                  </a:tcPr>
                </a:tc>
                <a:tc>
                  <a:txBody>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6EF"/>
                    </a:solidFill>
                  </a:tcPr>
                </a:tc>
                <a:tc>
                  <a:txBody>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6EF"/>
                    </a:solidFill>
                  </a:tcPr>
                </a:tc>
                <a:tc>
                  <a:txBody>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6EF"/>
                    </a:solidFill>
                  </a:tcP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48"/>
          <p:cNvSpPr txBox="1"/>
          <p:nvPr>
            <p:ph type="title"/>
          </p:nvPr>
        </p:nvSpPr>
        <p:spPr>
          <a:xfrm>
            <a:off x="685800" y="0"/>
            <a:ext cx="7848600" cy="838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Cluster Sampling</a:t>
            </a:r>
            <a:endParaRPr/>
          </a:p>
        </p:txBody>
      </p:sp>
      <p:sp>
        <p:nvSpPr>
          <p:cNvPr id="358" name="Google Shape;358;p48"/>
          <p:cNvSpPr txBox="1"/>
          <p:nvPr>
            <p:ph idx="1" type="body"/>
          </p:nvPr>
        </p:nvSpPr>
        <p:spPr>
          <a:xfrm>
            <a:off x="152400" y="685800"/>
            <a:ext cx="8991600" cy="6019800"/>
          </a:xfrm>
          <a:prstGeom prst="rect">
            <a:avLst/>
          </a:prstGeom>
          <a:noFill/>
          <a:ln>
            <a:noFill/>
          </a:ln>
        </p:spPr>
        <p:txBody>
          <a:bodyPr anchorCtr="0" anchor="t" bIns="45700" lIns="91425" spcFirstLastPara="1" rIns="91425" wrap="square" tIns="45700">
            <a:noAutofit/>
          </a:bodyPr>
          <a:lstStyle/>
          <a:p>
            <a:pPr indent="-342900" lvl="0" marL="342900" rtl="0" algn="just">
              <a:lnSpc>
                <a:spcPct val="15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Clusters of population units are selected at random and then all or some randomly chosen units in the selected clusters are studied.</a:t>
            </a:r>
            <a:endParaRPr/>
          </a:p>
          <a:p>
            <a:pPr indent="-342900" lvl="0" marL="342900" rtl="0" algn="just">
              <a:lnSpc>
                <a:spcPct val="15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The population is divided into heterogonous groups called clusters.</a:t>
            </a:r>
            <a:endParaRPr/>
          </a:p>
          <a:p>
            <a:pPr indent="-342900" lvl="0" marL="342900" rtl="0" algn="just">
              <a:lnSpc>
                <a:spcPct val="15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Steps:</a:t>
            </a:r>
            <a:endParaRPr/>
          </a:p>
          <a:p>
            <a:pPr indent="-285750" lvl="1" marL="742950" rtl="0" algn="l">
              <a:lnSpc>
                <a:spcPct val="9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Population is divided into mutually exclusive and exhaustive subgroups, or clusters. Ideally, each cluster adequately represents the population.</a:t>
            </a:r>
            <a:endParaRPr/>
          </a:p>
          <a:p>
            <a:pPr indent="-285750" lvl="1" marL="742950" rtl="0" algn="l">
              <a:lnSpc>
                <a:spcPct val="9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A simple random sample of a few clusters is selected.</a:t>
            </a:r>
            <a:endParaRPr/>
          </a:p>
          <a:p>
            <a:pPr indent="-285750" lvl="1" marL="742950" rtl="0" algn="l">
              <a:lnSpc>
                <a:spcPct val="9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All or some randomly chosen units in the selected clusters are studied.</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49"/>
          <p:cNvSpPr txBox="1"/>
          <p:nvPr/>
        </p:nvSpPr>
        <p:spPr>
          <a:xfrm>
            <a:off x="685800" y="228600"/>
            <a:ext cx="7391400" cy="57943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Times New Roman"/>
              <a:buNone/>
            </a:pPr>
            <a:r>
              <a:rPr b="0" i="0" lang="en-US" sz="3200" u="none">
                <a:solidFill>
                  <a:schemeClr val="dk1"/>
                </a:solidFill>
                <a:latin typeface="Times New Roman"/>
                <a:ea typeface="Times New Roman"/>
                <a:cs typeface="Times New Roman"/>
                <a:sym typeface="Times New Roman"/>
              </a:rPr>
              <a:t>Cluster or Area Random Sampling</a:t>
            </a:r>
            <a:endParaRPr/>
          </a:p>
        </p:txBody>
      </p:sp>
      <p:sp>
        <p:nvSpPr>
          <p:cNvPr id="365" name="Google Shape;365;p49"/>
          <p:cNvSpPr txBox="1"/>
          <p:nvPr/>
        </p:nvSpPr>
        <p:spPr>
          <a:xfrm>
            <a:off x="304800" y="2057400"/>
            <a:ext cx="4419600" cy="3108325"/>
          </a:xfrm>
          <a:prstGeom prst="rect">
            <a:avLst/>
          </a:prstGeom>
          <a:noFill/>
          <a:ln>
            <a:noFill/>
          </a:ln>
        </p:spPr>
        <p:txBody>
          <a:bodyPr anchorCtr="0" anchor="t" bIns="45700" lIns="91425" spcFirstLastPara="1" rIns="91425" wrap="square" tIns="45700">
            <a:spAutoFit/>
          </a:bodyPr>
          <a:lstStyle/>
          <a:p>
            <a:pPr indent="-177800" lvl="0" marL="0" marR="0" rtl="0" algn="just">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 Divide population into clusters (usually along geographic boundaries)</a:t>
            </a:r>
            <a:endParaRPr/>
          </a:p>
          <a:p>
            <a:pPr indent="-177800" lvl="0" marL="0" marR="0" rtl="0" algn="just">
              <a:lnSpc>
                <a:spcPct val="100000"/>
              </a:lnSpc>
              <a:spcBef>
                <a:spcPts val="140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 randomly sample clusters </a:t>
            </a:r>
            <a:endParaRPr/>
          </a:p>
          <a:p>
            <a:pPr indent="-177800" lvl="0" marL="0" marR="0" rtl="0" algn="just">
              <a:lnSpc>
                <a:spcPct val="100000"/>
              </a:lnSpc>
              <a:spcBef>
                <a:spcPts val="140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 measure units within sampled clusters </a:t>
            </a:r>
            <a:endParaRPr/>
          </a:p>
        </p:txBody>
      </p:sp>
      <p:pic>
        <p:nvPicPr>
          <p:cNvPr descr="http://www.una.ab.ca/gifs/districtmap_sml.gif" id="366" name="Google Shape;366;p49"/>
          <p:cNvPicPr preferRelativeResize="0"/>
          <p:nvPr/>
        </p:nvPicPr>
        <p:blipFill rotWithShape="1">
          <a:blip r:embed="rId3">
            <a:alphaModFix/>
          </a:blip>
          <a:srcRect b="0" l="0" r="0" t="0"/>
          <a:stretch/>
        </p:blipFill>
        <p:spPr>
          <a:xfrm>
            <a:off x="5029200" y="762000"/>
            <a:ext cx="3635375" cy="57912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50"/>
          <p:cNvSpPr txBox="1"/>
          <p:nvPr>
            <p:ph type="title"/>
          </p:nvPr>
        </p:nvSpPr>
        <p:spPr>
          <a:xfrm>
            <a:off x="457200" y="76200"/>
            <a:ext cx="8229600" cy="914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Cluster Sampling</a:t>
            </a:r>
            <a:endParaRPr/>
          </a:p>
        </p:txBody>
      </p:sp>
      <p:sp>
        <p:nvSpPr>
          <p:cNvPr id="372" name="Google Shape;372;p50"/>
          <p:cNvSpPr txBox="1"/>
          <p:nvPr>
            <p:ph idx="1" type="body"/>
          </p:nvPr>
        </p:nvSpPr>
        <p:spPr>
          <a:xfrm>
            <a:off x="152400" y="1295400"/>
            <a:ext cx="8839200" cy="48006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Cluster sampling is an example of 'two-stage sampling' . </a:t>
            </a:r>
            <a:endParaRPr/>
          </a:p>
          <a:p>
            <a:pPr indent="-342900" lvl="0" marL="342900" marR="0" rtl="0" algn="just">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 First stage a sample of areas is chosen;</a:t>
            </a:r>
            <a:endParaRPr/>
          </a:p>
          <a:p>
            <a:pPr indent="-342900" lvl="0" marL="342900" marR="0" rtl="0" algn="just">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 Second stage a sample of respondents </a:t>
            </a:r>
            <a:r>
              <a:rPr b="0" i="1" lang="en-US" sz="2800" u="none">
                <a:solidFill>
                  <a:schemeClr val="dk1"/>
                </a:solidFill>
                <a:latin typeface="Times New Roman"/>
                <a:ea typeface="Times New Roman"/>
                <a:cs typeface="Times New Roman"/>
                <a:sym typeface="Times New Roman"/>
              </a:rPr>
              <a:t>within</a:t>
            </a:r>
            <a:r>
              <a:rPr b="0" i="0" lang="en-US" sz="2800" u="none">
                <a:solidFill>
                  <a:schemeClr val="dk1"/>
                </a:solidFill>
                <a:latin typeface="Times New Roman"/>
                <a:ea typeface="Times New Roman"/>
                <a:cs typeface="Times New Roman"/>
                <a:sym typeface="Times New Roman"/>
              </a:rPr>
              <a:t> those areas is selected.</a:t>
            </a:r>
            <a:endParaRPr/>
          </a:p>
          <a:p>
            <a:pPr indent="-342900" lvl="0" marL="342900" marR="0" rtl="0" algn="just">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 Population divided into clusters of homogeneous units, usually based on geographical contiguity.</a:t>
            </a:r>
            <a:endParaRPr/>
          </a:p>
          <a:p>
            <a:pPr indent="-342900" lvl="0" marL="342900" marR="0" rtl="0" algn="just">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Sampling units are groups rather than individuals.</a:t>
            </a:r>
            <a:endParaRPr/>
          </a:p>
          <a:p>
            <a:pPr indent="-342900" lvl="0" marL="342900" marR="0" rtl="0" algn="just">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A sample of such clusters is then selected.</a:t>
            </a:r>
            <a:endParaRPr/>
          </a:p>
          <a:p>
            <a:pPr indent="-342900" lvl="0" marL="342900" marR="0" rtl="0" algn="just">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All units from the selected clusters are studied.</a:t>
            </a:r>
            <a:endParaRPr/>
          </a:p>
          <a:p>
            <a:pPr indent="-165100" lvl="0" marL="342900" marR="0" rtl="0" algn="l">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51"/>
          <p:cNvSpPr txBox="1"/>
          <p:nvPr>
            <p:ph type="title"/>
          </p:nvPr>
        </p:nvSpPr>
        <p:spPr>
          <a:xfrm>
            <a:off x="685800" y="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Cluster Sampling</a:t>
            </a:r>
            <a:endParaRPr/>
          </a:p>
        </p:txBody>
      </p:sp>
      <p:sp>
        <p:nvSpPr>
          <p:cNvPr id="378" name="Google Shape;378;p51"/>
          <p:cNvSpPr txBox="1"/>
          <p:nvPr>
            <p:ph idx="1" type="body"/>
          </p:nvPr>
        </p:nvSpPr>
        <p:spPr>
          <a:xfrm>
            <a:off x="381000" y="1524000"/>
            <a:ext cx="8382000" cy="45720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Two types of cluster sampling methods. </a:t>
            </a:r>
            <a:endParaRPr/>
          </a:p>
          <a:p>
            <a:pPr indent="-342900" lvl="0" marL="342900" marR="0" rtl="0" algn="just">
              <a:lnSpc>
                <a:spcPct val="100000"/>
              </a:lnSpc>
              <a:spcBef>
                <a:spcPts val="560"/>
              </a:spcBef>
              <a:spcAft>
                <a:spcPts val="0"/>
              </a:spcAft>
              <a:buClr>
                <a:schemeClr val="dk1"/>
              </a:buClr>
              <a:buSzPts val="2800"/>
              <a:buFont typeface="Times New Roman"/>
              <a:buNone/>
            </a:pPr>
            <a:r>
              <a:rPr b="1" i="0" lang="en-US" sz="2800" u="none">
                <a:solidFill>
                  <a:schemeClr val="dk1"/>
                </a:solidFill>
                <a:latin typeface="Times New Roman"/>
                <a:ea typeface="Times New Roman"/>
                <a:cs typeface="Times New Roman"/>
                <a:sym typeface="Times New Roman"/>
              </a:rPr>
              <a:t>One-stage sampling</a:t>
            </a:r>
            <a:r>
              <a:rPr b="0" i="0" lang="en-US" sz="2800" u="none">
                <a:solidFill>
                  <a:schemeClr val="dk1"/>
                </a:solidFill>
                <a:latin typeface="Times New Roman"/>
                <a:ea typeface="Times New Roman"/>
                <a:cs typeface="Times New Roman"/>
                <a:sym typeface="Times New Roman"/>
              </a:rPr>
              <a:t>. All of the elements within selected clusters are included in the sample.</a:t>
            </a:r>
            <a:endParaRPr/>
          </a:p>
          <a:p>
            <a:pPr indent="-342900" lvl="0" marL="342900" marR="0" rtl="0" algn="just">
              <a:lnSpc>
                <a:spcPct val="100000"/>
              </a:lnSpc>
              <a:spcBef>
                <a:spcPts val="560"/>
              </a:spcBef>
              <a:spcAft>
                <a:spcPts val="0"/>
              </a:spcAft>
              <a:buClr>
                <a:schemeClr val="dk1"/>
              </a:buClr>
              <a:buSzPts val="2800"/>
              <a:buFont typeface="Times New Roman"/>
              <a:buNone/>
            </a:pPr>
            <a:r>
              <a:rPr b="1" i="0" lang="en-US" sz="2800" u="none">
                <a:solidFill>
                  <a:schemeClr val="dk1"/>
                </a:solidFill>
                <a:latin typeface="Times New Roman"/>
                <a:ea typeface="Times New Roman"/>
                <a:cs typeface="Times New Roman"/>
                <a:sym typeface="Times New Roman"/>
              </a:rPr>
              <a:t>Two-stage sampling</a:t>
            </a:r>
            <a:r>
              <a:rPr b="0" i="0" lang="en-US" sz="2800" u="none">
                <a:solidFill>
                  <a:schemeClr val="dk1"/>
                </a:solidFill>
                <a:latin typeface="Times New Roman"/>
                <a:ea typeface="Times New Roman"/>
                <a:cs typeface="Times New Roman"/>
                <a:sym typeface="Times New Roman"/>
              </a:rPr>
              <a:t>. A subset of elements within selected clusters are randomly selected for inclusion in the sample.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52"/>
          <p:cNvSpPr txBox="1"/>
          <p:nvPr>
            <p:ph type="title"/>
          </p:nvPr>
        </p:nvSpPr>
        <p:spPr>
          <a:xfrm>
            <a:off x="685800" y="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Cluster Sampling</a:t>
            </a:r>
            <a:endParaRPr/>
          </a:p>
        </p:txBody>
      </p:sp>
      <p:sp>
        <p:nvSpPr>
          <p:cNvPr id="384" name="Google Shape;384;p52"/>
          <p:cNvSpPr txBox="1"/>
          <p:nvPr>
            <p:ph idx="1" type="body"/>
          </p:nvPr>
        </p:nvSpPr>
        <p:spPr>
          <a:xfrm>
            <a:off x="381000" y="1524000"/>
            <a:ext cx="8382000" cy="45720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9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Advantages :</a:t>
            </a:r>
            <a:endParaRPr/>
          </a:p>
          <a:p>
            <a:pPr indent="-342900" lvl="0" marL="342900" marR="0" rtl="0" algn="just">
              <a:lnSpc>
                <a:spcPct val="9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Cuts down on the cost of preparing a sampling frame.</a:t>
            </a:r>
            <a:endParaRPr/>
          </a:p>
          <a:p>
            <a:pPr indent="-342900" lvl="0" marL="342900" marR="0" rtl="0" algn="just">
              <a:lnSpc>
                <a:spcPct val="9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This can reduce travel and other administrative costs.</a:t>
            </a:r>
            <a:endParaRPr/>
          </a:p>
          <a:p>
            <a:pPr indent="-342900" lvl="0" marL="342900" marR="0" rtl="0" algn="just">
              <a:lnSpc>
                <a:spcPct val="9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Disadvantages: sampling error is higher for a simple random sample of same size.</a:t>
            </a:r>
            <a:endParaRPr/>
          </a:p>
          <a:p>
            <a:pPr indent="-342900" lvl="0" marL="342900" marR="0" rtl="0" algn="just">
              <a:lnSpc>
                <a:spcPct val="9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Often used to evaluate vaccination coverage in EPI </a:t>
            </a:r>
            <a:endParaRPr/>
          </a:p>
          <a:p>
            <a:pPr indent="-165100" lvl="0" marL="342900" marR="0" rtl="0" algn="l">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53"/>
          <p:cNvSpPr txBox="1"/>
          <p:nvPr>
            <p:ph idx="1" type="body"/>
          </p:nvPr>
        </p:nvSpPr>
        <p:spPr>
          <a:xfrm>
            <a:off x="304800" y="990600"/>
            <a:ext cx="8610600" cy="5486400"/>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chemeClr val="dk2"/>
              </a:buClr>
              <a:buSzPts val="2800"/>
              <a:buFont typeface="Times New Roman"/>
              <a:buNone/>
            </a:pPr>
            <a:r>
              <a:rPr b="0" i="1" lang="en-US" sz="2800" u="none">
                <a:solidFill>
                  <a:schemeClr val="dk2"/>
                </a:solidFill>
                <a:latin typeface="Times New Roman"/>
                <a:ea typeface="Times New Roman"/>
                <a:cs typeface="Times New Roman"/>
                <a:sym typeface="Times New Roman"/>
              </a:rPr>
              <a:t>When to use stratified sampling</a:t>
            </a:r>
            <a:endParaRPr b="0" i="0" sz="2800" u="none">
              <a:solidFill>
                <a:schemeClr val="dk1"/>
              </a:solidFill>
              <a:latin typeface="Times New Roman"/>
              <a:ea typeface="Times New Roman"/>
              <a:cs typeface="Times New Roman"/>
              <a:sym typeface="Times New Roman"/>
            </a:endParaRPr>
          </a:p>
          <a:p>
            <a:pPr indent="-342900" lvl="0" marL="342900" rtl="0" algn="just">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If primary research objective is to compare groups</a:t>
            </a:r>
            <a:endParaRPr/>
          </a:p>
          <a:p>
            <a:pPr indent="-342900" lvl="0" marL="342900" rtl="0" algn="just">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Using stratified sampling may reduce sampling errors</a:t>
            </a:r>
            <a:endParaRPr/>
          </a:p>
          <a:p>
            <a:pPr indent="-165100" lvl="0" marL="342900" rtl="0" algn="just">
              <a:lnSpc>
                <a:spcPct val="100000"/>
              </a:lnSpc>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342900" lvl="0" marL="342900" rtl="0" algn="just">
              <a:lnSpc>
                <a:spcPct val="100000"/>
              </a:lnSpc>
              <a:spcBef>
                <a:spcPts val="560"/>
              </a:spcBef>
              <a:spcAft>
                <a:spcPts val="0"/>
              </a:spcAft>
              <a:buClr>
                <a:schemeClr val="dk2"/>
              </a:buClr>
              <a:buSzPts val="2800"/>
              <a:buFont typeface="Times New Roman"/>
              <a:buNone/>
            </a:pPr>
            <a:r>
              <a:rPr b="0" i="1" lang="en-US" sz="2800" u="none">
                <a:solidFill>
                  <a:schemeClr val="dk2"/>
                </a:solidFill>
                <a:latin typeface="Times New Roman"/>
                <a:ea typeface="Times New Roman"/>
                <a:cs typeface="Times New Roman"/>
                <a:sym typeface="Times New Roman"/>
              </a:rPr>
              <a:t>When to use cluster sampling</a:t>
            </a:r>
            <a:endParaRPr b="0" i="0" sz="2800" u="none">
              <a:solidFill>
                <a:schemeClr val="dk1"/>
              </a:solidFill>
              <a:latin typeface="Times New Roman"/>
              <a:ea typeface="Times New Roman"/>
              <a:cs typeface="Times New Roman"/>
              <a:sym typeface="Times New Roman"/>
            </a:endParaRPr>
          </a:p>
          <a:p>
            <a:pPr indent="-342900" lvl="0" marL="342900" rtl="0" algn="just">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If there are substantial fixed costs associated with each data collection location</a:t>
            </a:r>
            <a:endParaRPr/>
          </a:p>
          <a:p>
            <a:pPr indent="-342900" lvl="0" marL="342900" rtl="0" algn="just">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When there is a list of clusters but not of individual population members</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54"/>
          <p:cNvSpPr txBox="1"/>
          <p:nvPr>
            <p:ph type="title"/>
          </p:nvPr>
        </p:nvSpPr>
        <p:spPr>
          <a:xfrm>
            <a:off x="609600" y="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II. Non-Probability Sampling</a:t>
            </a:r>
            <a:endParaRPr/>
          </a:p>
        </p:txBody>
      </p:sp>
      <p:sp>
        <p:nvSpPr>
          <p:cNvPr id="397" name="Google Shape;397;p54"/>
          <p:cNvSpPr txBox="1"/>
          <p:nvPr>
            <p:ph idx="1" type="body"/>
          </p:nvPr>
        </p:nvSpPr>
        <p:spPr>
          <a:xfrm>
            <a:off x="457200" y="1371600"/>
            <a:ext cx="8382000" cy="4572000"/>
          </a:xfrm>
          <a:prstGeom prst="rect">
            <a:avLst/>
          </a:prstGeom>
          <a:noFill/>
          <a:ln>
            <a:noFill/>
          </a:ln>
        </p:spPr>
        <p:txBody>
          <a:bodyPr anchorCtr="0" anchor="t" bIns="45700" lIns="91425" spcFirstLastPara="1" rIns="91425" wrap="square" tIns="45700">
            <a:noAutofit/>
          </a:bodyPr>
          <a:lstStyle/>
          <a:p>
            <a:pPr indent="-342900" lvl="0" marL="342900" rtl="0" algn="just">
              <a:lnSpc>
                <a:spcPct val="90000"/>
              </a:lnSpc>
              <a:spcBef>
                <a:spcPts val="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342900" lvl="0" marL="342900" rtl="0" algn="just">
              <a:lnSpc>
                <a:spcPct val="90000"/>
              </a:lnSpc>
              <a:spcBef>
                <a:spcPts val="700"/>
              </a:spcBef>
              <a:spcAft>
                <a:spcPts val="0"/>
              </a:spcAft>
              <a:buClr>
                <a:schemeClr val="dk1"/>
              </a:buClr>
              <a:buSzPts val="2800"/>
              <a:buFont typeface="Noto Sans Symbols"/>
              <a:buChar char="⮚"/>
            </a:pPr>
            <a:r>
              <a:rPr b="0" i="0" lang="en-US" sz="2800" u="none">
                <a:solidFill>
                  <a:schemeClr val="dk1"/>
                </a:solidFill>
                <a:latin typeface="Times New Roman"/>
                <a:ea typeface="Times New Roman"/>
                <a:cs typeface="Times New Roman"/>
                <a:sym typeface="Times New Roman"/>
              </a:rPr>
              <a:t>Subjective procedure in which the probability of selection for some population units are </a:t>
            </a:r>
            <a:r>
              <a:rPr b="0" i="0" lang="en-US" sz="2800" u="sng">
                <a:solidFill>
                  <a:schemeClr val="dk1"/>
                </a:solidFill>
                <a:latin typeface="Times New Roman"/>
                <a:ea typeface="Times New Roman"/>
                <a:cs typeface="Times New Roman"/>
                <a:sym typeface="Times New Roman"/>
              </a:rPr>
              <a:t>zero</a:t>
            </a:r>
            <a:r>
              <a:rPr b="0" i="0" lang="en-US" sz="2800" u="none">
                <a:solidFill>
                  <a:schemeClr val="dk1"/>
                </a:solidFill>
                <a:latin typeface="Times New Roman"/>
                <a:ea typeface="Times New Roman"/>
                <a:cs typeface="Times New Roman"/>
                <a:sym typeface="Times New Roman"/>
              </a:rPr>
              <a:t> or </a:t>
            </a:r>
            <a:r>
              <a:rPr b="0" i="0" lang="en-US" sz="2800" u="sng">
                <a:solidFill>
                  <a:schemeClr val="dk1"/>
                </a:solidFill>
                <a:latin typeface="Times New Roman"/>
                <a:ea typeface="Times New Roman"/>
                <a:cs typeface="Times New Roman"/>
                <a:sym typeface="Times New Roman"/>
              </a:rPr>
              <a:t>unknown</a:t>
            </a:r>
            <a:r>
              <a:rPr b="0" i="0" lang="en-US" sz="2800" u="none">
                <a:solidFill>
                  <a:schemeClr val="dk1"/>
                </a:solidFill>
                <a:latin typeface="Times New Roman"/>
                <a:ea typeface="Times New Roman"/>
                <a:cs typeface="Times New Roman"/>
                <a:sym typeface="Times New Roman"/>
              </a:rPr>
              <a:t> before drawing the sample.</a:t>
            </a:r>
            <a:endParaRPr/>
          </a:p>
          <a:p>
            <a:pPr indent="-342900" lvl="0" marL="342900" rtl="0" algn="just">
              <a:lnSpc>
                <a:spcPct val="90000"/>
              </a:lnSpc>
              <a:spcBef>
                <a:spcPts val="700"/>
              </a:spcBef>
              <a:spcAft>
                <a:spcPts val="0"/>
              </a:spcAft>
              <a:buClr>
                <a:schemeClr val="dk1"/>
              </a:buClr>
              <a:buSzPts val="2800"/>
              <a:buFont typeface="Noto Sans Symbols"/>
              <a:buChar char="⮚"/>
            </a:pPr>
            <a:r>
              <a:rPr b="0" i="0" lang="en-US" sz="2800" u="none">
                <a:solidFill>
                  <a:schemeClr val="dk1"/>
                </a:solidFill>
                <a:latin typeface="Times New Roman"/>
                <a:ea typeface="Times New Roman"/>
                <a:cs typeface="Times New Roman"/>
                <a:sym typeface="Times New Roman"/>
              </a:rPr>
              <a:t>information is obtained from a non-representative sample of the population</a:t>
            </a:r>
            <a:endParaRPr/>
          </a:p>
          <a:p>
            <a:pPr indent="-342900" lvl="0" marL="342900" rtl="0" algn="just">
              <a:lnSpc>
                <a:spcPct val="90000"/>
              </a:lnSpc>
              <a:spcBef>
                <a:spcPts val="700"/>
              </a:spcBef>
              <a:spcAft>
                <a:spcPts val="0"/>
              </a:spcAft>
              <a:buClr>
                <a:schemeClr val="dk1"/>
              </a:buClr>
              <a:buSzPts val="2800"/>
              <a:buFont typeface="Noto Sans Symbols"/>
              <a:buChar char="⮚"/>
            </a:pPr>
            <a:r>
              <a:rPr b="0" i="0" lang="en-US" sz="2800" u="none">
                <a:solidFill>
                  <a:schemeClr val="dk1"/>
                </a:solidFill>
                <a:latin typeface="Times New Roman"/>
                <a:ea typeface="Times New Roman"/>
                <a:cs typeface="Times New Roman"/>
                <a:sym typeface="Times New Roman"/>
              </a:rPr>
              <a:t>Sampling error can not be computed</a:t>
            </a:r>
            <a:endParaRPr/>
          </a:p>
          <a:p>
            <a:pPr indent="-342900" lvl="0" marL="342900" rtl="0" algn="just">
              <a:lnSpc>
                <a:spcPct val="90000"/>
              </a:lnSpc>
              <a:spcBef>
                <a:spcPts val="700"/>
              </a:spcBef>
              <a:spcAft>
                <a:spcPts val="0"/>
              </a:spcAft>
              <a:buClr>
                <a:schemeClr val="dk1"/>
              </a:buClr>
              <a:buSzPts val="2800"/>
              <a:buFont typeface="Noto Sans Symbols"/>
              <a:buChar char="⮚"/>
            </a:pPr>
            <a:r>
              <a:rPr b="0" i="0" lang="en-US" sz="2800" u="none">
                <a:solidFill>
                  <a:schemeClr val="dk1"/>
                </a:solidFill>
                <a:latin typeface="Times New Roman"/>
                <a:ea typeface="Times New Roman"/>
                <a:cs typeface="Times New Roman"/>
                <a:sym typeface="Times New Roman"/>
              </a:rPr>
              <a:t>Survey results cannot be projected to the population</a:t>
            </a:r>
            <a:endParaRPr/>
          </a:p>
          <a:p>
            <a:pPr indent="-165100" lvl="0" marL="342900" rtl="0" algn="l">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55"/>
          <p:cNvSpPr txBox="1"/>
          <p:nvPr/>
        </p:nvSpPr>
        <p:spPr>
          <a:xfrm>
            <a:off x="838200" y="404812"/>
            <a:ext cx="77724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Non-Probability Sampling</a:t>
            </a:r>
            <a:endParaRPr/>
          </a:p>
        </p:txBody>
      </p:sp>
      <p:sp>
        <p:nvSpPr>
          <p:cNvPr id="404" name="Google Shape;404;p55"/>
          <p:cNvSpPr txBox="1"/>
          <p:nvPr/>
        </p:nvSpPr>
        <p:spPr>
          <a:xfrm>
            <a:off x="457200" y="1752600"/>
            <a:ext cx="8153400"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0" i="0" lang="en-US" sz="3200" u="none">
                <a:solidFill>
                  <a:schemeClr val="dk1"/>
                </a:solidFill>
                <a:latin typeface="Times New Roman"/>
                <a:ea typeface="Times New Roman"/>
                <a:cs typeface="Times New Roman"/>
                <a:sym typeface="Times New Roman"/>
              </a:rPr>
              <a:t>Advantages</a:t>
            </a:r>
            <a:endParaRPr/>
          </a:p>
        </p:txBody>
      </p:sp>
      <p:sp>
        <p:nvSpPr>
          <p:cNvPr id="405" name="Google Shape;405;p55"/>
          <p:cNvSpPr txBox="1"/>
          <p:nvPr/>
        </p:nvSpPr>
        <p:spPr>
          <a:xfrm>
            <a:off x="381000" y="2743200"/>
            <a:ext cx="8382000" cy="1587500"/>
          </a:xfrm>
          <a:prstGeom prst="rect">
            <a:avLst/>
          </a:prstGeom>
          <a:noFill/>
          <a:ln>
            <a:noFill/>
          </a:ln>
        </p:spPr>
        <p:txBody>
          <a:bodyPr anchorCtr="0" anchor="t" bIns="45700" lIns="91425" spcFirstLastPara="1" rIns="91425" wrap="square" tIns="45700">
            <a:spAutoFit/>
          </a:bodyPr>
          <a:lstStyle/>
          <a:p>
            <a:pPr indent="-213359" lvl="0" marL="0" marR="0" rtl="0" algn="l">
              <a:lnSpc>
                <a:spcPct val="100000"/>
              </a:lnSpc>
              <a:spcBef>
                <a:spcPts val="0"/>
              </a:spcBef>
              <a:spcAft>
                <a:spcPts val="0"/>
              </a:spcAft>
              <a:buClr>
                <a:srgbClr val="FF0000"/>
              </a:buClr>
              <a:buSzPts val="3360"/>
              <a:buFont typeface="Noto Sans Symbols"/>
              <a:buChar char="▪"/>
            </a:pPr>
            <a:r>
              <a:rPr b="0" i="0" lang="en-US" sz="2800" u="none">
                <a:solidFill>
                  <a:schemeClr val="dk1"/>
                </a:solidFill>
                <a:latin typeface="Times New Roman"/>
                <a:ea typeface="Times New Roman"/>
                <a:cs typeface="Times New Roman"/>
                <a:sym typeface="Times New Roman"/>
              </a:rPr>
              <a:t> Cheaper and faster than probability</a:t>
            </a:r>
            <a:endParaRPr/>
          </a:p>
          <a:p>
            <a:pPr indent="-213359" lvl="0" marL="0" marR="0" rtl="0" algn="l">
              <a:lnSpc>
                <a:spcPct val="100000"/>
              </a:lnSpc>
              <a:spcBef>
                <a:spcPts val="1400"/>
              </a:spcBef>
              <a:spcAft>
                <a:spcPts val="0"/>
              </a:spcAft>
              <a:buClr>
                <a:srgbClr val="FF0000"/>
              </a:buClr>
              <a:buSzPts val="3360"/>
              <a:buFont typeface="Noto Sans Symbols"/>
              <a:buChar char="▪"/>
            </a:pPr>
            <a:r>
              <a:rPr b="0" i="0" lang="en-US" sz="2800" u="none">
                <a:solidFill>
                  <a:schemeClr val="dk1"/>
                </a:solidFill>
                <a:latin typeface="Times New Roman"/>
                <a:ea typeface="Times New Roman"/>
                <a:cs typeface="Times New Roman"/>
                <a:sym typeface="Times New Roman"/>
              </a:rPr>
              <a:t> Reasonably representative if collected in a thorough manner</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56"/>
          <p:cNvSpPr txBox="1"/>
          <p:nvPr>
            <p:ph type="title"/>
          </p:nvPr>
        </p:nvSpPr>
        <p:spPr>
          <a:xfrm>
            <a:off x="723900" y="333375"/>
            <a:ext cx="7772400" cy="10382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Types of Non-Probability Sampling</a:t>
            </a:r>
            <a:endParaRPr/>
          </a:p>
        </p:txBody>
      </p:sp>
      <p:sp>
        <p:nvSpPr>
          <p:cNvPr id="412" name="Google Shape;412;p56"/>
          <p:cNvSpPr txBox="1"/>
          <p:nvPr>
            <p:ph idx="1" type="body"/>
          </p:nvPr>
        </p:nvSpPr>
        <p:spPr>
          <a:xfrm>
            <a:off x="381000" y="1447800"/>
            <a:ext cx="8458200" cy="4572000"/>
          </a:xfrm>
          <a:prstGeom prst="rect">
            <a:avLst/>
          </a:prstGeom>
          <a:noFill/>
          <a:ln>
            <a:noFill/>
          </a:ln>
        </p:spPr>
        <p:txBody>
          <a:bodyPr anchorCtr="0" anchor="t" bIns="45700" lIns="91425" spcFirstLastPara="1" rIns="91425" wrap="square" tIns="45700">
            <a:noAutofit/>
          </a:bodyPr>
          <a:lstStyle/>
          <a:p>
            <a:pPr indent="-514350" lvl="0" marL="514350" rtl="0" algn="l">
              <a:lnSpc>
                <a:spcPct val="90000"/>
              </a:lnSpc>
              <a:spcBef>
                <a:spcPts val="0"/>
              </a:spcBef>
              <a:spcAft>
                <a:spcPts val="0"/>
              </a:spcAft>
              <a:buClr>
                <a:schemeClr val="dk1"/>
              </a:buClr>
              <a:buSzPts val="3200"/>
              <a:buFont typeface="Times New Roman"/>
              <a:buAutoNum type="arabicPeriod"/>
            </a:pPr>
            <a:r>
              <a:rPr b="0" i="0" lang="en-US" sz="3200" u="none">
                <a:solidFill>
                  <a:schemeClr val="dk1"/>
                </a:solidFill>
                <a:latin typeface="Times New Roman"/>
                <a:ea typeface="Times New Roman"/>
                <a:cs typeface="Times New Roman"/>
                <a:sym typeface="Times New Roman"/>
              </a:rPr>
              <a:t>Convenience Sampling</a:t>
            </a:r>
            <a:endParaRPr/>
          </a:p>
          <a:p>
            <a:pPr indent="-514350" lvl="0" marL="514350" rtl="0" algn="l">
              <a:lnSpc>
                <a:spcPct val="90000"/>
              </a:lnSpc>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285750" lvl="1" marL="742950" rtl="0" algn="l">
              <a:lnSpc>
                <a:spcPct val="9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A researcher's convenience forms the basis for selecting a sample.</a:t>
            </a:r>
            <a:endParaRPr/>
          </a:p>
          <a:p>
            <a:pPr indent="-228600" lvl="2" marL="1143000" rtl="0" algn="l">
              <a:lnSpc>
                <a:spcPct val="9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people in my classes</a:t>
            </a:r>
            <a:endParaRPr/>
          </a:p>
          <a:p>
            <a:pPr indent="-228600" lvl="2" marL="1143000" rtl="0" algn="l">
              <a:lnSpc>
                <a:spcPct val="9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Mall intercepts</a:t>
            </a:r>
            <a:endParaRPr/>
          </a:p>
          <a:p>
            <a:pPr indent="-228600" lvl="2" marL="1143000" rtl="0" algn="l">
              <a:lnSpc>
                <a:spcPct val="9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People with some specific characteristic (e.g. bald)</a:t>
            </a:r>
            <a:endParaRPr/>
          </a:p>
          <a:p>
            <a:pPr indent="-190500" lvl="0" marL="342900" rtl="0" algn="l">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57"/>
          <p:cNvSpPr txBox="1"/>
          <p:nvPr>
            <p:ph type="title"/>
          </p:nvPr>
        </p:nvSpPr>
        <p:spPr>
          <a:xfrm>
            <a:off x="730250" y="95250"/>
            <a:ext cx="7531100" cy="598487"/>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Convenience Sampling</a:t>
            </a:r>
            <a:endParaRPr/>
          </a:p>
        </p:txBody>
      </p:sp>
      <p:sp>
        <p:nvSpPr>
          <p:cNvPr id="418" name="Google Shape;418;p57"/>
          <p:cNvSpPr txBox="1"/>
          <p:nvPr>
            <p:ph idx="1" type="body"/>
          </p:nvPr>
        </p:nvSpPr>
        <p:spPr>
          <a:xfrm>
            <a:off x="76200" y="838200"/>
            <a:ext cx="9067800" cy="58674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5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Sometimes known as </a:t>
            </a:r>
            <a:r>
              <a:rPr b="1" i="0" lang="en-US" sz="2800" u="none">
                <a:solidFill>
                  <a:schemeClr val="dk1"/>
                </a:solidFill>
                <a:latin typeface="Times New Roman"/>
                <a:ea typeface="Times New Roman"/>
                <a:cs typeface="Times New Roman"/>
                <a:sym typeface="Times New Roman"/>
              </a:rPr>
              <a:t>grab</a:t>
            </a:r>
            <a:r>
              <a:rPr b="0" i="0" lang="en-US" sz="2800" u="none">
                <a:solidFill>
                  <a:schemeClr val="dk1"/>
                </a:solidFill>
                <a:latin typeface="Times New Roman"/>
                <a:ea typeface="Times New Roman"/>
                <a:cs typeface="Times New Roman"/>
                <a:sym typeface="Times New Roman"/>
              </a:rPr>
              <a:t> or </a:t>
            </a:r>
            <a:r>
              <a:rPr b="1" i="0" lang="en-US" sz="2800" u="none">
                <a:solidFill>
                  <a:schemeClr val="dk1"/>
                </a:solidFill>
                <a:latin typeface="Times New Roman"/>
                <a:ea typeface="Times New Roman"/>
                <a:cs typeface="Times New Roman"/>
                <a:sym typeface="Times New Roman"/>
              </a:rPr>
              <a:t>opportunity sampling or accidental or haphazard sampling.</a:t>
            </a:r>
            <a:r>
              <a:rPr b="0" i="0" lang="en-US" sz="2800" u="none">
                <a:solidFill>
                  <a:schemeClr val="dk1"/>
                </a:solidFill>
                <a:latin typeface="Times New Roman"/>
                <a:ea typeface="Times New Roman"/>
                <a:cs typeface="Times New Roman"/>
                <a:sym typeface="Times New Roman"/>
              </a:rPr>
              <a:t> </a:t>
            </a:r>
            <a:endParaRPr/>
          </a:p>
          <a:p>
            <a:pPr indent="-342900" lvl="0" marL="342900" marR="0" rtl="0" algn="just">
              <a:lnSpc>
                <a:spcPct val="15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A type of non-probability sampling which involves the sample being drawn from that part of the population which is close to hand. That is, readily available and convenient. </a:t>
            </a:r>
            <a:endParaRPr/>
          </a:p>
          <a:p>
            <a:pPr indent="-342900" lvl="0" marL="342900" marR="0" rtl="0" algn="just">
              <a:lnSpc>
                <a:spcPct val="15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The researcher using such a sample cannot scientifically make generalizations about the total population from this sample because it would not be representative enough.</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58"/>
          <p:cNvSpPr txBox="1"/>
          <p:nvPr>
            <p:ph type="title"/>
          </p:nvPr>
        </p:nvSpPr>
        <p:spPr>
          <a:xfrm>
            <a:off x="469900" y="173037"/>
            <a:ext cx="7531100" cy="598487"/>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Convenience Sampling</a:t>
            </a:r>
            <a:endParaRPr/>
          </a:p>
        </p:txBody>
      </p:sp>
      <p:sp>
        <p:nvSpPr>
          <p:cNvPr id="424" name="Google Shape;424;p58"/>
          <p:cNvSpPr txBox="1"/>
          <p:nvPr>
            <p:ph idx="1" type="body"/>
          </p:nvPr>
        </p:nvSpPr>
        <p:spPr>
          <a:xfrm>
            <a:off x="76200" y="809625"/>
            <a:ext cx="8839200" cy="5895975"/>
          </a:xfrm>
          <a:prstGeom prst="rect">
            <a:avLst/>
          </a:prstGeom>
          <a:noFill/>
          <a:ln>
            <a:noFill/>
          </a:ln>
        </p:spPr>
        <p:txBody>
          <a:bodyPr anchorCtr="0" anchor="t" bIns="45700" lIns="91425" spcFirstLastPara="1" rIns="91425" wrap="square" tIns="45700">
            <a:noAutofit/>
          </a:bodyPr>
          <a:lstStyle/>
          <a:p>
            <a:pPr indent="-165100" lvl="0" marL="342900" marR="0" rtl="0" algn="l">
              <a:lnSpc>
                <a:spcPct val="80000"/>
              </a:lnSpc>
              <a:spcBef>
                <a:spcPts val="0"/>
              </a:spcBef>
              <a:spcAft>
                <a:spcPts val="0"/>
              </a:spcAft>
              <a:buClr>
                <a:schemeClr val="dk1"/>
              </a:buClr>
              <a:buSzPts val="2800"/>
              <a:buFont typeface="Times New Roman"/>
              <a:buNone/>
            </a:pPr>
            <a:r>
              <a:t/>
            </a:r>
            <a:endParaRPr b="1" i="0" sz="2800" u="none">
              <a:solidFill>
                <a:schemeClr val="dk1"/>
              </a:solidFill>
              <a:latin typeface="Times New Roman"/>
              <a:ea typeface="Times New Roman"/>
              <a:cs typeface="Times New Roman"/>
              <a:sym typeface="Times New Roman"/>
            </a:endParaRPr>
          </a:p>
          <a:p>
            <a:pPr indent="-342900" lvl="0" marL="342900" marR="0" rtl="0" algn="just">
              <a:lnSpc>
                <a:spcPct val="15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For example, if the interviewer was to conduct a survey at a shopping center early in the morning on a given day, the people that he/she could interview would be limited to those given there at that given time, which would not represent the views of other members of society in such an area, if the survey was to be conducted at different times of day and several times per week. </a:t>
            </a:r>
            <a:endParaRPr/>
          </a:p>
          <a:p>
            <a:pPr indent="-342900" lvl="0" marL="342900" marR="0" rtl="0" algn="just">
              <a:lnSpc>
                <a:spcPct val="15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This type of sampling is most useful for pilot testing. </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59"/>
          <p:cNvSpPr txBox="1"/>
          <p:nvPr>
            <p:ph idx="4294967295" type="title"/>
          </p:nvPr>
        </p:nvSpPr>
        <p:spPr>
          <a:xfrm>
            <a:off x="609600" y="122237"/>
            <a:ext cx="7543800" cy="9874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4000"/>
              <a:buFont typeface="Times New Roman"/>
              <a:buNone/>
            </a:pPr>
            <a:r>
              <a:rPr b="0" i="0" lang="en-US" sz="4000" u="none" cap="none" strike="noStrike">
                <a:solidFill>
                  <a:schemeClr val="dk2"/>
                </a:solidFill>
                <a:latin typeface="Times New Roman"/>
                <a:ea typeface="Times New Roman"/>
                <a:cs typeface="Times New Roman"/>
                <a:sym typeface="Times New Roman"/>
              </a:rPr>
              <a:t>Convenience Sampling</a:t>
            </a:r>
            <a:endParaRPr/>
          </a:p>
        </p:txBody>
      </p:sp>
      <p:sp>
        <p:nvSpPr>
          <p:cNvPr id="432" name="Google Shape;432;p59"/>
          <p:cNvSpPr txBox="1"/>
          <p:nvPr>
            <p:ph idx="4294967295" type="body"/>
          </p:nvPr>
        </p:nvSpPr>
        <p:spPr>
          <a:xfrm>
            <a:off x="368300" y="990600"/>
            <a:ext cx="8242300" cy="952500"/>
          </a:xfrm>
          <a:prstGeom prst="rect">
            <a:avLst/>
          </a:prstGeom>
          <a:noFill/>
          <a:ln>
            <a:noFill/>
          </a:ln>
        </p:spPr>
        <p:txBody>
          <a:bodyPr anchorCtr="0" anchor="t" bIns="45700" lIns="91425" spcFirstLastPara="1" rIns="91425" wrap="square" tIns="45700">
            <a:noAutofit/>
          </a:bodyPr>
          <a:lstStyle/>
          <a:p>
            <a:pPr indent="-336550" lvl="0" marL="514350" marR="0" rtl="0" algn="l">
              <a:lnSpc>
                <a:spcPct val="80000"/>
              </a:lnSpc>
              <a:spcBef>
                <a:spcPts val="0"/>
              </a:spcBef>
              <a:spcAft>
                <a:spcPts val="0"/>
              </a:spcAft>
              <a:buClr>
                <a:schemeClr val="dk1"/>
              </a:buClr>
              <a:buSzPts val="2800"/>
              <a:buFont typeface="Times New Roman"/>
              <a:buNone/>
            </a:pPr>
            <a:r>
              <a:t/>
            </a:r>
            <a:endParaRPr b="0" i="0" sz="2800" u="sng">
              <a:solidFill>
                <a:schemeClr val="dk1"/>
              </a:solidFill>
              <a:latin typeface="Times New Roman"/>
              <a:ea typeface="Times New Roman"/>
              <a:cs typeface="Times New Roman"/>
              <a:sym typeface="Times New Roman"/>
            </a:endParaRPr>
          </a:p>
          <a:p>
            <a:pPr indent="-514350" lvl="1" marL="914400" marR="0" rtl="0" algn="l">
              <a:lnSpc>
                <a:spcPct val="80000"/>
              </a:lnSpc>
              <a:spcBef>
                <a:spcPts val="560"/>
              </a:spcBef>
              <a:spcAft>
                <a:spcPts val="0"/>
              </a:spcAft>
              <a:buClr>
                <a:schemeClr val="dk1"/>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Use results that are easy to get</a:t>
            </a:r>
            <a:endParaRPr/>
          </a:p>
          <a:p>
            <a:pPr indent="-514350" lvl="1" marL="914400" marR="0" rtl="0" algn="l">
              <a:lnSpc>
                <a:spcPct val="80000"/>
              </a:lnSpc>
              <a:spcBef>
                <a:spcPts val="560"/>
              </a:spcBef>
              <a:spcAft>
                <a:spcPts val="0"/>
              </a:spcAft>
              <a:buClr>
                <a:schemeClr val="dk1"/>
              </a:buClr>
              <a:buSzPts val="2800"/>
              <a:buFont typeface="Times New Roman"/>
              <a:buNone/>
            </a:pPr>
            <a:r>
              <a:t/>
            </a:r>
            <a:endParaRPr b="0" i="0" sz="2800" u="sng" cap="none" strike="noStrike">
              <a:solidFill>
                <a:schemeClr val="dk1"/>
              </a:solidFill>
              <a:latin typeface="Times New Roman"/>
              <a:ea typeface="Times New Roman"/>
              <a:cs typeface="Times New Roman"/>
              <a:sym typeface="Times New Roman"/>
            </a:endParaRPr>
          </a:p>
          <a:p>
            <a:pPr indent="-514350" lvl="0" marL="514350" marR="0" rtl="0" algn="l">
              <a:lnSpc>
                <a:spcPct val="80000"/>
              </a:lnSpc>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165100" lvl="0" marL="342900" marR="0" rtl="0" algn="l">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p:txBody>
      </p:sp>
      <p:sp>
        <p:nvSpPr>
          <p:cNvPr id="433" name="Google Shape;433;p59"/>
          <p:cNvSpPr txBox="1"/>
          <p:nvPr/>
        </p:nvSpPr>
        <p:spPr>
          <a:xfrm>
            <a:off x="6553200" y="6248400"/>
            <a:ext cx="21336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descr="1_Conv" id="434" name="Google Shape;434;p59"/>
          <p:cNvPicPr preferRelativeResize="0"/>
          <p:nvPr/>
        </p:nvPicPr>
        <p:blipFill rotWithShape="1">
          <a:blip r:embed="rId3">
            <a:alphaModFix/>
          </a:blip>
          <a:srcRect b="0" l="0" r="0" t="0"/>
          <a:stretch/>
        </p:blipFill>
        <p:spPr>
          <a:xfrm>
            <a:off x="457200" y="2057400"/>
            <a:ext cx="8229600" cy="449580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60"/>
          <p:cNvSpPr txBox="1"/>
          <p:nvPr>
            <p:ph type="title"/>
          </p:nvPr>
        </p:nvSpPr>
        <p:spPr>
          <a:xfrm>
            <a:off x="685800" y="152400"/>
            <a:ext cx="7772400" cy="685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2.Judgmental Sampling</a:t>
            </a:r>
            <a:endParaRPr/>
          </a:p>
        </p:txBody>
      </p:sp>
      <p:sp>
        <p:nvSpPr>
          <p:cNvPr id="440" name="Google Shape;440;p60"/>
          <p:cNvSpPr txBox="1"/>
          <p:nvPr>
            <p:ph idx="1" type="body"/>
          </p:nvPr>
        </p:nvSpPr>
        <p:spPr>
          <a:xfrm>
            <a:off x="228600" y="1143000"/>
            <a:ext cx="8610600" cy="5562600"/>
          </a:xfrm>
          <a:prstGeom prst="rect">
            <a:avLst/>
          </a:prstGeom>
          <a:noFill/>
          <a:ln>
            <a:noFill/>
          </a:ln>
        </p:spPr>
        <p:txBody>
          <a:bodyPr anchorCtr="0" anchor="t" bIns="45700" lIns="91425" spcFirstLastPara="1" rIns="91425" wrap="square" tIns="45700">
            <a:noAutofit/>
          </a:bodyPr>
          <a:lstStyle/>
          <a:p>
            <a:pPr indent="-342900" lvl="0" marL="342900" rtl="0" algn="just">
              <a:lnSpc>
                <a:spcPct val="150000"/>
              </a:lnSpc>
              <a:spcBef>
                <a:spcPts val="0"/>
              </a:spcBef>
              <a:spcAft>
                <a:spcPts val="0"/>
              </a:spcAft>
              <a:buClr>
                <a:srgbClr val="000000"/>
              </a:buClr>
              <a:buSzPts val="2800"/>
              <a:buFont typeface="Times New Roman"/>
              <a:buNone/>
            </a:pPr>
            <a:r>
              <a:rPr b="1" i="0" lang="en-US" sz="2800" u="none">
                <a:solidFill>
                  <a:srgbClr val="000000"/>
                </a:solidFill>
                <a:latin typeface="Times New Roman"/>
                <a:ea typeface="Times New Roman"/>
                <a:cs typeface="Times New Roman"/>
                <a:sym typeface="Times New Roman"/>
              </a:rPr>
              <a:t>	Judgmental sampling</a:t>
            </a:r>
            <a:r>
              <a:rPr b="0" i="0" lang="en-US" sz="2800" u="none">
                <a:solidFill>
                  <a:srgbClr val="000000"/>
                </a:solidFill>
                <a:latin typeface="Times New Roman"/>
                <a:ea typeface="Times New Roman"/>
                <a:cs typeface="Times New Roman"/>
                <a:sym typeface="Times New Roman"/>
              </a:rPr>
              <a:t> is a form of convenience sampling in which the population elements are selected based on the judgment of the researcher.</a:t>
            </a:r>
            <a:endParaRPr/>
          </a:p>
          <a:p>
            <a:pPr indent="-342900" lvl="0" marL="342900" rtl="0" algn="just">
              <a:lnSpc>
                <a:spcPct val="100000"/>
              </a:lnSpc>
              <a:spcBef>
                <a:spcPts val="560"/>
              </a:spcBef>
              <a:spcAft>
                <a:spcPts val="0"/>
              </a:spcAft>
              <a:buClr>
                <a:schemeClr val="dk1"/>
              </a:buClr>
              <a:buSzPts val="2800"/>
              <a:buFont typeface="Times New Roman"/>
              <a:buNone/>
            </a:pPr>
            <a:r>
              <a:t/>
            </a:r>
            <a:endParaRPr b="0" i="0" sz="2800" u="none">
              <a:solidFill>
                <a:srgbClr val="000000"/>
              </a:solidFill>
              <a:latin typeface="Times New Roman"/>
              <a:ea typeface="Times New Roman"/>
              <a:cs typeface="Times New Roman"/>
              <a:sym typeface="Times New Roman"/>
            </a:endParaRPr>
          </a:p>
          <a:p>
            <a:pPr indent="-285750" lvl="1" marL="742950" rtl="0" algn="just">
              <a:lnSpc>
                <a:spcPct val="100000"/>
              </a:lnSpc>
              <a:spcBef>
                <a:spcPts val="560"/>
              </a:spcBef>
              <a:spcAft>
                <a:spcPts val="0"/>
              </a:spcAft>
              <a:buClr>
                <a:schemeClr val="dk2"/>
              </a:buClr>
              <a:buSzPts val="2800"/>
              <a:buFont typeface="Times New Roman"/>
              <a:buChar char="–"/>
            </a:pPr>
            <a:r>
              <a:rPr b="0" i="0" lang="en-US" sz="2800" u="none">
                <a:solidFill>
                  <a:srgbClr val="000000"/>
                </a:solidFill>
                <a:latin typeface="Times New Roman"/>
                <a:ea typeface="Times New Roman"/>
                <a:cs typeface="Times New Roman"/>
                <a:sym typeface="Times New Roman"/>
              </a:rPr>
              <a:t>test markets</a:t>
            </a:r>
            <a:endParaRPr/>
          </a:p>
          <a:p>
            <a:pPr indent="-285750" lvl="1" marL="742950" rtl="0" algn="just">
              <a:lnSpc>
                <a:spcPct val="100000"/>
              </a:lnSpc>
              <a:spcBef>
                <a:spcPts val="560"/>
              </a:spcBef>
              <a:spcAft>
                <a:spcPts val="0"/>
              </a:spcAft>
              <a:buClr>
                <a:schemeClr val="dk2"/>
              </a:buClr>
              <a:buSzPts val="2800"/>
              <a:buFont typeface="Times New Roman"/>
              <a:buChar char="–"/>
            </a:pPr>
            <a:r>
              <a:rPr b="0" i="0" lang="en-US" sz="2800" u="none">
                <a:solidFill>
                  <a:srgbClr val="000000"/>
                </a:solidFill>
                <a:latin typeface="Times New Roman"/>
                <a:ea typeface="Times New Roman"/>
                <a:cs typeface="Times New Roman"/>
                <a:sym typeface="Times New Roman"/>
              </a:rPr>
              <a:t>purchase engineers selected in industrial marketing research </a:t>
            </a:r>
            <a:endParaRPr/>
          </a:p>
          <a:p>
            <a:pPr indent="-285750" lvl="1" marL="742950" rtl="0" algn="just">
              <a:lnSpc>
                <a:spcPct val="100000"/>
              </a:lnSpc>
              <a:spcBef>
                <a:spcPts val="560"/>
              </a:spcBef>
              <a:spcAft>
                <a:spcPts val="0"/>
              </a:spcAft>
              <a:buClr>
                <a:schemeClr val="dk2"/>
              </a:buClr>
              <a:buSzPts val="2800"/>
              <a:buFont typeface="Times New Roman"/>
              <a:buChar char="–"/>
            </a:pPr>
            <a:r>
              <a:rPr b="0" i="0" lang="en-US" sz="2800" u="none">
                <a:solidFill>
                  <a:srgbClr val="000000"/>
                </a:solidFill>
                <a:latin typeface="Times New Roman"/>
                <a:ea typeface="Times New Roman"/>
                <a:cs typeface="Times New Roman"/>
                <a:sym typeface="Times New Roman"/>
              </a:rPr>
              <a:t>bellwether precincts selected in voting behavior research</a:t>
            </a:r>
            <a:endParaRPr/>
          </a:p>
          <a:p>
            <a:pPr indent="-285750" lvl="1" marL="742950" rtl="0" algn="just">
              <a:lnSpc>
                <a:spcPct val="100000"/>
              </a:lnSpc>
              <a:spcBef>
                <a:spcPts val="560"/>
              </a:spcBef>
              <a:spcAft>
                <a:spcPts val="0"/>
              </a:spcAft>
              <a:buClr>
                <a:schemeClr val="dk2"/>
              </a:buClr>
              <a:buSzPts val="2800"/>
              <a:buFont typeface="Times New Roman"/>
              <a:buChar char="–"/>
            </a:pPr>
            <a:r>
              <a:rPr b="0" i="0" lang="en-US" sz="2800" u="none">
                <a:solidFill>
                  <a:srgbClr val="000000"/>
                </a:solidFill>
                <a:latin typeface="Times New Roman"/>
                <a:ea typeface="Times New Roman"/>
                <a:cs typeface="Times New Roman"/>
                <a:sym typeface="Times New Roman"/>
              </a:rPr>
              <a:t>expert witnesses used in court</a:t>
            </a:r>
            <a:endParaRPr/>
          </a:p>
          <a:p>
            <a:pPr indent="-165100" lvl="0" marL="342900" rtl="0" algn="l">
              <a:spcBef>
                <a:spcPts val="560"/>
              </a:spcBef>
              <a:spcAft>
                <a:spcPts val="0"/>
              </a:spcAft>
              <a:buClr>
                <a:schemeClr val="dk1"/>
              </a:buClr>
              <a:buSzPts val="2800"/>
              <a:buFont typeface="Times New Roman"/>
              <a:buNone/>
            </a:pPr>
            <a:r>
              <a:t/>
            </a:r>
            <a:endParaRPr b="0" i="0" sz="2800" u="none">
              <a:solidFill>
                <a:srgbClr val="000000"/>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0">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61"/>
          <p:cNvSpPr txBox="1"/>
          <p:nvPr>
            <p:ph type="title"/>
          </p:nvPr>
        </p:nvSpPr>
        <p:spPr>
          <a:xfrm>
            <a:off x="685800" y="228600"/>
            <a:ext cx="7772400" cy="914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Judgmental Sampling</a:t>
            </a:r>
            <a:endParaRPr/>
          </a:p>
        </p:txBody>
      </p:sp>
      <p:sp>
        <p:nvSpPr>
          <p:cNvPr id="446" name="Google Shape;446;p61"/>
          <p:cNvSpPr txBox="1"/>
          <p:nvPr>
            <p:ph idx="1" type="body"/>
          </p:nvPr>
        </p:nvSpPr>
        <p:spPr>
          <a:xfrm>
            <a:off x="304800" y="1752600"/>
            <a:ext cx="8458200" cy="411480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The researcher chooses the sample based on who they think would be appropriate for the study. This is used primarily when there is a limited number of people that have expertise in the area being researched </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62"/>
          <p:cNvSpPr txBox="1"/>
          <p:nvPr>
            <p:ph type="title"/>
          </p:nvPr>
        </p:nvSpPr>
        <p:spPr>
          <a:xfrm>
            <a:off x="304800" y="152400"/>
            <a:ext cx="8458200" cy="609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br>
              <a:rPr b="0" i="0" lang="en-US" sz="4000" u="none">
                <a:solidFill>
                  <a:schemeClr val="dk2"/>
                </a:solidFill>
                <a:latin typeface="Times New Roman"/>
                <a:ea typeface="Times New Roman"/>
                <a:cs typeface="Times New Roman"/>
                <a:sym typeface="Times New Roman"/>
              </a:rPr>
            </a:br>
            <a:r>
              <a:rPr b="0" i="0" lang="en-US" sz="3600" u="none">
                <a:solidFill>
                  <a:schemeClr val="dk2"/>
                </a:solidFill>
                <a:latin typeface="Times New Roman"/>
                <a:ea typeface="Times New Roman"/>
                <a:cs typeface="Times New Roman"/>
                <a:sym typeface="Times New Roman"/>
              </a:rPr>
              <a:t>3.Snowball Sampling</a:t>
            </a:r>
            <a:br>
              <a:rPr b="0" i="0" lang="en-US" sz="3600" u="none">
                <a:solidFill>
                  <a:schemeClr val="dk2"/>
                </a:solidFill>
                <a:latin typeface="Times New Roman"/>
                <a:ea typeface="Times New Roman"/>
                <a:cs typeface="Times New Roman"/>
                <a:sym typeface="Times New Roman"/>
              </a:rPr>
            </a:br>
            <a:endParaRPr/>
          </a:p>
        </p:txBody>
      </p:sp>
      <p:sp>
        <p:nvSpPr>
          <p:cNvPr id="453" name="Google Shape;453;p62"/>
          <p:cNvSpPr txBox="1"/>
          <p:nvPr>
            <p:ph idx="1" type="body"/>
          </p:nvPr>
        </p:nvSpPr>
        <p:spPr>
          <a:xfrm>
            <a:off x="152400" y="990600"/>
            <a:ext cx="8763000" cy="5638800"/>
          </a:xfrm>
          <a:prstGeom prst="rect">
            <a:avLst/>
          </a:prstGeom>
          <a:noFill/>
          <a:ln>
            <a:noFill/>
          </a:ln>
        </p:spPr>
        <p:txBody>
          <a:bodyPr anchorCtr="0" anchor="t" bIns="45700" lIns="91425" spcFirstLastPara="1" rIns="91425" wrap="square" tIns="45700">
            <a:noAutofit/>
          </a:bodyPr>
          <a:lstStyle/>
          <a:p>
            <a:pPr indent="-285750" lvl="1" marL="742950" rtl="0" algn="just">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Selection of additional respondents is based on referrals from the initial respondents.</a:t>
            </a:r>
            <a:endParaRPr/>
          </a:p>
          <a:p>
            <a:pPr indent="-228600" lvl="2" marL="1143000" rtl="0" algn="just">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friends of friends</a:t>
            </a:r>
            <a:endParaRPr/>
          </a:p>
          <a:p>
            <a:pPr indent="-285750" lvl="1" marL="742950" rtl="0" algn="just">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Used to sample from low incidence or rare populations.</a:t>
            </a:r>
            <a:endParaRPr/>
          </a:p>
          <a:p>
            <a:pPr indent="-342900" lvl="0" marL="342900" rtl="0" algn="l">
              <a:lnSpc>
                <a:spcPct val="100000"/>
              </a:lnSpc>
              <a:spcBef>
                <a:spcPts val="560"/>
              </a:spcBef>
              <a:spcAft>
                <a:spcPts val="0"/>
              </a:spcAft>
              <a:buClr>
                <a:srgbClr val="000000"/>
              </a:buClr>
              <a:buSzPts val="2800"/>
              <a:buFont typeface="Times New Roman"/>
              <a:buNone/>
            </a:pPr>
            <a:r>
              <a:rPr b="0" i="0" lang="en-US" sz="2800" u="none">
                <a:solidFill>
                  <a:srgbClr val="000000"/>
                </a:solidFill>
                <a:latin typeface="Times New Roman"/>
                <a:ea typeface="Times New Roman"/>
                <a:cs typeface="Times New Roman"/>
                <a:sym typeface="Times New Roman"/>
              </a:rPr>
              <a:t>           In snowball sampling, an initial group of respondents    is        selected, usually at random.  </a:t>
            </a:r>
            <a:endParaRPr/>
          </a:p>
          <a:p>
            <a:pPr indent="-285750" lvl="1" marL="742950" rtl="0" algn="just">
              <a:lnSpc>
                <a:spcPct val="100000"/>
              </a:lnSpc>
              <a:spcBef>
                <a:spcPts val="560"/>
              </a:spcBef>
              <a:spcAft>
                <a:spcPts val="0"/>
              </a:spcAft>
              <a:buClr>
                <a:schemeClr val="dk2"/>
              </a:buClr>
              <a:buSzPts val="2800"/>
              <a:buFont typeface="Times New Roman"/>
              <a:buChar char="–"/>
            </a:pPr>
            <a:r>
              <a:rPr b="0" i="0" lang="en-US" sz="2800" u="none">
                <a:solidFill>
                  <a:srgbClr val="000000"/>
                </a:solidFill>
                <a:latin typeface="Times New Roman"/>
                <a:ea typeface="Times New Roman"/>
                <a:cs typeface="Times New Roman"/>
                <a:sym typeface="Times New Roman"/>
              </a:rPr>
              <a:t>After being interviewed, these respondents are asked to identify others who belong to the target population of interest.  </a:t>
            </a:r>
            <a:endParaRPr/>
          </a:p>
          <a:p>
            <a:pPr indent="-285750" lvl="1" marL="742950" rtl="0" algn="just">
              <a:lnSpc>
                <a:spcPct val="100000"/>
              </a:lnSpc>
              <a:spcBef>
                <a:spcPts val="560"/>
              </a:spcBef>
              <a:spcAft>
                <a:spcPts val="0"/>
              </a:spcAft>
              <a:buClr>
                <a:schemeClr val="dk2"/>
              </a:buClr>
              <a:buSzPts val="2800"/>
              <a:buFont typeface="Times New Roman"/>
              <a:buChar char="–"/>
            </a:pPr>
            <a:r>
              <a:rPr b="0" i="0" lang="en-US" sz="2800" u="none">
                <a:solidFill>
                  <a:srgbClr val="000000"/>
                </a:solidFill>
                <a:latin typeface="Times New Roman"/>
                <a:ea typeface="Times New Roman"/>
                <a:cs typeface="Times New Roman"/>
                <a:sym typeface="Times New Roman"/>
              </a:rPr>
              <a:t>Subsequent respondents are selected based on the referrals.</a:t>
            </a:r>
            <a:endParaRPr b="0" i="0" sz="2800" u="none">
              <a:solidFill>
                <a:schemeClr val="dk1"/>
              </a:solidFill>
              <a:latin typeface="Times New Roman"/>
              <a:ea typeface="Times New Roman"/>
              <a:cs typeface="Times New Roman"/>
              <a:sym typeface="Times New Roman"/>
            </a:endParaRPr>
          </a:p>
          <a:p>
            <a:pPr indent="-107950" lvl="1" marL="742950" rtl="0" algn="just">
              <a:lnSpc>
                <a:spcPct val="100000"/>
              </a:lnSpc>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107950" lvl="1" marL="742950" rtl="0" algn="just">
              <a:lnSpc>
                <a:spcPct val="100000"/>
              </a:lnSpc>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165100" lvl="0" marL="342900" rtl="0" algn="l">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63"/>
          <p:cNvSpPr txBox="1"/>
          <p:nvPr>
            <p:ph type="title"/>
          </p:nvPr>
        </p:nvSpPr>
        <p:spPr>
          <a:xfrm>
            <a:off x="571500" y="152400"/>
            <a:ext cx="7772400" cy="838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br>
              <a:rPr b="0" i="0" lang="en-US" sz="4400" u="none">
                <a:solidFill>
                  <a:schemeClr val="dk2"/>
                </a:solidFill>
                <a:latin typeface="Times New Roman"/>
                <a:ea typeface="Times New Roman"/>
                <a:cs typeface="Times New Roman"/>
                <a:sym typeface="Times New Roman"/>
              </a:rPr>
            </a:br>
            <a:r>
              <a:rPr b="0" i="0" lang="en-US" sz="4000" u="none">
                <a:solidFill>
                  <a:schemeClr val="dk2"/>
                </a:solidFill>
                <a:latin typeface="Times New Roman"/>
                <a:ea typeface="Times New Roman"/>
                <a:cs typeface="Times New Roman"/>
                <a:sym typeface="Times New Roman"/>
              </a:rPr>
              <a:t>4. Quota Sampling</a:t>
            </a:r>
            <a:br>
              <a:rPr b="0" i="0" lang="en-US" sz="4000" u="none">
                <a:solidFill>
                  <a:schemeClr val="dk2"/>
                </a:solidFill>
                <a:latin typeface="Times New Roman"/>
                <a:ea typeface="Times New Roman"/>
                <a:cs typeface="Times New Roman"/>
                <a:sym typeface="Times New Roman"/>
              </a:rPr>
            </a:br>
            <a:endParaRPr/>
          </a:p>
        </p:txBody>
      </p:sp>
      <p:sp>
        <p:nvSpPr>
          <p:cNvPr id="459" name="Google Shape;459;p63"/>
          <p:cNvSpPr txBox="1"/>
          <p:nvPr>
            <p:ph idx="1" type="body"/>
          </p:nvPr>
        </p:nvSpPr>
        <p:spPr>
          <a:xfrm>
            <a:off x="152400" y="1447800"/>
            <a:ext cx="8763000" cy="4648200"/>
          </a:xfrm>
          <a:prstGeom prst="rect">
            <a:avLst/>
          </a:prstGeom>
          <a:noFill/>
          <a:ln>
            <a:noFill/>
          </a:ln>
        </p:spPr>
        <p:txBody>
          <a:bodyPr anchorCtr="0" anchor="t" bIns="45700" lIns="91425" spcFirstLastPara="1" rIns="91425" wrap="square" tIns="45700">
            <a:noAutofit/>
          </a:bodyPr>
          <a:lstStyle/>
          <a:p>
            <a:pPr indent="-285750" lvl="1" marL="742950" marR="0" rtl="0" algn="l">
              <a:lnSpc>
                <a:spcPct val="100000"/>
              </a:lnSpc>
              <a:spcBef>
                <a:spcPts val="0"/>
              </a:spcBef>
              <a:spcAft>
                <a:spcPts val="0"/>
              </a:spcAft>
              <a:buClr>
                <a:schemeClr val="dk1"/>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The population is divided into cells on the basis of relevant control characteristics.</a:t>
            </a:r>
            <a:endParaRPr/>
          </a:p>
          <a:p>
            <a:pPr indent="-285750" lvl="1" marL="742950" marR="0" rtl="0" algn="l">
              <a:lnSpc>
                <a:spcPct val="100000"/>
              </a:lnSpc>
              <a:spcBef>
                <a:spcPts val="560"/>
              </a:spcBef>
              <a:spcAft>
                <a:spcPts val="0"/>
              </a:spcAft>
              <a:buClr>
                <a:schemeClr val="dk1"/>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A quota of sample units is established for each cell.</a:t>
            </a:r>
            <a:endParaRPr/>
          </a:p>
          <a:p>
            <a:pPr indent="-228600" lvl="2" marL="1143000" marR="0" rtl="0" algn="l">
              <a:lnSpc>
                <a:spcPct val="100000"/>
              </a:lnSpc>
              <a:spcBef>
                <a:spcPts val="560"/>
              </a:spcBef>
              <a:spcAft>
                <a:spcPts val="0"/>
              </a:spcAft>
              <a:buClr>
                <a:schemeClr val="dk1"/>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50 women, 50 men</a:t>
            </a:r>
            <a:endParaRPr/>
          </a:p>
          <a:p>
            <a:pPr indent="-285750" lvl="1" marL="742950" marR="0" rtl="0" algn="l">
              <a:lnSpc>
                <a:spcPct val="100000"/>
              </a:lnSpc>
              <a:spcBef>
                <a:spcPts val="560"/>
              </a:spcBef>
              <a:spcAft>
                <a:spcPts val="0"/>
              </a:spcAft>
              <a:buClr>
                <a:schemeClr val="dk1"/>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A convenience sample is drawn for each cell until the quota is met. </a:t>
            </a:r>
            <a:endParaRPr/>
          </a:p>
          <a:p>
            <a:pPr indent="-285750" lvl="1" marL="742950" marR="0" rtl="0" algn="l">
              <a:lnSpc>
                <a:spcPct val="100000"/>
              </a:lnSpc>
              <a:spcBef>
                <a:spcPts val="560"/>
              </a:spcBef>
              <a:spcAft>
                <a:spcPts val="0"/>
              </a:spcAft>
              <a:buClr>
                <a:schemeClr val="dk1"/>
              </a:buClr>
              <a:buSzPts val="2800"/>
              <a:buFont typeface="Times New Roman"/>
              <a:buNone/>
            </a:pPr>
            <a:r>
              <a:rPr b="0" i="0" lang="en-US" sz="2800" u="none" cap="none" strike="noStrike">
                <a:solidFill>
                  <a:schemeClr val="dk1"/>
                </a:solidFill>
                <a:latin typeface="Times New Roman"/>
                <a:ea typeface="Times New Roman"/>
                <a:cs typeface="Times New Roman"/>
                <a:sym typeface="Times New Roman"/>
              </a:rPr>
              <a:t>   (similar to stratified sampling)</a:t>
            </a:r>
            <a:endParaRPr/>
          </a:p>
          <a:p>
            <a:pPr indent="-165100" lvl="0" marL="342900" marR="0" rtl="0" algn="l">
              <a:spcBef>
                <a:spcPts val="560"/>
              </a:spcBef>
              <a:spcAft>
                <a:spcPts val="0"/>
              </a:spcAft>
              <a:buClr>
                <a:schemeClr val="dk1"/>
              </a:buClr>
              <a:buSzPts val="2800"/>
              <a:buFont typeface="Times New Roman"/>
              <a:buNone/>
            </a:pPr>
            <a:r>
              <a:t/>
            </a:r>
            <a:endParaRPr b="0" i="0" sz="2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64"/>
          <p:cNvSpPr txBox="1"/>
          <p:nvPr>
            <p:ph type="title"/>
          </p:nvPr>
        </p:nvSpPr>
        <p:spPr>
          <a:xfrm>
            <a:off x="706437" y="0"/>
            <a:ext cx="7772400" cy="533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Quota Sampling</a:t>
            </a:r>
            <a:endParaRPr/>
          </a:p>
        </p:txBody>
      </p:sp>
      <p:sp>
        <p:nvSpPr>
          <p:cNvPr id="465" name="Google Shape;465;p64"/>
          <p:cNvSpPr txBox="1"/>
          <p:nvPr>
            <p:ph idx="1" type="body"/>
          </p:nvPr>
        </p:nvSpPr>
        <p:spPr>
          <a:xfrm>
            <a:off x="228600" y="838200"/>
            <a:ext cx="8726487" cy="5867400"/>
          </a:xfrm>
          <a:prstGeom prst="rect">
            <a:avLst/>
          </a:prstGeom>
          <a:noFill/>
          <a:ln>
            <a:noFill/>
          </a:ln>
        </p:spPr>
        <p:txBody>
          <a:bodyPr anchorCtr="0" anchor="t" bIns="45700" lIns="91425" spcFirstLastPara="1" rIns="91425" wrap="square" tIns="45700">
            <a:noAutofit/>
          </a:bodyPr>
          <a:lstStyle/>
          <a:p>
            <a:pPr indent="-342900" lvl="0" marL="342900" rtl="0" algn="just">
              <a:lnSpc>
                <a:spcPct val="90000"/>
              </a:lnSpc>
              <a:spcBef>
                <a:spcPts val="0"/>
              </a:spcBef>
              <a:spcAft>
                <a:spcPts val="0"/>
              </a:spcAft>
              <a:buClr>
                <a:srgbClr val="000000"/>
              </a:buClr>
              <a:buSzPts val="2800"/>
              <a:buFont typeface="Times New Roman"/>
              <a:buNone/>
            </a:pPr>
            <a:r>
              <a:rPr b="0" i="0" lang="en-US" sz="2800" u="none">
                <a:solidFill>
                  <a:srgbClr val="000000"/>
                </a:solidFill>
                <a:latin typeface="Times New Roman"/>
                <a:ea typeface="Times New Roman"/>
                <a:cs typeface="Times New Roman"/>
                <a:sym typeface="Times New Roman"/>
              </a:rPr>
              <a:t>Quota sampling may be viewed as two-stage restricted </a:t>
            </a:r>
            <a:endParaRPr/>
          </a:p>
          <a:p>
            <a:pPr indent="-342900" lvl="0" marL="342900" rtl="0" algn="just">
              <a:lnSpc>
                <a:spcPct val="90000"/>
              </a:lnSpc>
              <a:spcBef>
                <a:spcPts val="560"/>
              </a:spcBef>
              <a:spcAft>
                <a:spcPts val="0"/>
              </a:spcAft>
              <a:buClr>
                <a:srgbClr val="000000"/>
              </a:buClr>
              <a:buSzPts val="2800"/>
              <a:buFont typeface="Times New Roman"/>
              <a:buNone/>
            </a:pPr>
            <a:r>
              <a:rPr b="0" i="0" lang="en-US" sz="2800" u="none">
                <a:solidFill>
                  <a:srgbClr val="000000"/>
                </a:solidFill>
                <a:latin typeface="Times New Roman"/>
                <a:ea typeface="Times New Roman"/>
                <a:cs typeface="Times New Roman"/>
                <a:sym typeface="Times New Roman"/>
              </a:rPr>
              <a:t>judgmental sampling.  </a:t>
            </a:r>
            <a:endParaRPr/>
          </a:p>
          <a:p>
            <a:pPr indent="-285750" lvl="1" marL="742950" rtl="0" algn="just">
              <a:lnSpc>
                <a:spcPct val="90000"/>
              </a:lnSpc>
              <a:spcBef>
                <a:spcPts val="560"/>
              </a:spcBef>
              <a:spcAft>
                <a:spcPts val="0"/>
              </a:spcAft>
              <a:buClr>
                <a:schemeClr val="dk2"/>
              </a:buClr>
              <a:buSzPts val="2800"/>
              <a:buFont typeface="Times New Roman"/>
              <a:buChar char="–"/>
            </a:pPr>
            <a:r>
              <a:rPr b="0" i="0" lang="en-US" sz="2800" u="none">
                <a:solidFill>
                  <a:srgbClr val="000000"/>
                </a:solidFill>
                <a:latin typeface="Times New Roman"/>
                <a:ea typeface="Times New Roman"/>
                <a:cs typeface="Times New Roman"/>
                <a:sym typeface="Times New Roman"/>
              </a:rPr>
              <a:t>The first stage consists of developing control categories, or quotas, of population elements.  </a:t>
            </a:r>
            <a:endParaRPr/>
          </a:p>
          <a:p>
            <a:pPr indent="-285750" lvl="1" marL="742950" rtl="0" algn="just">
              <a:lnSpc>
                <a:spcPct val="90000"/>
              </a:lnSpc>
              <a:spcBef>
                <a:spcPts val="560"/>
              </a:spcBef>
              <a:spcAft>
                <a:spcPts val="0"/>
              </a:spcAft>
              <a:buClr>
                <a:schemeClr val="dk2"/>
              </a:buClr>
              <a:buSzPts val="2800"/>
              <a:buFont typeface="Times New Roman"/>
              <a:buChar char="–"/>
            </a:pPr>
            <a:r>
              <a:rPr b="0" i="0" lang="en-US" sz="2800" u="none">
                <a:solidFill>
                  <a:srgbClr val="000000"/>
                </a:solidFill>
                <a:latin typeface="Times New Roman"/>
                <a:ea typeface="Times New Roman"/>
                <a:cs typeface="Times New Roman"/>
                <a:sym typeface="Times New Roman"/>
              </a:rPr>
              <a:t>In the second stage, sample elements are selected based on convenience or judgment.</a:t>
            </a:r>
            <a:endParaRPr/>
          </a:p>
          <a:p>
            <a:pPr indent="-285750" lvl="1" marL="742950" rtl="0" algn="l">
              <a:lnSpc>
                <a:spcPct val="90000"/>
              </a:lnSpc>
              <a:spcBef>
                <a:spcPts val="560"/>
              </a:spcBef>
              <a:spcAft>
                <a:spcPts val="0"/>
              </a:spcAft>
              <a:buClr>
                <a:srgbClr val="000000"/>
              </a:buClr>
              <a:buSzPts val="2800"/>
              <a:buFont typeface="Times New Roman"/>
              <a:buNone/>
            </a:pPr>
            <a:r>
              <a:rPr b="0" i="0" lang="en-US" sz="2800" u="none">
                <a:solidFill>
                  <a:srgbClr val="000000"/>
                </a:solidFill>
                <a:latin typeface="Times New Roman"/>
                <a:ea typeface="Times New Roman"/>
                <a:cs typeface="Times New Roman"/>
                <a:sym typeface="Times New Roman"/>
              </a:rPr>
              <a:t>				</a:t>
            </a:r>
            <a:r>
              <a:rPr b="1" i="0" lang="en-US" sz="2800" u="none">
                <a:solidFill>
                  <a:srgbClr val="000000"/>
                </a:solidFill>
                <a:latin typeface="Times New Roman"/>
                <a:ea typeface="Times New Roman"/>
                <a:cs typeface="Times New Roman"/>
                <a:sym typeface="Times New Roman"/>
              </a:rPr>
              <a:t>Population		   Sample</a:t>
            </a:r>
            <a:br>
              <a:rPr b="1" i="0" lang="en-US" sz="2800" u="none">
                <a:solidFill>
                  <a:srgbClr val="000000"/>
                </a:solidFill>
                <a:latin typeface="Times New Roman"/>
                <a:ea typeface="Times New Roman"/>
                <a:cs typeface="Times New Roman"/>
                <a:sym typeface="Times New Roman"/>
              </a:rPr>
            </a:br>
            <a:r>
              <a:rPr b="1" i="0" lang="en-US" sz="2800" u="none">
                <a:solidFill>
                  <a:srgbClr val="000000"/>
                </a:solidFill>
                <a:latin typeface="Times New Roman"/>
                <a:ea typeface="Times New Roman"/>
                <a:cs typeface="Times New Roman"/>
                <a:sym typeface="Times New Roman"/>
              </a:rPr>
              <a:t>			</a:t>
            </a:r>
            <a:r>
              <a:rPr b="1" i="0" lang="en-US" sz="2800" u="sng">
                <a:solidFill>
                  <a:srgbClr val="000000"/>
                </a:solidFill>
                <a:latin typeface="Times New Roman"/>
                <a:ea typeface="Times New Roman"/>
                <a:cs typeface="Times New Roman"/>
                <a:sym typeface="Times New Roman"/>
              </a:rPr>
              <a:t>composition</a:t>
            </a:r>
            <a:r>
              <a:rPr b="1" i="0" lang="en-US" sz="2800" u="none">
                <a:solidFill>
                  <a:srgbClr val="000000"/>
                </a:solidFill>
                <a:latin typeface="Times New Roman"/>
                <a:ea typeface="Times New Roman"/>
                <a:cs typeface="Times New Roman"/>
                <a:sym typeface="Times New Roman"/>
              </a:rPr>
              <a:t>	</a:t>
            </a:r>
            <a:r>
              <a:rPr b="1" i="0" lang="en-US" sz="2800" u="sng">
                <a:solidFill>
                  <a:srgbClr val="000000"/>
                </a:solidFill>
                <a:latin typeface="Times New Roman"/>
                <a:ea typeface="Times New Roman"/>
                <a:cs typeface="Times New Roman"/>
                <a:sym typeface="Times New Roman"/>
              </a:rPr>
              <a:t>composition</a:t>
            </a:r>
            <a:endParaRPr/>
          </a:p>
          <a:p>
            <a:pPr indent="-285750" lvl="1" marL="742950" rtl="0" algn="l">
              <a:lnSpc>
                <a:spcPct val="90000"/>
              </a:lnSpc>
              <a:spcBef>
                <a:spcPts val="560"/>
              </a:spcBef>
              <a:spcAft>
                <a:spcPts val="0"/>
              </a:spcAft>
              <a:buClr>
                <a:srgbClr val="000000"/>
              </a:buClr>
              <a:buSzPts val="2800"/>
              <a:buFont typeface="Times New Roman"/>
              <a:buNone/>
            </a:pPr>
            <a:r>
              <a:rPr b="1" i="0" lang="en-US" sz="2800" u="none">
                <a:solidFill>
                  <a:srgbClr val="000000"/>
                </a:solidFill>
                <a:latin typeface="Times New Roman"/>
                <a:ea typeface="Times New Roman"/>
                <a:cs typeface="Times New Roman"/>
                <a:sym typeface="Times New Roman"/>
              </a:rPr>
              <a:t>Control		</a:t>
            </a:r>
            <a:br>
              <a:rPr b="1" i="0" lang="en-US" sz="2800" u="none">
                <a:solidFill>
                  <a:srgbClr val="000000"/>
                </a:solidFill>
                <a:latin typeface="Times New Roman"/>
                <a:ea typeface="Times New Roman"/>
                <a:cs typeface="Times New Roman"/>
                <a:sym typeface="Times New Roman"/>
              </a:rPr>
            </a:br>
            <a:r>
              <a:rPr b="1" i="0" lang="en-US" sz="2800" u="none">
                <a:solidFill>
                  <a:srgbClr val="000000"/>
                </a:solidFill>
                <a:latin typeface="Times New Roman"/>
                <a:ea typeface="Times New Roman"/>
                <a:cs typeface="Times New Roman"/>
                <a:sym typeface="Times New Roman"/>
              </a:rPr>
              <a:t>Characteristic</a:t>
            </a:r>
            <a:r>
              <a:rPr b="0" i="0" lang="en-US" sz="2800" u="none">
                <a:solidFill>
                  <a:srgbClr val="000000"/>
                </a:solidFill>
                <a:latin typeface="Times New Roman"/>
                <a:ea typeface="Times New Roman"/>
                <a:cs typeface="Times New Roman"/>
                <a:sym typeface="Times New Roman"/>
              </a:rPr>
              <a:t>% Sex 	%	       Number</a:t>
            </a:r>
            <a:br>
              <a:rPr b="0" i="0" lang="en-US" sz="2800" u="none">
                <a:solidFill>
                  <a:srgbClr val="000000"/>
                </a:solidFill>
                <a:latin typeface="Times New Roman"/>
                <a:ea typeface="Times New Roman"/>
                <a:cs typeface="Times New Roman"/>
                <a:sym typeface="Times New Roman"/>
              </a:rPr>
            </a:br>
            <a:r>
              <a:rPr b="0" i="0" lang="en-US" sz="2800" u="none">
                <a:solidFill>
                  <a:srgbClr val="000000"/>
                </a:solidFill>
                <a:latin typeface="Times New Roman"/>
                <a:ea typeface="Times New Roman"/>
                <a:cs typeface="Times New Roman"/>
                <a:sym typeface="Times New Roman"/>
              </a:rPr>
              <a:t>  Male		     48		48		480</a:t>
            </a:r>
            <a:br>
              <a:rPr b="0" i="0" lang="en-US" sz="2800" u="none">
                <a:solidFill>
                  <a:srgbClr val="000000"/>
                </a:solidFill>
                <a:latin typeface="Times New Roman"/>
                <a:ea typeface="Times New Roman"/>
                <a:cs typeface="Times New Roman"/>
                <a:sym typeface="Times New Roman"/>
              </a:rPr>
            </a:br>
            <a:r>
              <a:rPr b="0" i="0" lang="en-US" sz="2800" u="none">
                <a:solidFill>
                  <a:srgbClr val="000000"/>
                </a:solidFill>
                <a:latin typeface="Times New Roman"/>
                <a:ea typeface="Times New Roman"/>
                <a:cs typeface="Times New Roman"/>
                <a:sym typeface="Times New Roman"/>
              </a:rPr>
              <a:t>  Female	     52		52		520</a:t>
            </a:r>
            <a:br>
              <a:rPr b="0" i="0" lang="en-US" sz="2800" u="none">
                <a:solidFill>
                  <a:srgbClr val="000000"/>
                </a:solidFill>
                <a:latin typeface="Times New Roman"/>
                <a:ea typeface="Times New Roman"/>
                <a:cs typeface="Times New Roman"/>
                <a:sym typeface="Times New Roman"/>
              </a:rPr>
            </a:br>
            <a:r>
              <a:rPr b="0" i="0" lang="en-US" sz="2800" u="none">
                <a:solidFill>
                  <a:srgbClr val="000000"/>
                </a:solidFill>
                <a:latin typeface="Times New Roman"/>
                <a:ea typeface="Times New Roman"/>
                <a:cs typeface="Times New Roman"/>
                <a:sym typeface="Times New Roman"/>
              </a:rPr>
              <a:t>			____		____		____</a:t>
            </a:r>
            <a:br>
              <a:rPr b="0" i="0" lang="en-US" sz="2800" u="none">
                <a:solidFill>
                  <a:srgbClr val="000000"/>
                </a:solidFill>
                <a:latin typeface="Times New Roman"/>
                <a:ea typeface="Times New Roman"/>
                <a:cs typeface="Times New Roman"/>
                <a:sym typeface="Times New Roman"/>
              </a:rPr>
            </a:br>
            <a:r>
              <a:rPr b="0" i="0" lang="en-US" sz="2800" u="none">
                <a:solidFill>
                  <a:srgbClr val="000000"/>
                </a:solidFill>
                <a:latin typeface="Times New Roman"/>
                <a:ea typeface="Times New Roman"/>
                <a:cs typeface="Times New Roman"/>
                <a:sym typeface="Times New Roman"/>
              </a:rPr>
              <a:t>			   100		100		1000</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65"/>
          <p:cNvSpPr txBox="1"/>
          <p:nvPr>
            <p:ph type="title"/>
          </p:nvPr>
        </p:nvSpPr>
        <p:spPr>
          <a:xfrm>
            <a:off x="247650" y="152400"/>
            <a:ext cx="8686800" cy="533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     Probability Vs. Non-Probability Sampling</a:t>
            </a:r>
            <a:endParaRPr/>
          </a:p>
        </p:txBody>
      </p:sp>
      <p:sp>
        <p:nvSpPr>
          <p:cNvPr id="472" name="Google Shape;472;p65"/>
          <p:cNvSpPr txBox="1"/>
          <p:nvPr>
            <p:ph idx="1" type="body"/>
          </p:nvPr>
        </p:nvSpPr>
        <p:spPr>
          <a:xfrm>
            <a:off x="242887" y="704850"/>
            <a:ext cx="8686800" cy="6000750"/>
          </a:xfrm>
          <a:prstGeom prst="rect">
            <a:avLst/>
          </a:prstGeom>
          <a:noFill/>
          <a:ln>
            <a:noFill/>
          </a:ln>
        </p:spPr>
        <p:txBody>
          <a:bodyPr anchorCtr="0" anchor="t" bIns="45700" lIns="91425" spcFirstLastPara="1" rIns="91425" wrap="square" tIns="45700">
            <a:noAutofit/>
          </a:bodyPr>
          <a:lstStyle/>
          <a:p>
            <a:pPr indent="-342900" lvl="0" marL="342900" rtl="0" algn="just">
              <a:lnSpc>
                <a:spcPct val="15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Non-probability sampling is less time consuming and less expensive.</a:t>
            </a:r>
            <a:endParaRPr/>
          </a:p>
          <a:p>
            <a:pPr indent="-342900" lvl="0" marL="342900" rtl="0" algn="just">
              <a:lnSpc>
                <a:spcPct val="15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The probability of selecting one element over another is not known and therefore the estimates cannot be projected to the population with any specified level of confidence. Quantitative generalizations about population can only be done under probability sampling. </a:t>
            </a:r>
            <a:endParaRPr/>
          </a:p>
          <a:p>
            <a:pPr indent="-342900" lvl="0" marL="342900" rtl="0" algn="just">
              <a:lnSpc>
                <a:spcPct val="15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However,  in practice, marketing researchers also apply statistics to study non-probability samples.</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66"/>
          <p:cNvSpPr txBox="1"/>
          <p:nvPr>
            <p:ph type="title"/>
          </p:nvPr>
        </p:nvSpPr>
        <p:spPr>
          <a:xfrm>
            <a:off x="685800" y="76200"/>
            <a:ext cx="7772400" cy="11430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Drawing Inferences from Samples</a:t>
            </a:r>
            <a:endParaRPr/>
          </a:p>
        </p:txBody>
      </p:sp>
      <p:sp>
        <p:nvSpPr>
          <p:cNvPr id="479" name="Google Shape;479;p66"/>
          <p:cNvSpPr txBox="1"/>
          <p:nvPr>
            <p:ph idx="1" type="body"/>
          </p:nvPr>
        </p:nvSpPr>
        <p:spPr>
          <a:xfrm>
            <a:off x="381000" y="1524000"/>
            <a:ext cx="8305800" cy="4435475"/>
          </a:xfrm>
          <a:prstGeom prst="rect">
            <a:avLst/>
          </a:prstGeom>
          <a:noFill/>
          <a:ln>
            <a:noFill/>
          </a:ln>
        </p:spPr>
        <p:txBody>
          <a:bodyPr anchorCtr="0" anchor="t" bIns="46025" lIns="92075" spcFirstLastPara="1" rIns="92075" wrap="square" tIns="46025">
            <a:noAutofit/>
          </a:bodyPr>
          <a:lstStyle/>
          <a:p>
            <a:pPr indent="-342900" lvl="0" marL="342900" rtl="0" algn="l">
              <a:lnSpc>
                <a:spcPct val="13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Population estimates</a:t>
            </a:r>
            <a:endParaRPr/>
          </a:p>
          <a:p>
            <a:pPr indent="-285750" lvl="1" marL="742950" rtl="0" algn="l">
              <a:lnSpc>
                <a:spcPct val="13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 who smoke, buy your product, etc</a:t>
            </a:r>
            <a:endParaRPr/>
          </a:p>
          <a:p>
            <a:pPr indent="-228600" lvl="2" marL="1143000" rtl="0" algn="l">
              <a:lnSpc>
                <a:spcPct val="13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25% of sample</a:t>
            </a:r>
            <a:endParaRPr/>
          </a:p>
          <a:p>
            <a:pPr indent="-228600" lvl="2" marL="1143000" rtl="0" algn="l">
              <a:lnSpc>
                <a:spcPct val="13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what % of population?</a:t>
            </a:r>
            <a:endParaRPr/>
          </a:p>
          <a:p>
            <a:pPr indent="-285750" lvl="1" marL="742950" rtl="0" algn="l">
              <a:lnSpc>
                <a:spcPct val="13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very dangerous with a </a:t>
            </a:r>
            <a:r>
              <a:rPr b="0" i="0" lang="en-US" sz="2800" u="sng">
                <a:solidFill>
                  <a:schemeClr val="dk1"/>
                </a:solidFill>
                <a:latin typeface="Times New Roman"/>
                <a:ea typeface="Times New Roman"/>
                <a:cs typeface="Times New Roman"/>
                <a:sym typeface="Times New Roman"/>
              </a:rPr>
              <a:t>non-representative</a:t>
            </a:r>
            <a:r>
              <a:rPr b="0" i="0" lang="en-US" sz="2800" u="none">
                <a:solidFill>
                  <a:schemeClr val="dk1"/>
                </a:solidFill>
                <a:latin typeface="Times New Roman"/>
                <a:ea typeface="Times New Roman"/>
                <a:cs typeface="Times New Roman"/>
                <a:sym typeface="Times New Roman"/>
              </a:rPr>
              <a:t> sample or with low response rates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9">
                                            <p:txEl>
                                              <p:pRg end="0" st="0"/>
                                            </p:txEl>
                                          </p:spTgt>
                                        </p:tgtEl>
                                        <p:attrNameLst>
                                          <p:attrName>style.visibility</p:attrName>
                                        </p:attrNameLst>
                                      </p:cBhvr>
                                      <p:to>
                                        <p:strVal val="visible"/>
                                      </p:to>
                                    </p:set>
                                    <p:animEffect filter="fade" transition="in">
                                      <p:cBhvr>
                                        <p:cTn dur="500"/>
                                        <p:tgtEl>
                                          <p:spTgt spid="47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9">
                                            <p:txEl>
                                              <p:pRg end="1" st="1"/>
                                            </p:txEl>
                                          </p:spTgt>
                                        </p:tgtEl>
                                        <p:attrNameLst>
                                          <p:attrName>style.visibility</p:attrName>
                                        </p:attrNameLst>
                                      </p:cBhvr>
                                      <p:to>
                                        <p:strVal val="visible"/>
                                      </p:to>
                                    </p:set>
                                    <p:animEffect filter="fade" transition="in">
                                      <p:cBhvr>
                                        <p:cTn dur="500"/>
                                        <p:tgtEl>
                                          <p:spTgt spid="47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9">
                                            <p:txEl>
                                              <p:pRg end="2" st="2"/>
                                            </p:txEl>
                                          </p:spTgt>
                                        </p:tgtEl>
                                        <p:attrNameLst>
                                          <p:attrName>style.visibility</p:attrName>
                                        </p:attrNameLst>
                                      </p:cBhvr>
                                      <p:to>
                                        <p:strVal val="visible"/>
                                      </p:to>
                                    </p:set>
                                    <p:animEffect filter="fade" transition="in">
                                      <p:cBhvr>
                                        <p:cTn dur="500"/>
                                        <p:tgtEl>
                                          <p:spTgt spid="47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9">
                                            <p:txEl>
                                              <p:pRg end="3" st="3"/>
                                            </p:txEl>
                                          </p:spTgt>
                                        </p:tgtEl>
                                        <p:attrNameLst>
                                          <p:attrName>style.visibility</p:attrName>
                                        </p:attrNameLst>
                                      </p:cBhvr>
                                      <p:to>
                                        <p:strVal val="visible"/>
                                      </p:to>
                                    </p:set>
                                    <p:animEffect filter="fade" transition="in">
                                      <p:cBhvr>
                                        <p:cTn dur="500"/>
                                        <p:tgtEl>
                                          <p:spTgt spid="47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9">
                                            <p:txEl>
                                              <p:pRg end="4" st="4"/>
                                            </p:txEl>
                                          </p:spTgt>
                                        </p:tgtEl>
                                        <p:attrNameLst>
                                          <p:attrName>style.visibility</p:attrName>
                                        </p:attrNameLst>
                                      </p:cBhvr>
                                      <p:to>
                                        <p:strVal val="visible"/>
                                      </p:to>
                                    </p:set>
                                    <p:animEffect filter="fade" transition="in">
                                      <p:cBhvr>
                                        <p:cTn dur="500"/>
                                        <p:tgtEl>
                                          <p:spTgt spid="479">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67"/>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6600"/>
              <a:buFont typeface="Times New Roman"/>
              <a:buNone/>
            </a:pPr>
            <a:br>
              <a:rPr b="0" i="0" lang="en-US" sz="6600" u="none">
                <a:solidFill>
                  <a:schemeClr val="dk2"/>
                </a:solidFill>
                <a:latin typeface="Times New Roman"/>
                <a:ea typeface="Times New Roman"/>
                <a:cs typeface="Times New Roman"/>
                <a:sym typeface="Times New Roman"/>
              </a:rPr>
            </a:br>
            <a:br>
              <a:rPr b="0" i="0" lang="en-US" sz="6600" u="none">
                <a:solidFill>
                  <a:schemeClr val="dk2"/>
                </a:solidFill>
                <a:latin typeface="Times New Roman"/>
                <a:ea typeface="Times New Roman"/>
                <a:cs typeface="Times New Roman"/>
                <a:sym typeface="Times New Roman"/>
              </a:rPr>
            </a:br>
            <a:br>
              <a:rPr b="0" i="0" lang="en-US" sz="6600" u="none">
                <a:solidFill>
                  <a:schemeClr val="dk2"/>
                </a:solidFill>
                <a:latin typeface="Times New Roman"/>
                <a:ea typeface="Times New Roman"/>
                <a:cs typeface="Times New Roman"/>
                <a:sym typeface="Times New Roman"/>
              </a:rPr>
            </a:br>
            <a:br>
              <a:rPr b="0" i="0" lang="en-US" sz="6600" u="none">
                <a:solidFill>
                  <a:schemeClr val="dk2"/>
                </a:solidFill>
                <a:latin typeface="Times New Roman"/>
                <a:ea typeface="Times New Roman"/>
                <a:cs typeface="Times New Roman"/>
                <a:sym typeface="Times New Roman"/>
              </a:rPr>
            </a:br>
            <a:r>
              <a:rPr b="0" i="0" lang="en-US" sz="6600" u="none">
                <a:solidFill>
                  <a:srgbClr val="FF0000"/>
                </a:solidFill>
                <a:latin typeface="Corsiva"/>
                <a:ea typeface="Corsiva"/>
                <a:cs typeface="Corsiva"/>
                <a:sym typeface="Corsiva"/>
              </a:rPr>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