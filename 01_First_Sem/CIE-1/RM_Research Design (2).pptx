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9144000"/>
  <p:notesSz cx="6858000" cy="9144000"/>
  <p:embeddedFontLst>
    <p:embeddedFont>
      <p:font typeface="Quintessential"/>
      <p:regular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Quintessential-regular.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idx="1" type="body"/>
          </p:nvPr>
        </p:nvSpPr>
        <p:spPr>
          <a:xfrm>
            <a:off x="457200" y="533400"/>
            <a:ext cx="8229600" cy="5592763"/>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rgbClr val="C00000"/>
              </a:buClr>
              <a:buSzPts val="3200"/>
              <a:buNone/>
            </a:pPr>
            <a:br>
              <a:rPr lang="en-US">
                <a:solidFill>
                  <a:srgbClr val="C00000"/>
                </a:solidFill>
                <a:latin typeface="Quintessential"/>
                <a:ea typeface="Quintessential"/>
                <a:cs typeface="Quintessential"/>
                <a:sym typeface="Quintessential"/>
              </a:rPr>
            </a:br>
            <a:endParaRPr>
              <a:solidFill>
                <a:srgbClr val="C00000"/>
              </a:solidFill>
              <a:latin typeface="Quintessential"/>
              <a:ea typeface="Quintessential"/>
              <a:cs typeface="Quintessential"/>
              <a:sym typeface="Quintessential"/>
            </a:endParaRPr>
          </a:p>
          <a:p>
            <a:pPr indent="-342900" lvl="0" marL="342900" rtl="0" algn="ctr">
              <a:spcBef>
                <a:spcPts val="720"/>
              </a:spcBef>
              <a:spcAft>
                <a:spcPts val="0"/>
              </a:spcAft>
              <a:buClr>
                <a:schemeClr val="dk1"/>
              </a:buClr>
              <a:buSzPts val="3600"/>
              <a:buNone/>
            </a:pPr>
            <a:r>
              <a:t/>
            </a:r>
            <a:endParaRPr b="1" sz="3600">
              <a:solidFill>
                <a:srgbClr val="FF0000"/>
              </a:solidFill>
              <a:latin typeface="Quintessential"/>
              <a:ea typeface="Quintessential"/>
              <a:cs typeface="Quintessential"/>
              <a:sym typeface="Quintessential"/>
            </a:endParaRPr>
          </a:p>
          <a:p>
            <a:pPr indent="-342900" lvl="0" marL="342900" rtl="0" algn="ctr">
              <a:spcBef>
                <a:spcPts val="720"/>
              </a:spcBef>
              <a:spcAft>
                <a:spcPts val="0"/>
              </a:spcAft>
              <a:buClr>
                <a:srgbClr val="FF0000"/>
              </a:buClr>
              <a:buSzPts val="3600"/>
              <a:buNone/>
            </a:pPr>
            <a:r>
              <a:rPr b="1" lang="en-US" sz="3600">
                <a:solidFill>
                  <a:srgbClr val="FF0000"/>
                </a:solidFill>
                <a:latin typeface="Quintessential"/>
                <a:ea typeface="Quintessential"/>
                <a:cs typeface="Quintessential"/>
                <a:sym typeface="Quintessential"/>
              </a:rPr>
              <a:t>RESEARCH DESIGN</a:t>
            </a:r>
            <a:endParaRPr/>
          </a:p>
          <a:p>
            <a:pPr indent="-342900" lvl="0" marL="342900" rtl="0" algn="ctr">
              <a:spcBef>
                <a:spcPts val="720"/>
              </a:spcBef>
              <a:spcAft>
                <a:spcPts val="0"/>
              </a:spcAft>
              <a:buClr>
                <a:schemeClr val="dk1"/>
              </a:buClr>
              <a:buSzPts val="3600"/>
              <a:buNone/>
            </a:pPr>
            <a:r>
              <a:t/>
            </a:r>
            <a:endParaRPr b="1" sz="3600">
              <a:solidFill>
                <a:srgbClr val="FF0000"/>
              </a:solidFill>
              <a:latin typeface="Quintessential"/>
              <a:ea typeface="Quintessential"/>
              <a:cs typeface="Quintessential"/>
              <a:sym typeface="Quintessent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Research Design</a:t>
            </a:r>
            <a:endParaRPr>
              <a:latin typeface="Times New Roman"/>
              <a:ea typeface="Times New Roman"/>
              <a:cs typeface="Times New Roman"/>
              <a:sym typeface="Times New Roman"/>
            </a:endParaRPr>
          </a:p>
        </p:txBody>
      </p:sp>
      <p:sp>
        <p:nvSpPr>
          <p:cNvPr id="94" name="Google Shape;94;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Plan of action indicating the specific steps</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It involves the decision regarding what, where, when, how much etc. concerning the research inquiry.</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Overall plan or scheme prepared by researcher for executing the research study.</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Blueprint of research</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Questionnaires &amp; samples for investigation  are decided.</a:t>
            </a:r>
            <a:endParaRPr/>
          </a:p>
          <a:p>
            <a:pPr indent="-139700" lvl="0" marL="342900" rtl="0" algn="just">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idx="1" type="body"/>
          </p:nvPr>
        </p:nvSpPr>
        <p:spPr>
          <a:xfrm>
            <a:off x="457200" y="685800"/>
            <a:ext cx="8229600" cy="58213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600"/>
              <a:buChar char="•"/>
            </a:pPr>
            <a:r>
              <a:rPr lang="en-US" sz="3600">
                <a:latin typeface="Times New Roman"/>
                <a:ea typeface="Times New Roman"/>
                <a:cs typeface="Times New Roman"/>
                <a:sym typeface="Times New Roman"/>
              </a:rPr>
              <a:t>Conceptual structure within which research be conducted.</a:t>
            </a:r>
            <a:endParaRPr/>
          </a:p>
          <a:p>
            <a:pPr indent="-342900" lvl="0" marL="342900" rtl="0" algn="just">
              <a:spcBef>
                <a:spcPts val="720"/>
              </a:spcBef>
              <a:spcAft>
                <a:spcPts val="0"/>
              </a:spcAft>
              <a:buClr>
                <a:schemeClr val="dk1"/>
              </a:buClr>
              <a:buSzPts val="3600"/>
              <a:buChar char="•"/>
            </a:pPr>
            <a:r>
              <a:rPr lang="en-US" sz="3600">
                <a:latin typeface="Times New Roman"/>
                <a:ea typeface="Times New Roman"/>
                <a:cs typeface="Times New Roman"/>
                <a:sym typeface="Times New Roman"/>
              </a:rPr>
              <a:t>Includes time and cost budgets.</a:t>
            </a:r>
            <a:endParaRPr/>
          </a:p>
          <a:p>
            <a:pPr indent="-342900" lvl="0" marL="342900" rtl="0" algn="just">
              <a:spcBef>
                <a:spcPts val="720"/>
              </a:spcBef>
              <a:spcAft>
                <a:spcPts val="0"/>
              </a:spcAft>
              <a:buClr>
                <a:schemeClr val="dk1"/>
              </a:buClr>
              <a:buSzPts val="3600"/>
              <a:buChar char="•"/>
            </a:pPr>
            <a:r>
              <a:rPr lang="en-US" sz="3600">
                <a:latin typeface="Times New Roman"/>
                <a:ea typeface="Times New Roman"/>
                <a:cs typeface="Times New Roman"/>
                <a:sym typeface="Times New Roman"/>
              </a:rPr>
              <a:t>Prepares proper framework.</a:t>
            </a:r>
            <a:endParaRPr/>
          </a:p>
          <a:p>
            <a:pPr indent="-342900" lvl="0" marL="342900" rtl="0" algn="just">
              <a:spcBef>
                <a:spcPts val="720"/>
              </a:spcBef>
              <a:spcAft>
                <a:spcPts val="0"/>
              </a:spcAft>
              <a:buClr>
                <a:schemeClr val="dk1"/>
              </a:buClr>
              <a:buSzPts val="3600"/>
              <a:buChar char="•"/>
            </a:pPr>
            <a:r>
              <a:rPr lang="en-US" sz="3600">
                <a:latin typeface="Times New Roman"/>
                <a:ea typeface="Times New Roman"/>
                <a:cs typeface="Times New Roman"/>
                <a:sym typeface="Times New Roman"/>
              </a:rPr>
              <a:t>Keeps adequate check on the research work and ensures its completion.</a:t>
            </a:r>
            <a:endParaRPr sz="3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Definition </a:t>
            </a:r>
            <a:endParaRPr>
              <a:latin typeface="Times New Roman"/>
              <a:ea typeface="Times New Roman"/>
              <a:cs typeface="Times New Roman"/>
              <a:sym typeface="Times New Roman"/>
            </a:endParaRPr>
          </a:p>
        </p:txBody>
      </p:sp>
      <p:sp>
        <p:nvSpPr>
          <p:cNvPr id="105" name="Google Shape;105;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50000"/>
              </a:lnSpc>
              <a:spcBef>
                <a:spcPts val="0"/>
              </a:spcBef>
              <a:spcAft>
                <a:spcPts val="0"/>
              </a:spcAft>
              <a:buClr>
                <a:schemeClr val="dk1"/>
              </a:buClr>
              <a:buSzPts val="3600"/>
              <a:buChar char="•"/>
            </a:pPr>
            <a:r>
              <a:rPr lang="en-US" sz="3600">
                <a:latin typeface="Times New Roman"/>
                <a:ea typeface="Times New Roman"/>
                <a:cs typeface="Times New Roman"/>
                <a:sym typeface="Times New Roman"/>
              </a:rPr>
              <a:t>“Research design is the plan, structure and strategy of investigation conceived so as to obtain answers to research questions and to control variances”.</a:t>
            </a:r>
            <a:endParaRPr sz="36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Functions or goals of research design</a:t>
            </a:r>
            <a:endParaRPr sz="3600">
              <a:latin typeface="Times New Roman"/>
              <a:ea typeface="Times New Roman"/>
              <a:cs typeface="Times New Roman"/>
              <a:sym typeface="Times New Roman"/>
            </a:endParaRPr>
          </a:p>
        </p:txBody>
      </p:sp>
      <p:sp>
        <p:nvSpPr>
          <p:cNvPr id="111" name="Google Shape;11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514350" lvl="0" marL="514350" rtl="0" algn="l">
              <a:lnSpc>
                <a:spcPct val="150000"/>
              </a:lnSpc>
              <a:spcBef>
                <a:spcPts val="0"/>
              </a:spcBef>
              <a:spcAft>
                <a:spcPts val="0"/>
              </a:spcAft>
              <a:buClr>
                <a:schemeClr val="dk1"/>
              </a:buClr>
              <a:buSzPts val="3200"/>
              <a:buFont typeface="Calibri"/>
              <a:buAutoNum type="arabicPeriod"/>
            </a:pPr>
            <a:r>
              <a:rPr lang="en-US">
                <a:latin typeface="Times New Roman"/>
                <a:ea typeface="Times New Roman"/>
                <a:cs typeface="Times New Roman"/>
                <a:sym typeface="Times New Roman"/>
              </a:rPr>
              <a:t>Provides blueprint</a:t>
            </a:r>
            <a:endParaRPr/>
          </a:p>
          <a:p>
            <a:pPr indent="-514350" lvl="0" marL="514350" rtl="0" algn="l">
              <a:lnSpc>
                <a:spcPct val="150000"/>
              </a:lnSpc>
              <a:spcBef>
                <a:spcPts val="640"/>
              </a:spcBef>
              <a:spcAft>
                <a:spcPts val="0"/>
              </a:spcAft>
              <a:buClr>
                <a:schemeClr val="dk1"/>
              </a:buClr>
              <a:buSzPts val="3200"/>
              <a:buFont typeface="Calibri"/>
              <a:buAutoNum type="arabicPeriod"/>
            </a:pPr>
            <a:r>
              <a:rPr lang="en-US">
                <a:latin typeface="Times New Roman"/>
                <a:ea typeface="Times New Roman"/>
                <a:cs typeface="Times New Roman"/>
                <a:sym typeface="Times New Roman"/>
              </a:rPr>
              <a:t>Limits boundaries of research activity</a:t>
            </a:r>
            <a:endParaRPr/>
          </a:p>
          <a:p>
            <a:pPr indent="-514350" lvl="0" marL="514350" rtl="0" algn="l">
              <a:lnSpc>
                <a:spcPct val="150000"/>
              </a:lnSpc>
              <a:spcBef>
                <a:spcPts val="640"/>
              </a:spcBef>
              <a:spcAft>
                <a:spcPts val="0"/>
              </a:spcAft>
              <a:buClr>
                <a:schemeClr val="dk1"/>
              </a:buClr>
              <a:buSzPts val="3200"/>
              <a:buFont typeface="Calibri"/>
              <a:buAutoNum type="arabicPeriod"/>
            </a:pPr>
            <a:r>
              <a:rPr lang="en-US">
                <a:latin typeface="Times New Roman"/>
                <a:ea typeface="Times New Roman"/>
                <a:cs typeface="Times New Roman"/>
                <a:sym typeface="Times New Roman"/>
              </a:rPr>
              <a:t>Predicts the potential problem</a:t>
            </a:r>
            <a:endParaRPr/>
          </a:p>
          <a:p>
            <a:pPr indent="-514350" lvl="0" marL="514350" rtl="0" algn="l">
              <a:lnSpc>
                <a:spcPct val="150000"/>
              </a:lnSpc>
              <a:spcBef>
                <a:spcPts val="640"/>
              </a:spcBef>
              <a:spcAft>
                <a:spcPts val="0"/>
              </a:spcAft>
              <a:buClr>
                <a:schemeClr val="dk1"/>
              </a:buClr>
              <a:buSzPts val="3200"/>
              <a:buFont typeface="Calibri"/>
              <a:buAutoNum type="arabicPeriod"/>
            </a:pPr>
            <a:r>
              <a:rPr lang="en-US">
                <a:latin typeface="Times New Roman"/>
                <a:ea typeface="Times New Roman"/>
                <a:cs typeface="Times New Roman"/>
                <a:sym typeface="Times New Roman"/>
              </a:rPr>
              <a:t>Helps to attain research goals economically</a:t>
            </a:r>
            <a:endParaRPr/>
          </a:p>
          <a:p>
            <a:pPr indent="-514350" lvl="0" marL="514350" rtl="0" algn="l">
              <a:lnSpc>
                <a:spcPct val="150000"/>
              </a:lnSpc>
              <a:spcBef>
                <a:spcPts val="640"/>
              </a:spcBef>
              <a:spcAft>
                <a:spcPts val="0"/>
              </a:spcAft>
              <a:buClr>
                <a:schemeClr val="dk1"/>
              </a:buClr>
              <a:buSzPts val="3200"/>
              <a:buFont typeface="Calibri"/>
              <a:buAutoNum type="arabicPeriod"/>
            </a:pPr>
            <a:r>
              <a:rPr lang="en-US">
                <a:latin typeface="Times New Roman"/>
                <a:ea typeface="Times New Roman"/>
                <a:cs typeface="Times New Roman"/>
                <a:sym typeface="Times New Roman"/>
              </a:rPr>
              <a:t>Simplifies research work</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Concept features of a good research design</a:t>
            </a:r>
            <a:endParaRPr sz="3600">
              <a:latin typeface="Times New Roman"/>
              <a:ea typeface="Times New Roman"/>
              <a:cs typeface="Times New Roman"/>
              <a:sym typeface="Times New Roman"/>
            </a:endParaRPr>
          </a:p>
        </p:txBody>
      </p:sp>
      <p:sp>
        <p:nvSpPr>
          <p:cNvPr id="117" name="Google Shape;11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lnSpc>
                <a:spcPct val="150000"/>
              </a:lnSpc>
              <a:spcBef>
                <a:spcPts val="0"/>
              </a:spcBef>
              <a:spcAft>
                <a:spcPts val="0"/>
              </a:spcAft>
              <a:buClr>
                <a:schemeClr val="dk1"/>
              </a:buClr>
              <a:buSzPct val="100000"/>
              <a:buChar char="•"/>
            </a:pPr>
            <a:r>
              <a:rPr lang="en-US">
                <a:latin typeface="Times New Roman"/>
                <a:ea typeface="Times New Roman"/>
                <a:cs typeface="Times New Roman"/>
                <a:sym typeface="Times New Roman"/>
              </a:rPr>
              <a:t>The means of obtaining information</a:t>
            </a:r>
            <a:endParaRPr/>
          </a:p>
          <a:p>
            <a:pPr indent="-342900" lvl="0" marL="342900" rtl="0" algn="just">
              <a:lnSpc>
                <a:spcPct val="150000"/>
              </a:lnSpc>
              <a:spcBef>
                <a:spcPts val="544"/>
              </a:spcBef>
              <a:spcAft>
                <a:spcPts val="0"/>
              </a:spcAft>
              <a:buClr>
                <a:schemeClr val="dk1"/>
              </a:buClr>
              <a:buSzPct val="100000"/>
              <a:buChar char="•"/>
            </a:pPr>
            <a:r>
              <a:rPr lang="en-US">
                <a:latin typeface="Times New Roman"/>
                <a:ea typeface="Times New Roman"/>
                <a:cs typeface="Times New Roman"/>
                <a:sym typeface="Times New Roman"/>
              </a:rPr>
              <a:t>The availability and skills of the researcher and his staff, if any.</a:t>
            </a:r>
            <a:endParaRPr/>
          </a:p>
          <a:p>
            <a:pPr indent="-342900" lvl="0" marL="342900" rtl="0" algn="just">
              <a:lnSpc>
                <a:spcPct val="150000"/>
              </a:lnSpc>
              <a:spcBef>
                <a:spcPts val="544"/>
              </a:spcBef>
              <a:spcAft>
                <a:spcPts val="0"/>
              </a:spcAft>
              <a:buClr>
                <a:schemeClr val="dk1"/>
              </a:buClr>
              <a:buSzPct val="100000"/>
              <a:buChar char="•"/>
            </a:pPr>
            <a:r>
              <a:rPr lang="en-US">
                <a:latin typeface="Times New Roman"/>
                <a:ea typeface="Times New Roman"/>
                <a:cs typeface="Times New Roman"/>
                <a:sym typeface="Times New Roman"/>
              </a:rPr>
              <a:t>The objective of the problem to be studied</a:t>
            </a:r>
            <a:endParaRPr/>
          </a:p>
          <a:p>
            <a:pPr indent="-342900" lvl="0" marL="342900" rtl="0" algn="just">
              <a:lnSpc>
                <a:spcPct val="150000"/>
              </a:lnSpc>
              <a:spcBef>
                <a:spcPts val="544"/>
              </a:spcBef>
              <a:spcAft>
                <a:spcPts val="0"/>
              </a:spcAft>
              <a:buClr>
                <a:schemeClr val="dk1"/>
              </a:buClr>
              <a:buSzPct val="100000"/>
              <a:buChar char="•"/>
            </a:pPr>
            <a:r>
              <a:rPr lang="en-US">
                <a:latin typeface="Times New Roman"/>
                <a:ea typeface="Times New Roman"/>
                <a:cs typeface="Times New Roman"/>
                <a:sym typeface="Times New Roman"/>
              </a:rPr>
              <a:t>The nature of the problem to be studied</a:t>
            </a:r>
            <a:endParaRPr/>
          </a:p>
          <a:p>
            <a:pPr indent="-342900" lvl="0" marL="342900" rtl="0" algn="just">
              <a:lnSpc>
                <a:spcPct val="150000"/>
              </a:lnSpc>
              <a:spcBef>
                <a:spcPts val="544"/>
              </a:spcBef>
              <a:spcAft>
                <a:spcPts val="0"/>
              </a:spcAft>
              <a:buClr>
                <a:schemeClr val="dk1"/>
              </a:buClr>
              <a:buSzPct val="100000"/>
              <a:buChar char="•"/>
            </a:pPr>
            <a:r>
              <a:rPr lang="en-US">
                <a:latin typeface="Times New Roman"/>
                <a:ea typeface="Times New Roman"/>
                <a:cs typeface="Times New Roman"/>
                <a:sym typeface="Times New Roman"/>
              </a:rPr>
              <a:t>The availability of time and money for the research work.</a:t>
            </a:r>
            <a:endParaRPr/>
          </a:p>
          <a:p>
            <a:pPr indent="-342900" lvl="0" marL="342900" rtl="0" algn="just">
              <a:lnSpc>
                <a:spcPct val="150000"/>
              </a:lnSpc>
              <a:spcBef>
                <a:spcPts val="544"/>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Characteristics </a:t>
            </a:r>
            <a:endParaRPr sz="3600">
              <a:latin typeface="Times New Roman"/>
              <a:ea typeface="Times New Roman"/>
              <a:cs typeface="Times New Roman"/>
              <a:sym typeface="Times New Roman"/>
            </a:endParaRPr>
          </a:p>
        </p:txBody>
      </p:sp>
      <p:sp>
        <p:nvSpPr>
          <p:cNvPr id="123" name="Google Shape;1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600"/>
              <a:buChar char="•"/>
            </a:pPr>
            <a:r>
              <a:rPr lang="en-US" sz="3600">
                <a:latin typeface="Times New Roman"/>
                <a:ea typeface="Times New Roman"/>
                <a:cs typeface="Times New Roman"/>
                <a:sym typeface="Times New Roman"/>
              </a:rPr>
              <a:t>Objectivity</a:t>
            </a:r>
            <a:endParaRPr/>
          </a:p>
          <a:p>
            <a:pPr indent="-342900" lvl="0" marL="342900" rtl="0" algn="l">
              <a:spcBef>
                <a:spcPts val="720"/>
              </a:spcBef>
              <a:spcAft>
                <a:spcPts val="0"/>
              </a:spcAft>
              <a:buClr>
                <a:schemeClr val="dk1"/>
              </a:buClr>
              <a:buSzPts val="3600"/>
              <a:buChar char="•"/>
            </a:pPr>
            <a:r>
              <a:rPr lang="en-US" sz="3600">
                <a:latin typeface="Times New Roman"/>
                <a:ea typeface="Times New Roman"/>
                <a:cs typeface="Times New Roman"/>
                <a:sym typeface="Times New Roman"/>
              </a:rPr>
              <a:t>Reliability</a:t>
            </a:r>
            <a:endParaRPr/>
          </a:p>
          <a:p>
            <a:pPr indent="-342900" lvl="0" marL="342900" rtl="0" algn="l">
              <a:spcBef>
                <a:spcPts val="720"/>
              </a:spcBef>
              <a:spcAft>
                <a:spcPts val="0"/>
              </a:spcAft>
              <a:buClr>
                <a:schemeClr val="dk1"/>
              </a:buClr>
              <a:buSzPts val="3600"/>
              <a:buChar char="•"/>
            </a:pPr>
            <a:r>
              <a:rPr lang="en-US" sz="3600">
                <a:latin typeface="Times New Roman"/>
                <a:ea typeface="Times New Roman"/>
                <a:cs typeface="Times New Roman"/>
                <a:sym typeface="Times New Roman"/>
              </a:rPr>
              <a:t>Validity</a:t>
            </a:r>
            <a:endParaRPr/>
          </a:p>
          <a:p>
            <a:pPr indent="-342900" lvl="0" marL="342900" rtl="0" algn="l">
              <a:spcBef>
                <a:spcPts val="720"/>
              </a:spcBef>
              <a:spcAft>
                <a:spcPts val="0"/>
              </a:spcAft>
              <a:buClr>
                <a:schemeClr val="dk1"/>
              </a:buClr>
              <a:buSzPts val="3600"/>
              <a:buChar char="•"/>
            </a:pPr>
            <a:r>
              <a:rPr lang="en-US" sz="3600">
                <a:latin typeface="Times New Roman"/>
                <a:ea typeface="Times New Roman"/>
                <a:cs typeface="Times New Roman"/>
                <a:sym typeface="Times New Roman"/>
              </a:rPr>
              <a:t>Economy</a:t>
            </a:r>
            <a:endParaRPr/>
          </a:p>
          <a:p>
            <a:pPr indent="-342900" lvl="0" marL="342900" rtl="0" algn="l">
              <a:spcBef>
                <a:spcPts val="720"/>
              </a:spcBef>
              <a:spcAft>
                <a:spcPts val="0"/>
              </a:spcAft>
              <a:buClr>
                <a:schemeClr val="dk1"/>
              </a:buClr>
              <a:buSzPts val="3600"/>
              <a:buChar char="•"/>
            </a:pPr>
            <a:r>
              <a:rPr lang="en-US" sz="3600">
                <a:latin typeface="Times New Roman"/>
                <a:ea typeface="Times New Roman"/>
                <a:cs typeface="Times New Roman"/>
                <a:sym typeface="Times New Roman"/>
              </a:rPr>
              <a:t>Minimum errors</a:t>
            </a:r>
            <a:endParaRPr/>
          </a:p>
          <a:p>
            <a:pPr indent="-342900" lvl="0" marL="342900" rtl="0" algn="l">
              <a:spcBef>
                <a:spcPts val="720"/>
              </a:spcBef>
              <a:spcAft>
                <a:spcPts val="0"/>
              </a:spcAft>
              <a:buClr>
                <a:schemeClr val="dk1"/>
              </a:buClr>
              <a:buSzPts val="3600"/>
              <a:buChar char="•"/>
            </a:pPr>
            <a:r>
              <a:rPr lang="en-US" sz="3600">
                <a:latin typeface="Times New Roman"/>
                <a:ea typeface="Times New Roman"/>
                <a:cs typeface="Times New Roman"/>
                <a:sym typeface="Times New Roman"/>
              </a:rPr>
              <a:t>Maximum output</a:t>
            </a:r>
            <a:endParaRPr/>
          </a:p>
          <a:p>
            <a:pPr indent="-342900" lvl="0" marL="342900" rtl="0" algn="l">
              <a:spcBef>
                <a:spcPts val="720"/>
              </a:spcBef>
              <a:spcAft>
                <a:spcPts val="0"/>
              </a:spcAft>
              <a:buClr>
                <a:schemeClr val="dk1"/>
              </a:buClr>
              <a:buSzPts val="3600"/>
              <a:buChar char="•"/>
            </a:pPr>
            <a:r>
              <a:rPr lang="en-US" sz="3600">
                <a:latin typeface="Times New Roman"/>
                <a:ea typeface="Times New Roman"/>
                <a:cs typeface="Times New Roman"/>
                <a:sym typeface="Times New Roman"/>
              </a:rPr>
              <a:t>Flexibility </a:t>
            </a:r>
            <a:endParaRPr sz="36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Types of Research Design</a:t>
            </a:r>
            <a:endParaRPr sz="3600">
              <a:latin typeface="Times New Roman"/>
              <a:ea typeface="Times New Roman"/>
              <a:cs typeface="Times New Roman"/>
              <a:sym typeface="Times New Roman"/>
            </a:endParaRPr>
          </a:p>
        </p:txBody>
      </p:sp>
      <p:sp>
        <p:nvSpPr>
          <p:cNvPr id="129" name="Google Shape;129;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None/>
            </a:pPr>
            <a:r>
              <a:rPr lang="en-US">
                <a:latin typeface="Times New Roman"/>
                <a:ea typeface="Times New Roman"/>
                <a:cs typeface="Times New Roman"/>
                <a:sym typeface="Times New Roman"/>
              </a:rPr>
              <a:t> 	1.Exploratory Research: Discover ideas &amp; insights.</a:t>
            </a:r>
            <a:endParaRPr/>
          </a:p>
          <a:p>
            <a:pPr indent="-342900" lvl="0" marL="342900" rtl="0" algn="l">
              <a:spcBef>
                <a:spcPts val="640"/>
              </a:spcBef>
              <a:spcAft>
                <a:spcPts val="0"/>
              </a:spcAft>
              <a:buClr>
                <a:schemeClr val="dk1"/>
              </a:buClr>
              <a:buSzPts val="3200"/>
              <a:buNone/>
            </a:pPr>
            <a:r>
              <a:rPr lang="en-US">
                <a:latin typeface="Times New Roman"/>
                <a:ea typeface="Times New Roman"/>
                <a:cs typeface="Times New Roman"/>
                <a:sym typeface="Times New Roman"/>
              </a:rPr>
              <a:t>	2. Descriptive Research: Concerned with describing a population with respect to important variables.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3. Casual/Experimental Research: Is used to establish cause-and-effect relationship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idx="1" type="body"/>
          </p:nvPr>
        </p:nvSpPr>
        <p:spPr>
          <a:xfrm>
            <a:off x="457200" y="762000"/>
            <a:ext cx="8229600" cy="53641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Marketing research projects include exploratory and descriptive research.</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Used for decision problem to better understand what is happening and why it is happening.</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Only occasionally casual research is used by the Marketing managers.</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Exploratory Research</a:t>
            </a:r>
            <a:endParaRPr sz="3600">
              <a:latin typeface="Times New Roman"/>
              <a:ea typeface="Times New Roman"/>
              <a:cs typeface="Times New Roman"/>
              <a:sym typeface="Times New Roman"/>
            </a:endParaRPr>
          </a:p>
        </p:txBody>
      </p:sp>
      <p:sp>
        <p:nvSpPr>
          <p:cNvPr id="140" name="Google Shape;140;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It provides better understanding of the situation.</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Not designed to provide final decision/answer.</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Researcher hope to produce hypotheses about what is going out in the situation.</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A Hypothesis is a statement that describes how two or more variables are inter-related.</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idx="1" type="body"/>
          </p:nvPr>
        </p:nvSpPr>
        <p:spPr>
          <a:xfrm>
            <a:off x="457200" y="11430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Example: Sales of a particular line of vehicles dropped during the latest quarter.</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You can’t really accept or reject the hypothesis with exploratory research.</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It can be tested with descriptive and /or casual research.</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Exploratory research- Qualitative research</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Descriptive &amp; Casual- Quantitative research.</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idx="1" type="body"/>
          </p:nvPr>
        </p:nvSpPr>
        <p:spPr>
          <a:xfrm>
            <a:off x="457200" y="9906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In addition to developing one or more hypotheses, it helps defining a research problem.</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Helps to increase familiarity with the research problem.</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It involves only with a small group of people.</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Theses people are never randomly selected to participate.</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Therefore can’t afford to incur more budget.</a:t>
            </a:r>
            <a:endParaRPr/>
          </a:p>
          <a:p>
            <a:pPr indent="-139700" lvl="0" marL="342900" rtl="0" algn="just">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Types of Exploratory Research</a:t>
            </a:r>
            <a:endParaRPr sz="3600">
              <a:latin typeface="Times New Roman"/>
              <a:ea typeface="Times New Roman"/>
              <a:cs typeface="Times New Roman"/>
              <a:sym typeface="Times New Roman"/>
            </a:endParaRPr>
          </a:p>
        </p:txBody>
      </p:sp>
      <p:sp>
        <p:nvSpPr>
          <p:cNvPr id="156" name="Google Shape;156;p25"/>
          <p:cNvSpPr txBox="1"/>
          <p:nvPr>
            <p:ph idx="1" type="body"/>
          </p:nvPr>
        </p:nvSpPr>
        <p:spPr>
          <a:xfrm>
            <a:off x="484909" y="1828800"/>
            <a:ext cx="8229600" cy="4525963"/>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chemeClr val="dk1"/>
              </a:buClr>
              <a:buSzPts val="3200"/>
              <a:buNone/>
            </a:pPr>
            <a:r>
              <a:rPr lang="en-US">
                <a:latin typeface="Times New Roman"/>
                <a:ea typeface="Times New Roman"/>
                <a:cs typeface="Times New Roman"/>
                <a:sym typeface="Times New Roman"/>
              </a:rPr>
              <a:t>1. Secondary Data Analysis/ Literature search: </a:t>
            </a:r>
            <a:endParaRPr/>
          </a:p>
          <a:p>
            <a:pPr indent="-514350" lvl="0" marL="51435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514350" lvl="0" marL="514350" rtl="0" algn="l">
              <a:spcBef>
                <a:spcPts val="640"/>
              </a:spcBef>
              <a:spcAft>
                <a:spcPts val="0"/>
              </a:spcAft>
              <a:buClr>
                <a:schemeClr val="dk1"/>
              </a:buClr>
              <a:buSzPts val="3200"/>
              <a:buNone/>
            </a:pPr>
            <a:r>
              <a:rPr lang="en-US">
                <a:latin typeface="Times New Roman"/>
                <a:ea typeface="Times New Roman"/>
                <a:cs typeface="Times New Roman"/>
                <a:sym typeface="Times New Roman"/>
              </a:rPr>
              <a:t>2. Depth Interviews.</a:t>
            </a:r>
            <a:endParaRPr/>
          </a:p>
          <a:p>
            <a:pPr indent="-311150" lvl="0" marL="514350" rtl="0" algn="l">
              <a:spcBef>
                <a:spcPts val="640"/>
              </a:spcBef>
              <a:spcAft>
                <a:spcPts val="0"/>
              </a:spcAft>
              <a:buClr>
                <a:schemeClr val="dk1"/>
              </a:buClr>
              <a:buSzPts val="3200"/>
              <a:buFont typeface="Calibri"/>
              <a:buNone/>
            </a:pPr>
            <a:r>
              <a:t/>
            </a:r>
            <a:endParaRPr>
              <a:latin typeface="Times New Roman"/>
              <a:ea typeface="Times New Roman"/>
              <a:cs typeface="Times New Roman"/>
              <a:sym typeface="Times New Roman"/>
            </a:endParaRPr>
          </a:p>
          <a:p>
            <a:pPr indent="-514350" lvl="0" marL="514350" rtl="0" algn="l">
              <a:spcBef>
                <a:spcPts val="640"/>
              </a:spcBef>
              <a:spcAft>
                <a:spcPts val="0"/>
              </a:spcAft>
              <a:buClr>
                <a:schemeClr val="dk1"/>
              </a:buClr>
              <a:buSzPts val="3200"/>
              <a:buNone/>
            </a:pPr>
            <a:r>
              <a:rPr lang="en-US">
                <a:latin typeface="Times New Roman"/>
                <a:ea typeface="Times New Roman"/>
                <a:cs typeface="Times New Roman"/>
                <a:sym typeface="Times New Roman"/>
              </a:rPr>
              <a:t>3. Experience survey.</a:t>
            </a:r>
            <a:endParaRPr/>
          </a:p>
          <a:p>
            <a:pPr indent="-311150" lvl="0" marL="514350" rtl="0" algn="l">
              <a:spcBef>
                <a:spcPts val="640"/>
              </a:spcBef>
              <a:spcAft>
                <a:spcPts val="0"/>
              </a:spcAft>
              <a:buClr>
                <a:schemeClr val="dk1"/>
              </a:buClr>
              <a:buSzPts val="3200"/>
              <a:buFont typeface="Calibri"/>
              <a:buNone/>
            </a:pPr>
            <a:r>
              <a:t/>
            </a:r>
            <a:endParaRPr>
              <a:latin typeface="Times New Roman"/>
              <a:ea typeface="Times New Roman"/>
              <a:cs typeface="Times New Roman"/>
              <a:sym typeface="Times New Roman"/>
            </a:endParaRPr>
          </a:p>
          <a:p>
            <a:pPr indent="-514350" lvl="0" marL="514350" rtl="0" algn="l">
              <a:spcBef>
                <a:spcPts val="640"/>
              </a:spcBef>
              <a:spcAft>
                <a:spcPts val="0"/>
              </a:spcAft>
              <a:buClr>
                <a:schemeClr val="dk1"/>
              </a:buClr>
              <a:buSzPts val="3200"/>
              <a:buNone/>
            </a:pPr>
            <a:r>
              <a:rPr lang="en-US">
                <a:latin typeface="Times New Roman"/>
                <a:ea typeface="Times New Roman"/>
                <a:cs typeface="Times New Roman"/>
                <a:sym typeface="Times New Roman"/>
              </a:rPr>
              <a:t>4. Focus group.</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Depth Interviews</a:t>
            </a:r>
            <a:endParaRPr sz="3600">
              <a:latin typeface="Times New Roman"/>
              <a:ea typeface="Times New Roman"/>
              <a:cs typeface="Times New Roman"/>
              <a:sym typeface="Times New Roman"/>
            </a:endParaRPr>
          </a:p>
        </p:txBody>
      </p:sp>
      <p:sp>
        <p:nvSpPr>
          <p:cNvPr id="162" name="Google Shape;162;p2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Interviews with people knowledgeable about the general subject being invested.</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Anyone with relevant information, knowledge and experience is a potential candidate for a depth interview including customers, target market, executives, managers of client organization, sales representative etc.</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Example: Poor performance of employees, slowdown of MBA admissions etc.</a:t>
            </a:r>
            <a:endParaRPr/>
          </a:p>
          <a:p>
            <a:pPr indent="-139700" lvl="0" marL="342900" rtl="0" algn="just">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Experience survey</a:t>
            </a:r>
            <a:endParaRPr sz="3600">
              <a:latin typeface="Times New Roman"/>
              <a:ea typeface="Times New Roman"/>
              <a:cs typeface="Times New Roman"/>
              <a:sym typeface="Times New Roman"/>
            </a:endParaRPr>
          </a:p>
        </p:txBody>
      </p:sp>
      <p:sp>
        <p:nvSpPr>
          <p:cNvPr id="168" name="Google Shape;168;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Informal interviews with experts in the subject will help the researcher in getting an insight into the subject and various facts related to the same.</a:t>
            </a:r>
            <a:endParaRPr/>
          </a:p>
          <a:p>
            <a:pPr indent="-342900" lvl="0" marL="342900" rtl="0" algn="just">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Eg. What is being done?</a:t>
            </a:r>
            <a:endParaRPr/>
          </a:p>
          <a:p>
            <a:pPr indent="-342900" lvl="0" marL="342900" rtl="0" algn="just">
              <a:spcBef>
                <a:spcPts val="560"/>
              </a:spcBef>
              <a:spcAft>
                <a:spcPts val="0"/>
              </a:spcAft>
              <a:buClr>
                <a:schemeClr val="dk1"/>
              </a:buClr>
              <a:buSzPts val="2800"/>
              <a:buNone/>
            </a:pPr>
            <a:r>
              <a:rPr lang="en-US" sz="2800">
                <a:latin typeface="Times New Roman"/>
                <a:ea typeface="Times New Roman"/>
                <a:cs typeface="Times New Roman"/>
                <a:sym typeface="Times New Roman"/>
              </a:rPr>
              <a:t>	What has been done in the past without success? With      success? Who involved in decision &amp; his role? What problem areas &amp; barriers can be seen? Participants? Priority areas? How have things changed? etc.</a:t>
            </a:r>
            <a:endParaRPr/>
          </a:p>
          <a:p>
            <a:pPr indent="-342900" lvl="0" marL="342900" rtl="0" algn="just">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Focus Group</a:t>
            </a:r>
            <a:endParaRPr sz="3600">
              <a:latin typeface="Times New Roman"/>
              <a:ea typeface="Times New Roman"/>
              <a:cs typeface="Times New Roman"/>
              <a:sym typeface="Times New Roman"/>
            </a:endParaRPr>
          </a:p>
        </p:txBody>
      </p:sp>
      <p:sp>
        <p:nvSpPr>
          <p:cNvPr id="174" name="Google Shape;174;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A focus group of people(typically of 6-10 participants), led by a trained moderator, who meet for 90 min. to 2 hours.</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Moderator guide the group in an exchange of ideas, feelings,&amp; experiences.</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New product ,product concept, new employee motivation program.</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Descriptive Research Design</a:t>
            </a:r>
            <a:endParaRPr/>
          </a:p>
        </p:txBody>
      </p:sp>
      <p:sp>
        <p:nvSpPr>
          <p:cNvPr id="180" name="Google Shape;180;p29"/>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When the researcher desires to know the characteristics or function of market of certain groups such as age, income, gender, occupation or education.</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Objective is to know “who, what, when, where &amp; how”.</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Factual in nature, well structured.</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Researcher has to give adequate thought to framing research questions &amp; deciding data collection &amp; the procedure.</a:t>
            </a:r>
            <a:endParaRPr/>
          </a:p>
          <a:p>
            <a:pPr indent="-342900" lvl="0" marL="342900" rtl="0" algn="just">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idx="1" type="body"/>
          </p:nvPr>
        </p:nvSpPr>
        <p:spPr>
          <a:xfrm>
            <a:off x="457200" y="228600"/>
            <a:ext cx="8229600" cy="6324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Describes the present situation or the features of a group or users of a product.</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Characterized by prior formulation of hypothesis.</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Based on secondary or survey research.</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Based on large representation of samples.</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Examples:(i) studies of frequency of shopping,</a:t>
            </a:r>
            <a:endParaRPr/>
          </a:p>
          <a:p>
            <a:pPr indent="-342900" lvl="0" marL="342900" rtl="0" algn="just">
              <a:spcBef>
                <a:spcPts val="640"/>
              </a:spcBef>
              <a:spcAft>
                <a:spcPts val="0"/>
              </a:spcAft>
              <a:buClr>
                <a:schemeClr val="dk1"/>
              </a:buClr>
              <a:buSzPts val="3200"/>
              <a:buNone/>
            </a:pPr>
            <a:r>
              <a:rPr lang="en-US">
                <a:latin typeface="Times New Roman"/>
                <a:ea typeface="Times New Roman"/>
                <a:cs typeface="Times New Roman"/>
                <a:sym typeface="Times New Roman"/>
              </a:rPr>
              <a:t>                      (ii)preferences of people,</a:t>
            </a:r>
            <a:endParaRPr/>
          </a:p>
          <a:p>
            <a:pPr indent="-342900" lvl="0" marL="342900" rtl="0" algn="just">
              <a:spcBef>
                <a:spcPts val="640"/>
              </a:spcBef>
              <a:spcAft>
                <a:spcPts val="0"/>
              </a:spcAft>
              <a:buClr>
                <a:schemeClr val="dk1"/>
              </a:buClr>
              <a:buSzPts val="3200"/>
              <a:buNone/>
            </a:pPr>
            <a:r>
              <a:rPr lang="en-US">
                <a:latin typeface="Times New Roman"/>
                <a:ea typeface="Times New Roman"/>
                <a:cs typeface="Times New Roman"/>
                <a:sym typeface="Times New Roman"/>
              </a:rPr>
              <a:t>(iii) Data on clients, by this sales &amp; mgt. will able to take better decisions on new product development.</a:t>
            </a:r>
            <a:endParaRPr/>
          </a:p>
          <a:p>
            <a:pPr indent="-342900" lvl="0" marL="342900" rtl="0" algn="just">
              <a:lnSpc>
                <a:spcPct val="120000"/>
              </a:lnSpc>
              <a:spcBef>
                <a:spcPts val="480"/>
              </a:spcBef>
              <a:spcAft>
                <a:spcPts val="0"/>
              </a:spcAft>
              <a:buClr>
                <a:schemeClr val="dk1"/>
              </a:buClr>
              <a:buSzPts val="2400"/>
              <a:buNone/>
            </a:pPr>
            <a:r>
              <a:rPr lang="en-US" sz="2400">
                <a:latin typeface="Times New Roman"/>
                <a:ea typeface="Times New Roman"/>
                <a:cs typeface="Times New Roman"/>
                <a:sym typeface="Times New Roman"/>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Cross-sectional Designs</a:t>
            </a:r>
            <a:endParaRPr/>
          </a:p>
        </p:txBody>
      </p:sp>
      <p:sp>
        <p:nvSpPr>
          <p:cNvPr id="192" name="Google Shape;192;p31"/>
          <p:cNvSpPr txBox="1"/>
          <p:nvPr>
            <p:ph idx="1" type="body"/>
          </p:nvPr>
        </p:nvSpPr>
        <p:spPr>
          <a:xfrm>
            <a:off x="457200" y="1417638"/>
            <a:ext cx="8229600" cy="4876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Sample of elements from the population of interest at a single point of time.</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Sample may be households, dealers, retail stores etc.</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Information/data collected &amp; analyzed for conclusion.</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Includes field studies &amp; surveys.</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Survey research is expensive &amp; time consuming when conducted on large group.</a:t>
            </a:r>
            <a:endParaRPr/>
          </a:p>
          <a:p>
            <a:pPr indent="-139700" lvl="0" marL="342900" rtl="0" algn="just">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Longitudinal Designs</a:t>
            </a:r>
            <a:endParaRPr/>
          </a:p>
        </p:txBody>
      </p:sp>
      <p:sp>
        <p:nvSpPr>
          <p:cNvPr id="198" name="Google Shape;198;p32"/>
          <p:cNvSpPr txBox="1"/>
          <p:nvPr>
            <p:ph idx="1" type="body"/>
          </p:nvPr>
        </p:nvSpPr>
        <p:spPr>
          <a:xfrm>
            <a:off x="457200" y="1219200"/>
            <a:ext cx="8229600" cy="5334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Based on panel methods &amp; panel data.</a:t>
            </a:r>
            <a:endParaRPr/>
          </a:p>
          <a:p>
            <a:pPr indent="-342900" lvl="0" marL="342900" rtl="0" algn="just">
              <a:spcBef>
                <a:spcPts val="64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Panel: sample of respondents who are interviewed not only once but thereafter from time to time.</a:t>
            </a:r>
            <a:endParaRPr/>
          </a:p>
          <a:p>
            <a:pPr indent="-342900" lvl="0" marL="342900" rtl="0" algn="just">
              <a:spcBef>
                <a:spcPts val="64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Data to be collected relate to same variables but the measurements are taken repeatedly.</a:t>
            </a:r>
            <a:endParaRPr/>
          </a:p>
          <a:p>
            <a:pPr indent="-342900" lvl="0" marL="342900" rtl="0" algn="just">
              <a:spcBef>
                <a:spcPts val="64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Example: purchase of grocery products by families at regular intervals. Such data will indicate change in buying behavior of families.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Advantages of Longitudinal studies</a:t>
            </a:r>
            <a:endParaRPr/>
          </a:p>
        </p:txBody>
      </p:sp>
      <p:sp>
        <p:nvSpPr>
          <p:cNvPr id="204" name="Google Shape;204;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Suitable when researcher undertakes detail study.</a:t>
            </a:r>
            <a:endParaRPr/>
          </a:p>
          <a:p>
            <a:pPr indent="-342900" lvl="0" marL="342900" rtl="0" algn="just">
              <a:spcBef>
                <a:spcPts val="64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More comprehensive.</a:t>
            </a:r>
            <a:endParaRPr/>
          </a:p>
          <a:p>
            <a:pPr indent="-342900" lvl="0" marL="342900" rtl="0" algn="just">
              <a:spcBef>
                <a:spcPts val="640"/>
              </a:spcBef>
              <a:spcAft>
                <a:spcPts val="0"/>
              </a:spcAft>
              <a:buClr>
                <a:schemeClr val="dk1"/>
              </a:buClr>
              <a:buSzPts val="3200"/>
              <a:buFont typeface="Noto Sans Symbols"/>
              <a:buChar char="⮚"/>
            </a:pPr>
            <a:r>
              <a:rPr lang="en-US">
                <a:latin typeface="Times New Roman"/>
                <a:ea typeface="Times New Roman"/>
                <a:cs typeface="Times New Roman"/>
                <a:sym typeface="Times New Roman"/>
              </a:rPr>
              <a:t>More accurate compared to survey.</a:t>
            </a:r>
            <a:endParaRPr/>
          </a:p>
          <a:p>
            <a:pPr indent="-342900" lvl="0" marL="342900" rtl="0" algn="just">
              <a:spcBef>
                <a:spcPts val="640"/>
              </a:spcBef>
              <a:spcAft>
                <a:spcPts val="0"/>
              </a:spcAft>
              <a:buClr>
                <a:schemeClr val="dk1"/>
              </a:buClr>
              <a:buSzPts val="3200"/>
              <a:buNone/>
            </a:pPr>
            <a:r>
              <a:rPr lang="en-US">
                <a:latin typeface="Times New Roman"/>
                <a:ea typeface="Times New Roman"/>
                <a:cs typeface="Times New Roman"/>
                <a:sym typeface="Times New Roman"/>
              </a:rPr>
              <a:t>   These advantages improve the quality of research findings and conclusions.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Dis-advantages of longitudinal studies</a:t>
            </a:r>
            <a:endParaRPr/>
          </a:p>
        </p:txBody>
      </p:sp>
      <p:sp>
        <p:nvSpPr>
          <p:cNvPr id="210" name="Google Shape;210;p34"/>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Panels used for data collection may not be a representative samples.</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Panel members may not be cooperative or may leave panel members. As a result, the representative character of original sample may adversely affect.</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Panel members may report wrong data.</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May supply information in casual manner which affects quality data &amp; findings.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Causal research: Experimental Design</a:t>
            </a:r>
            <a:endParaRPr/>
          </a:p>
        </p:txBody>
      </p:sp>
      <p:sp>
        <p:nvSpPr>
          <p:cNvPr id="216" name="Google Shape;216;p35"/>
          <p:cNvSpPr txBox="1"/>
          <p:nvPr>
            <p:ph idx="1" type="body"/>
          </p:nvPr>
        </p:nvSpPr>
        <p:spPr>
          <a:xfrm>
            <a:off x="457200" y="1600200"/>
            <a:ext cx="8229600" cy="4983162"/>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Investigates the cause-and-effect relationship between two or more variables.</a:t>
            </a:r>
            <a:endParaRPr/>
          </a:p>
          <a:p>
            <a:pPr indent="-342900" lvl="0" marL="342900" rtl="0" algn="just">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Measures the extent of relationship between the variables.</a:t>
            </a:r>
            <a:endParaRPr/>
          </a:p>
          <a:p>
            <a:pPr indent="-342900" lvl="0" marL="342900" rtl="0" algn="just">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Useful to show the impact of one variable on the other.</a:t>
            </a:r>
            <a:endParaRPr/>
          </a:p>
          <a:p>
            <a:pPr indent="-342900" lvl="0" marL="342900" rtl="0" algn="just">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Example. </a:t>
            </a:r>
            <a:endParaRPr/>
          </a:p>
          <a:p>
            <a:pPr indent="-342900" lvl="0" marL="342900" rtl="0" algn="just">
              <a:spcBef>
                <a:spcPts val="560"/>
              </a:spcBef>
              <a:spcAft>
                <a:spcPts val="0"/>
              </a:spcAft>
              <a:buClr>
                <a:schemeClr val="dk1"/>
              </a:buClr>
              <a:buSzPts val="2800"/>
              <a:buNone/>
            </a:pPr>
            <a:r>
              <a:rPr lang="en-US" sz="2800">
                <a:latin typeface="Times New Roman"/>
                <a:ea typeface="Times New Roman"/>
                <a:cs typeface="Times New Roman"/>
                <a:sym typeface="Times New Roman"/>
              </a:rPr>
              <a:t>Price and market demand</a:t>
            </a:r>
            <a:endParaRPr/>
          </a:p>
          <a:p>
            <a:pPr indent="-342900" lvl="0" marL="342900" rtl="0" algn="just">
              <a:spcBef>
                <a:spcPts val="560"/>
              </a:spcBef>
              <a:spcAft>
                <a:spcPts val="0"/>
              </a:spcAft>
              <a:buClr>
                <a:schemeClr val="dk1"/>
              </a:buClr>
              <a:buSzPts val="2800"/>
              <a:buNone/>
            </a:pPr>
            <a:r>
              <a:rPr lang="en-US" sz="2800">
                <a:latin typeface="Times New Roman"/>
                <a:ea typeface="Times New Roman"/>
                <a:cs typeface="Times New Roman"/>
                <a:sym typeface="Times New Roman"/>
              </a:rPr>
              <a:t>Market competition and sales performance</a:t>
            </a:r>
            <a:endParaRPr/>
          </a:p>
          <a:p>
            <a:pPr indent="-342900" lvl="0" marL="342900" rtl="0" algn="just">
              <a:spcBef>
                <a:spcPts val="560"/>
              </a:spcBef>
              <a:spcAft>
                <a:spcPts val="0"/>
              </a:spcAft>
              <a:buClr>
                <a:schemeClr val="dk1"/>
              </a:buClr>
              <a:buSzPts val="2800"/>
              <a:buNone/>
            </a:pPr>
            <a:r>
              <a:rPr lang="en-US" sz="2800">
                <a:latin typeface="Times New Roman"/>
                <a:ea typeface="Times New Roman"/>
                <a:cs typeface="Times New Roman"/>
                <a:sym typeface="Times New Roman"/>
              </a:rPr>
              <a:t>Positive/negative effect of advertising on sales.</a:t>
            </a:r>
            <a:endParaRPr/>
          </a:p>
          <a:p>
            <a:pPr indent="-342900" lvl="0" marL="342900" rtl="0" algn="just">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idx="1" type="body"/>
          </p:nvPr>
        </p:nvSpPr>
        <p:spPr>
          <a:xfrm>
            <a:off x="457200" y="914400"/>
            <a:ext cx="8229600" cy="52117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Helps for in-depth study through causal research</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Example- Helps to predict influence of price, packaging, advertising on sales.</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Data for causal research collected through field survey with the help of questionnaire or by laboratory experiments.</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Lab experiments possible for testing new products or package design.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idx="1" type="body"/>
          </p:nvPr>
        </p:nvSpPr>
        <p:spPr>
          <a:xfrm>
            <a:off x="457200" y="762000"/>
            <a:ext cx="8229600" cy="53641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b="1" lang="en-US" sz="2800">
                <a:latin typeface="Times New Roman"/>
                <a:ea typeface="Times New Roman"/>
                <a:cs typeface="Times New Roman"/>
                <a:sym typeface="Times New Roman"/>
              </a:rPr>
              <a:t>Concept of cause </a:t>
            </a:r>
            <a:r>
              <a:rPr lang="en-US" sz="2800">
                <a:latin typeface="Times New Roman"/>
                <a:ea typeface="Times New Roman"/>
                <a:cs typeface="Times New Roman"/>
                <a:sym typeface="Times New Roman"/>
              </a:rPr>
              <a:t>:</a:t>
            </a:r>
            <a:endParaRPr/>
          </a:p>
          <a:p>
            <a:pPr indent="-342900" lvl="0" marL="342900" rtl="0" algn="l">
              <a:spcBef>
                <a:spcPts val="560"/>
              </a:spcBef>
              <a:spcAft>
                <a:spcPts val="0"/>
              </a:spcAft>
              <a:buClr>
                <a:schemeClr val="dk1"/>
              </a:buClr>
              <a:buSzPts val="2800"/>
              <a:buChar char="•"/>
            </a:pPr>
            <a:r>
              <a:rPr b="1" lang="en-US" sz="2800">
                <a:latin typeface="Times New Roman"/>
                <a:ea typeface="Times New Roman"/>
                <a:cs typeface="Times New Roman"/>
                <a:sym typeface="Times New Roman"/>
              </a:rPr>
              <a:t>Causal relationship</a:t>
            </a:r>
            <a:r>
              <a:rPr lang="en-US" sz="2800">
                <a:latin typeface="Times New Roman"/>
                <a:ea typeface="Times New Roman"/>
                <a:cs typeface="Times New Roman"/>
                <a:sym typeface="Times New Roman"/>
              </a:rPr>
              <a:t>: relationship between two variables. If price is reduced check effect on sales.</a:t>
            </a:r>
            <a:endParaRPr/>
          </a:p>
          <a:p>
            <a:pPr indent="-342900" lvl="0" marL="342900" rtl="0" algn="l">
              <a:spcBef>
                <a:spcPts val="560"/>
              </a:spcBef>
              <a:spcAft>
                <a:spcPts val="0"/>
              </a:spcAft>
              <a:buClr>
                <a:schemeClr val="dk1"/>
              </a:buClr>
              <a:buSzPts val="2800"/>
              <a:buChar char="•"/>
            </a:pPr>
            <a:r>
              <a:rPr lang="en-US" sz="2800">
                <a:latin typeface="Times New Roman"/>
                <a:ea typeface="Times New Roman"/>
                <a:cs typeface="Times New Roman"/>
                <a:sym typeface="Times New Roman"/>
              </a:rPr>
              <a:t>Four types: </a:t>
            </a:r>
            <a:endParaRPr/>
          </a:p>
          <a:p>
            <a:pPr indent="-342900" lvl="0" marL="342900" rtl="0" algn="l">
              <a:spcBef>
                <a:spcPts val="560"/>
              </a:spcBef>
              <a:spcAft>
                <a:spcPts val="0"/>
              </a:spcAft>
              <a:buClr>
                <a:schemeClr val="dk1"/>
              </a:buClr>
              <a:buSzPts val="2800"/>
              <a:buChar char="•"/>
            </a:pPr>
            <a:r>
              <a:rPr lang="en-US" sz="2800">
                <a:latin typeface="Times New Roman"/>
                <a:ea typeface="Times New Roman"/>
                <a:cs typeface="Times New Roman"/>
                <a:sym typeface="Times New Roman"/>
              </a:rPr>
              <a:t>price reduced no, no effect on sales</a:t>
            </a:r>
            <a:endParaRPr/>
          </a:p>
          <a:p>
            <a:pPr indent="-342900" lvl="0" marL="342900" rtl="0" algn="l">
              <a:spcBef>
                <a:spcPts val="560"/>
              </a:spcBef>
              <a:spcAft>
                <a:spcPts val="0"/>
              </a:spcAft>
              <a:buClr>
                <a:schemeClr val="dk1"/>
              </a:buClr>
              <a:buSzPts val="2800"/>
              <a:buChar char="•"/>
            </a:pPr>
            <a:r>
              <a:rPr lang="en-US" sz="2800">
                <a:latin typeface="Times New Roman"/>
                <a:ea typeface="Times New Roman"/>
                <a:cs typeface="Times New Roman"/>
                <a:sym typeface="Times New Roman"/>
              </a:rPr>
              <a:t>Price reduced, sales decreased</a:t>
            </a:r>
            <a:endParaRPr/>
          </a:p>
          <a:p>
            <a:pPr indent="-342900" lvl="0" marL="342900" rtl="0" algn="l">
              <a:spcBef>
                <a:spcPts val="560"/>
              </a:spcBef>
              <a:spcAft>
                <a:spcPts val="0"/>
              </a:spcAft>
              <a:buClr>
                <a:schemeClr val="dk1"/>
              </a:buClr>
              <a:buSzPts val="2800"/>
              <a:buChar char="•"/>
            </a:pPr>
            <a:r>
              <a:rPr lang="en-US" sz="2800">
                <a:latin typeface="Times New Roman"/>
                <a:ea typeface="Times New Roman"/>
                <a:cs typeface="Times New Roman"/>
                <a:sym typeface="Times New Roman"/>
              </a:rPr>
              <a:t>Price reduced, there is effect on sales</a:t>
            </a:r>
            <a:endParaRPr/>
          </a:p>
          <a:p>
            <a:pPr indent="-342900" lvl="0" marL="342900" rtl="0" algn="l">
              <a:spcBef>
                <a:spcPts val="560"/>
              </a:spcBef>
              <a:spcAft>
                <a:spcPts val="0"/>
              </a:spcAft>
              <a:buClr>
                <a:schemeClr val="dk1"/>
              </a:buClr>
              <a:buSzPts val="2800"/>
              <a:buChar char="•"/>
            </a:pPr>
            <a:r>
              <a:rPr lang="en-US" sz="2800">
                <a:latin typeface="Times New Roman"/>
                <a:ea typeface="Times New Roman"/>
                <a:cs typeface="Times New Roman"/>
                <a:sym typeface="Times New Roman"/>
              </a:rPr>
              <a:t>Reason unknown but sales increased</a:t>
            </a:r>
            <a:endParaRPr/>
          </a:p>
          <a:p>
            <a:pPr indent="-165100" lvl="0" marL="342900" rtl="0" algn="l">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342900" lvl="0" marL="342900" rtl="0" algn="l">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Experimental research design</a:t>
            </a:r>
            <a:endParaRPr/>
          </a:p>
        </p:txBody>
      </p:sp>
      <p:sp>
        <p:nvSpPr>
          <p:cNvPr id="232" name="Google Shape;232;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Experimental research is used to answer causal research question:</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Does something cause an effect? </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Eg. Does a low student-teacher ratio cause higher student achievement?</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It is necessary to manipulate the independent variable so that the extent of its causal effects can be established.</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 best done in artificial settings (laboratory)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idx="1" type="body"/>
          </p:nvPr>
        </p:nvSpPr>
        <p:spPr>
          <a:xfrm>
            <a:off x="152400" y="228600"/>
            <a:ext cx="8839200" cy="632460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Times New Roman"/>
                <a:ea typeface="Times New Roman"/>
                <a:cs typeface="Times New Roman"/>
                <a:sym typeface="Times New Roman"/>
              </a:rPr>
              <a:t>Eg. HRD manager wants to arrange a training for new recruits to prove training causes employees to perform more effectively. However some recruiters might perform more effectively mainly or partly because they have had previous intermittent experience. In this case manager cannot prove that the special training alone caused greater effectiveness since there is a </a:t>
            </a:r>
            <a:r>
              <a:rPr b="1" lang="en-US" sz="2400">
                <a:latin typeface="Times New Roman"/>
                <a:ea typeface="Times New Roman"/>
                <a:cs typeface="Times New Roman"/>
                <a:sym typeface="Times New Roman"/>
              </a:rPr>
              <a:t>contaminating factor</a:t>
            </a:r>
            <a:r>
              <a:rPr lang="en-US" sz="2400">
                <a:latin typeface="Times New Roman"/>
                <a:ea typeface="Times New Roman"/>
                <a:cs typeface="Times New Roman"/>
                <a:sym typeface="Times New Roman"/>
              </a:rPr>
              <a:t>. If the true effect of training on learning to be assessed, then the learner’s previous experience has to be controlled. This might be done by not including in the experiments those who are already experienced. This is what control of contaminating factor.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0"/>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Variable </a:t>
            </a:r>
            <a:endParaRPr/>
          </a:p>
        </p:txBody>
      </p:sp>
      <p:sp>
        <p:nvSpPr>
          <p:cNvPr id="243" name="Google Shape;243;p40"/>
          <p:cNvSpPr txBox="1"/>
          <p:nvPr>
            <p:ph idx="1" type="body"/>
          </p:nvPr>
        </p:nvSpPr>
        <p:spPr>
          <a:xfrm>
            <a:off x="457200" y="1066800"/>
            <a:ext cx="8229600" cy="50593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latin typeface="Times New Roman"/>
                <a:ea typeface="Times New Roman"/>
                <a:cs typeface="Times New Roman"/>
                <a:sym typeface="Times New Roman"/>
              </a:rPr>
              <a:t>Independent and dependant variable</a:t>
            </a:r>
            <a:r>
              <a:rPr lang="en-US">
                <a:latin typeface="Times New Roman"/>
                <a:ea typeface="Times New Roman"/>
                <a:cs typeface="Times New Roman"/>
                <a:sym typeface="Times New Roman"/>
              </a:rPr>
              <a:t>.</a:t>
            </a:r>
            <a:endParaRPr/>
          </a:p>
          <a:p>
            <a:pPr indent="-342900" lvl="0" marL="342900" rtl="0" algn="just">
              <a:spcBef>
                <a:spcPts val="640"/>
              </a:spcBef>
              <a:spcAft>
                <a:spcPts val="0"/>
              </a:spcAft>
              <a:buClr>
                <a:schemeClr val="dk1"/>
              </a:buClr>
              <a:buSzPts val="3200"/>
              <a:buChar char="•"/>
            </a:pPr>
            <a:r>
              <a:rPr b="1" lang="en-US">
                <a:latin typeface="Times New Roman"/>
                <a:ea typeface="Times New Roman"/>
                <a:cs typeface="Times New Roman"/>
                <a:sym typeface="Times New Roman"/>
              </a:rPr>
              <a:t>Concomitant variable</a:t>
            </a:r>
            <a:r>
              <a:rPr lang="en-US">
                <a:latin typeface="Times New Roman"/>
                <a:ea typeface="Times New Roman"/>
                <a:cs typeface="Times New Roman"/>
                <a:sym typeface="Times New Roman"/>
              </a:rPr>
              <a:t>: know the value of variable in advance what would be outcome and try to correlate with the outcome.</a:t>
            </a:r>
            <a:endParaRPr/>
          </a:p>
          <a:p>
            <a:pPr indent="-342900" lvl="0" marL="342900" rtl="0" algn="just">
              <a:spcBef>
                <a:spcPts val="640"/>
              </a:spcBef>
              <a:spcAft>
                <a:spcPts val="0"/>
              </a:spcAft>
              <a:buClr>
                <a:schemeClr val="dk1"/>
              </a:buClr>
              <a:buSzPts val="3200"/>
              <a:buNone/>
            </a:pPr>
            <a:r>
              <a:rPr lang="en-US">
                <a:latin typeface="Times New Roman"/>
                <a:ea typeface="Times New Roman"/>
                <a:cs typeface="Times New Roman"/>
                <a:sym typeface="Times New Roman"/>
              </a:rPr>
              <a:t>    e.g. performance of trained employees and outcome.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1"/>
          <p:cNvSpPr txBox="1"/>
          <p:nvPr>
            <p:ph idx="1" type="body"/>
          </p:nvPr>
        </p:nvSpPr>
        <p:spPr>
          <a:xfrm>
            <a:off x="304800" y="228600"/>
            <a:ext cx="8534400" cy="6477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000000"/>
              </a:buClr>
              <a:buSzPts val="2800"/>
              <a:buChar char="•"/>
            </a:pPr>
            <a:r>
              <a:rPr b="0" i="0" lang="en-US" sz="2800">
                <a:solidFill>
                  <a:srgbClr val="000000"/>
                </a:solidFill>
                <a:latin typeface="Times New Roman"/>
                <a:ea typeface="Times New Roman"/>
                <a:cs typeface="Times New Roman"/>
                <a:sym typeface="Times New Roman"/>
              </a:rPr>
              <a:t>A </a:t>
            </a:r>
            <a:r>
              <a:rPr b="1" i="0" lang="en-US" sz="2800">
                <a:solidFill>
                  <a:srgbClr val="000000"/>
                </a:solidFill>
                <a:latin typeface="Times New Roman"/>
                <a:ea typeface="Times New Roman"/>
                <a:cs typeface="Times New Roman"/>
                <a:sym typeface="Times New Roman"/>
              </a:rPr>
              <a:t>concomitant variable</a:t>
            </a:r>
            <a:r>
              <a:rPr b="0" i="0" lang="en-US" sz="2800">
                <a:solidFill>
                  <a:srgbClr val="000000"/>
                </a:solidFill>
                <a:latin typeface="Times New Roman"/>
                <a:ea typeface="Times New Roman"/>
                <a:cs typeface="Times New Roman"/>
                <a:sym typeface="Times New Roman"/>
              </a:rPr>
              <a:t> (sometimes called a “covariate”) is a variable that is not of primary interest in a study, but nonetheless may have some interaction with the variable(s) of interest being studied.</a:t>
            </a:r>
            <a:endParaRPr b="0" i="0" sz="2800">
              <a:solidFill>
                <a:srgbClr val="3D3D3D"/>
              </a:solidFill>
              <a:latin typeface="Times New Roman"/>
              <a:ea typeface="Times New Roman"/>
              <a:cs typeface="Times New Roman"/>
              <a:sym typeface="Times New Roman"/>
            </a:endParaRPr>
          </a:p>
          <a:p>
            <a:pPr indent="-342900" lvl="0" marL="342900" rtl="0" algn="just">
              <a:spcBef>
                <a:spcPts val="560"/>
              </a:spcBef>
              <a:spcAft>
                <a:spcPts val="0"/>
              </a:spcAft>
              <a:buClr>
                <a:srgbClr val="000000"/>
              </a:buClr>
              <a:buSzPts val="2800"/>
              <a:buChar char="•"/>
            </a:pPr>
            <a:r>
              <a:rPr b="0" i="0" lang="en-US" sz="2800">
                <a:solidFill>
                  <a:srgbClr val="000000"/>
                </a:solidFill>
                <a:latin typeface="Times New Roman"/>
                <a:ea typeface="Times New Roman"/>
                <a:cs typeface="Times New Roman"/>
                <a:sym typeface="Times New Roman"/>
              </a:rPr>
              <a:t>Not accounting for these types of variables can lead to biased or misleading results in an analysis, so it’s important to deal with them when possible.</a:t>
            </a:r>
            <a:endParaRPr b="0" i="0" sz="2800">
              <a:solidFill>
                <a:srgbClr val="3D3D3D"/>
              </a:solidFill>
              <a:latin typeface="Times New Roman"/>
              <a:ea typeface="Times New Roman"/>
              <a:cs typeface="Times New Roman"/>
              <a:sym typeface="Times New Roman"/>
            </a:endParaRPr>
          </a:p>
          <a:p>
            <a:pPr indent="-342900" lvl="0" marL="342900" rtl="0" algn="just">
              <a:spcBef>
                <a:spcPts val="560"/>
              </a:spcBef>
              <a:spcAft>
                <a:spcPts val="0"/>
              </a:spcAft>
              <a:buClr>
                <a:srgbClr val="000000"/>
              </a:buClr>
              <a:buSzPts val="2800"/>
              <a:buChar char="•"/>
            </a:pPr>
            <a:r>
              <a:rPr b="0" i="0" lang="en-US" sz="2800">
                <a:solidFill>
                  <a:srgbClr val="000000"/>
                </a:solidFill>
                <a:latin typeface="Times New Roman"/>
                <a:ea typeface="Times New Roman"/>
                <a:cs typeface="Times New Roman"/>
                <a:sym typeface="Times New Roman"/>
              </a:rPr>
              <a:t>In observational studies, it’s important to be aware of the fact that concomitant variables could cause unusual interpretations of data and the relationships between variables. In experimental studies, it’s important to design the experiment in such a way that eliminates or reduces the risk of concomitant variables.</a:t>
            </a:r>
            <a:endParaRPr b="0" i="0" sz="2800">
              <a:solidFill>
                <a:srgbClr val="3D3D3D"/>
              </a:solidFill>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2"/>
          <p:cNvSpPr txBox="1"/>
          <p:nvPr>
            <p:ph type="title"/>
          </p:nvPr>
        </p:nvSpPr>
        <p:spPr>
          <a:xfrm>
            <a:off x="419100" y="152400"/>
            <a:ext cx="8229600" cy="9604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2800"/>
              <a:buFont typeface="Times New Roman"/>
              <a:buNone/>
            </a:pPr>
            <a:br>
              <a:rPr lang="en-US" sz="2800">
                <a:solidFill>
                  <a:srgbClr val="000000"/>
                </a:solidFill>
                <a:latin typeface="Times New Roman"/>
                <a:ea typeface="Times New Roman"/>
                <a:cs typeface="Times New Roman"/>
                <a:sym typeface="Times New Roman"/>
              </a:rPr>
            </a:br>
            <a:r>
              <a:rPr lang="en-US" sz="2800">
                <a:solidFill>
                  <a:srgbClr val="000000"/>
                </a:solidFill>
                <a:latin typeface="Times New Roman"/>
                <a:ea typeface="Times New Roman"/>
                <a:cs typeface="Times New Roman"/>
                <a:sym typeface="Times New Roman"/>
              </a:rPr>
              <a:t>Examples to illustrate cases in which concomitant variables could be present in a study</a:t>
            </a:r>
            <a:br>
              <a:rPr lang="en-US" sz="2800">
                <a:solidFill>
                  <a:srgbClr val="3D3D3D"/>
                </a:solidFill>
                <a:latin typeface="Times New Roman"/>
                <a:ea typeface="Times New Roman"/>
                <a:cs typeface="Times New Roman"/>
                <a:sym typeface="Times New Roman"/>
              </a:rPr>
            </a:br>
            <a:endParaRPr sz="2800"/>
          </a:p>
        </p:txBody>
      </p:sp>
      <p:sp>
        <p:nvSpPr>
          <p:cNvPr id="254" name="Google Shape;254;p42"/>
          <p:cNvSpPr txBox="1"/>
          <p:nvPr>
            <p:ph idx="1" type="body"/>
          </p:nvPr>
        </p:nvSpPr>
        <p:spPr>
          <a:xfrm>
            <a:off x="152400" y="1105910"/>
            <a:ext cx="8763000" cy="559276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spcBef>
                <a:spcPts val="0"/>
              </a:spcBef>
              <a:spcAft>
                <a:spcPts val="0"/>
              </a:spcAft>
              <a:buClr>
                <a:srgbClr val="000000"/>
              </a:buClr>
              <a:buSzPct val="100000"/>
              <a:buNone/>
            </a:pPr>
            <a:r>
              <a:rPr b="1" i="0" lang="en-US" sz="3000">
                <a:solidFill>
                  <a:srgbClr val="000000"/>
                </a:solidFill>
                <a:latin typeface="Times New Roman"/>
                <a:ea typeface="Times New Roman"/>
                <a:cs typeface="Times New Roman"/>
                <a:sym typeface="Times New Roman"/>
              </a:rPr>
              <a:t>Example 1</a:t>
            </a:r>
            <a:endParaRPr b="1" i="0" sz="3000">
              <a:solidFill>
                <a:srgbClr val="020202"/>
              </a:solidFill>
              <a:latin typeface="Times New Roman"/>
              <a:ea typeface="Times New Roman"/>
              <a:cs typeface="Times New Roman"/>
              <a:sym typeface="Times New Roman"/>
            </a:endParaRPr>
          </a:p>
          <a:p>
            <a:pPr indent="-342900" lvl="0" marL="342900" rtl="0" algn="just">
              <a:spcBef>
                <a:spcPts val="592"/>
              </a:spcBef>
              <a:spcAft>
                <a:spcPts val="0"/>
              </a:spcAft>
              <a:buClr>
                <a:srgbClr val="000000"/>
              </a:buClr>
              <a:buSzPct val="100000"/>
              <a:buChar char="•"/>
            </a:pPr>
            <a:r>
              <a:rPr b="0" i="0" lang="en-US">
                <a:solidFill>
                  <a:srgbClr val="000000"/>
                </a:solidFill>
                <a:latin typeface="Times New Roman"/>
                <a:ea typeface="Times New Roman"/>
                <a:cs typeface="Times New Roman"/>
                <a:sym typeface="Times New Roman"/>
              </a:rPr>
              <a:t>Researchers want to understand the relationship between population density and ice cream sales. However, a concomitant variable that likely affects ice cream sales is weather.</a:t>
            </a:r>
            <a:endParaRPr b="0" i="0">
              <a:solidFill>
                <a:srgbClr val="3D3D3D"/>
              </a:solidFill>
              <a:latin typeface="Times New Roman"/>
              <a:ea typeface="Times New Roman"/>
              <a:cs typeface="Times New Roman"/>
              <a:sym typeface="Times New Roman"/>
            </a:endParaRPr>
          </a:p>
          <a:p>
            <a:pPr indent="-342900" lvl="0" marL="342900" rtl="0" algn="just">
              <a:spcBef>
                <a:spcPts val="592"/>
              </a:spcBef>
              <a:spcAft>
                <a:spcPts val="0"/>
              </a:spcAft>
              <a:buClr>
                <a:srgbClr val="000000"/>
              </a:buClr>
              <a:buSzPct val="100000"/>
              <a:buChar char="•"/>
            </a:pPr>
            <a:r>
              <a:rPr b="0" i="0" lang="en-US">
                <a:solidFill>
                  <a:srgbClr val="000000"/>
                </a:solidFill>
                <a:latin typeface="Times New Roman"/>
                <a:ea typeface="Times New Roman"/>
                <a:cs typeface="Times New Roman"/>
                <a:sym typeface="Times New Roman"/>
              </a:rPr>
              <a:t>Thus, if researchers want to perform a </a:t>
            </a:r>
            <a:r>
              <a:rPr b="0" i="0" lang="en-US" strike="noStrike">
                <a:latin typeface="Times New Roman"/>
                <a:ea typeface="Times New Roman"/>
                <a:cs typeface="Times New Roman"/>
                <a:sym typeface="Times New Roman"/>
              </a:rPr>
              <a:t>linear regression</a:t>
            </a:r>
            <a:r>
              <a:rPr b="0" i="0" lang="en-US">
                <a:latin typeface="Times New Roman"/>
                <a:ea typeface="Times New Roman"/>
                <a:cs typeface="Times New Roman"/>
                <a:sym typeface="Times New Roman"/>
              </a:rPr>
              <a:t> </a:t>
            </a:r>
            <a:r>
              <a:rPr b="0" i="0" lang="en-US">
                <a:solidFill>
                  <a:srgbClr val="000000"/>
                </a:solidFill>
                <a:latin typeface="Times New Roman"/>
                <a:ea typeface="Times New Roman"/>
                <a:cs typeface="Times New Roman"/>
                <a:sym typeface="Times New Roman"/>
              </a:rPr>
              <a:t>to quantify the relationship between population density and ice cream sales, they should also attempt to collect data about weather so that they can control for that variable in the regression and be able to obtain an accurate estimate of the effect that population density has on ice cream sales.</a:t>
            </a:r>
            <a:endParaRPr b="0" i="0">
              <a:solidFill>
                <a:srgbClr val="3D3D3D"/>
              </a:solidFill>
              <a:latin typeface="Times New Roman"/>
              <a:ea typeface="Times New Roman"/>
              <a:cs typeface="Times New Roman"/>
              <a:sym typeface="Times New Roman"/>
            </a:endParaRPr>
          </a:p>
          <a:p>
            <a:pPr indent="-154940" lvl="0" marL="342900" rtl="0" algn="just">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txBox="1"/>
          <p:nvPr>
            <p:ph type="title"/>
          </p:nvPr>
        </p:nvSpPr>
        <p:spPr>
          <a:xfrm>
            <a:off x="457200" y="274638"/>
            <a:ext cx="8229600" cy="4571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Times New Roman"/>
              <a:buNone/>
            </a:pPr>
            <a:r>
              <a:rPr b="1" lang="en-US" sz="3200">
                <a:latin typeface="Times New Roman"/>
                <a:ea typeface="Times New Roman"/>
                <a:cs typeface="Times New Roman"/>
                <a:sym typeface="Times New Roman"/>
              </a:rPr>
              <a:t>Example 2</a:t>
            </a:r>
            <a:endParaRPr/>
          </a:p>
        </p:txBody>
      </p:sp>
      <p:sp>
        <p:nvSpPr>
          <p:cNvPr id="260" name="Google Shape;260;p43"/>
          <p:cNvSpPr txBox="1"/>
          <p:nvPr>
            <p:ph idx="1" type="body"/>
          </p:nvPr>
        </p:nvSpPr>
        <p:spPr>
          <a:xfrm>
            <a:off x="304800" y="914400"/>
            <a:ext cx="8610600" cy="5668962"/>
          </a:xfrm>
          <a:prstGeom prst="rect">
            <a:avLst/>
          </a:prstGeom>
          <a:noFill/>
          <a:ln>
            <a:noFill/>
          </a:ln>
        </p:spPr>
        <p:txBody>
          <a:bodyPr anchorCtr="0" anchor="t" bIns="45700" lIns="91425" spcFirstLastPara="1" rIns="91425" wrap="square" tIns="45700">
            <a:normAutofit fontScale="92500"/>
          </a:bodyPr>
          <a:lstStyle/>
          <a:p>
            <a:pPr indent="-342900" lvl="0" marL="342900" rtl="0" algn="just">
              <a:spcBef>
                <a:spcPts val="0"/>
              </a:spcBef>
              <a:spcAft>
                <a:spcPts val="0"/>
              </a:spcAft>
              <a:buClr>
                <a:srgbClr val="000000"/>
              </a:buClr>
              <a:buSzPct val="100000"/>
              <a:buChar char="•"/>
            </a:pPr>
            <a:r>
              <a:rPr b="0" i="0" lang="en-US">
                <a:solidFill>
                  <a:srgbClr val="000000"/>
                </a:solidFill>
                <a:latin typeface="Times New Roman"/>
                <a:ea typeface="Times New Roman"/>
                <a:cs typeface="Times New Roman"/>
                <a:sym typeface="Times New Roman"/>
              </a:rPr>
              <a:t>Researchers want to know whether or not a certain fertilizer leads to increased plant growth. However, sunlight exposure and watering frequency are both potential concomitant variables that likely affect plant growth.</a:t>
            </a:r>
            <a:endParaRPr b="0" i="0">
              <a:solidFill>
                <a:srgbClr val="3D3D3D"/>
              </a:solidFill>
              <a:latin typeface="Times New Roman"/>
              <a:ea typeface="Times New Roman"/>
              <a:cs typeface="Times New Roman"/>
              <a:sym typeface="Times New Roman"/>
            </a:endParaRPr>
          </a:p>
          <a:p>
            <a:pPr indent="-342900" lvl="0" marL="342900" rtl="0" algn="just">
              <a:spcBef>
                <a:spcPts val="592"/>
              </a:spcBef>
              <a:spcAft>
                <a:spcPts val="0"/>
              </a:spcAft>
              <a:buClr>
                <a:srgbClr val="000000"/>
              </a:buClr>
              <a:buSzPct val="100000"/>
              <a:buChar char="•"/>
            </a:pPr>
            <a:r>
              <a:rPr b="0" i="0" lang="en-US">
                <a:solidFill>
                  <a:srgbClr val="000000"/>
                </a:solidFill>
                <a:latin typeface="Times New Roman"/>
                <a:ea typeface="Times New Roman"/>
                <a:cs typeface="Times New Roman"/>
                <a:sym typeface="Times New Roman"/>
              </a:rPr>
              <a:t>Thus, researchers should also collect data on sunlight exposure and watering frequency so that they can include them as variables in regression analysis and be able to understand the effect that the fertilizer has on plant growth, </a:t>
            </a:r>
            <a:r>
              <a:rPr b="0" i="1" lang="en-US">
                <a:solidFill>
                  <a:srgbClr val="000000"/>
                </a:solidFill>
                <a:latin typeface="Times New Roman"/>
                <a:ea typeface="Times New Roman"/>
                <a:cs typeface="Times New Roman"/>
                <a:sym typeface="Times New Roman"/>
              </a:rPr>
              <a:t>after accounting for sunlight exposure and watering frequency.</a:t>
            </a:r>
            <a:endParaRPr b="0" i="0">
              <a:solidFill>
                <a:srgbClr val="3D3D3D"/>
              </a:solidFill>
              <a:latin typeface="Times New Roman"/>
              <a:ea typeface="Times New Roman"/>
              <a:cs typeface="Times New Roman"/>
              <a:sym typeface="Times New Roman"/>
            </a:endParaRPr>
          </a:p>
          <a:p>
            <a:pPr indent="-154940" lvl="0" marL="342900" rtl="0" algn="just">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4"/>
          <p:cNvSpPr txBox="1"/>
          <p:nvPr>
            <p:ph idx="1" type="body"/>
          </p:nvPr>
        </p:nvSpPr>
        <p:spPr>
          <a:xfrm>
            <a:off x="228600" y="304800"/>
            <a:ext cx="8686800" cy="6278562"/>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rgbClr val="000000"/>
              </a:buClr>
              <a:buSzPct val="100000"/>
              <a:buChar char="•"/>
            </a:pPr>
            <a:r>
              <a:rPr b="0" i="0" lang="en-US">
                <a:solidFill>
                  <a:srgbClr val="000000"/>
                </a:solidFill>
                <a:latin typeface="Times New Roman"/>
                <a:ea typeface="Times New Roman"/>
                <a:cs typeface="Times New Roman"/>
                <a:sym typeface="Times New Roman"/>
              </a:rPr>
              <a:t>In experimental studies, however, the impact of concomitant variables can mostly be eliminated with good experimental design.</a:t>
            </a:r>
            <a:endParaRPr b="0" i="0">
              <a:solidFill>
                <a:srgbClr val="3D3D3D"/>
              </a:solidFill>
              <a:latin typeface="Times New Roman"/>
              <a:ea typeface="Times New Roman"/>
              <a:cs typeface="Times New Roman"/>
              <a:sym typeface="Times New Roman"/>
            </a:endParaRPr>
          </a:p>
          <a:p>
            <a:pPr indent="-342900" lvl="0" marL="342900" rtl="0" algn="just">
              <a:spcBef>
                <a:spcPts val="592"/>
              </a:spcBef>
              <a:spcAft>
                <a:spcPts val="0"/>
              </a:spcAft>
              <a:buClr>
                <a:srgbClr val="000000"/>
              </a:buClr>
              <a:buSzPct val="100000"/>
              <a:buChar char="•"/>
            </a:pPr>
            <a:r>
              <a:rPr b="0" i="0" lang="en-US">
                <a:solidFill>
                  <a:srgbClr val="000000"/>
                </a:solidFill>
                <a:latin typeface="Times New Roman"/>
                <a:ea typeface="Times New Roman"/>
                <a:cs typeface="Times New Roman"/>
                <a:sym typeface="Times New Roman"/>
              </a:rPr>
              <a:t>For example, suppose we want to know whether two pills have a different impact on blood pressure. We know that concomitant variables such as </a:t>
            </a:r>
            <a:r>
              <a:rPr b="0" i="1" lang="en-US">
                <a:solidFill>
                  <a:srgbClr val="000000"/>
                </a:solidFill>
                <a:latin typeface="Times New Roman"/>
                <a:ea typeface="Times New Roman"/>
                <a:cs typeface="Times New Roman"/>
                <a:sym typeface="Times New Roman"/>
              </a:rPr>
              <a:t>diet</a:t>
            </a:r>
            <a:r>
              <a:rPr b="0" i="0" lang="en-US">
                <a:solidFill>
                  <a:srgbClr val="000000"/>
                </a:solidFill>
                <a:latin typeface="Times New Roman"/>
                <a:ea typeface="Times New Roman"/>
                <a:cs typeface="Times New Roman"/>
                <a:sym typeface="Times New Roman"/>
              </a:rPr>
              <a:t> and </a:t>
            </a:r>
            <a:r>
              <a:rPr b="0" i="1" lang="en-US">
                <a:solidFill>
                  <a:srgbClr val="000000"/>
                </a:solidFill>
                <a:latin typeface="Times New Roman"/>
                <a:ea typeface="Times New Roman"/>
                <a:cs typeface="Times New Roman"/>
                <a:sym typeface="Times New Roman"/>
              </a:rPr>
              <a:t>smoking habits </a:t>
            </a:r>
            <a:r>
              <a:rPr b="0" i="0" lang="en-US">
                <a:solidFill>
                  <a:srgbClr val="000000"/>
                </a:solidFill>
                <a:latin typeface="Times New Roman"/>
                <a:ea typeface="Times New Roman"/>
                <a:cs typeface="Times New Roman"/>
                <a:sym typeface="Times New Roman"/>
              </a:rPr>
              <a:t>also impact blood pressure, so we can attempt to control for these concomitant variables by using a randomized design. This means we randomly assign patients to take either the first or second pill.</a:t>
            </a:r>
            <a:endParaRPr b="0" i="0">
              <a:solidFill>
                <a:srgbClr val="3D3D3D"/>
              </a:solidFill>
              <a:latin typeface="Times New Roman"/>
              <a:ea typeface="Times New Roman"/>
              <a:cs typeface="Times New Roman"/>
              <a:sym typeface="Times New Roman"/>
            </a:endParaRPr>
          </a:p>
          <a:p>
            <a:pPr indent="-342900" lvl="0" marL="342900" rtl="0" algn="just">
              <a:spcBef>
                <a:spcPts val="592"/>
              </a:spcBef>
              <a:spcAft>
                <a:spcPts val="0"/>
              </a:spcAft>
              <a:buClr>
                <a:srgbClr val="000000"/>
              </a:buClr>
              <a:buSzPct val="100000"/>
              <a:buChar char="•"/>
            </a:pPr>
            <a:r>
              <a:rPr b="0" i="0" lang="en-US">
                <a:solidFill>
                  <a:srgbClr val="000000"/>
                </a:solidFill>
                <a:latin typeface="Times New Roman"/>
                <a:ea typeface="Times New Roman"/>
                <a:cs typeface="Times New Roman"/>
                <a:sym typeface="Times New Roman"/>
              </a:rPr>
              <a:t>Since we randomly assign patients to groups, we can assume that the concomitant variables will affect both groups roughly equally. This means any differences in blood pressure can be attributed to the pill, rather than the effect of a concomitant variable.</a:t>
            </a:r>
            <a:endParaRPr b="0" i="0">
              <a:solidFill>
                <a:srgbClr val="3D3D3D"/>
              </a:solidFill>
              <a:latin typeface="Times New Roman"/>
              <a:ea typeface="Times New Roman"/>
              <a:cs typeface="Times New Roman"/>
              <a:sym typeface="Times New Roman"/>
            </a:endParaRPr>
          </a:p>
          <a:p>
            <a:pPr indent="-154940" lvl="0" marL="342900" rtl="0" algn="just">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5"/>
          <p:cNvSpPr txBox="1"/>
          <p:nvPr>
            <p:ph type="title"/>
          </p:nvPr>
        </p:nvSpPr>
        <p:spPr>
          <a:xfrm>
            <a:off x="457200" y="274638"/>
            <a:ext cx="8229600" cy="5635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Extraneous variable</a:t>
            </a:r>
            <a:endParaRPr sz="3600"/>
          </a:p>
        </p:txBody>
      </p:sp>
      <p:sp>
        <p:nvSpPr>
          <p:cNvPr id="271" name="Google Shape;271;p45"/>
          <p:cNvSpPr txBox="1"/>
          <p:nvPr>
            <p:ph idx="1" type="body"/>
          </p:nvPr>
        </p:nvSpPr>
        <p:spPr>
          <a:xfrm>
            <a:off x="152400" y="990600"/>
            <a:ext cx="8839200" cy="5592762"/>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External factors like rainfall, govt. intervention, tax etc. affects the variable. Theses variables might or might not get affected on the outcome.</a:t>
            </a:r>
            <a:endParaRPr/>
          </a:p>
          <a:p>
            <a:pPr indent="-342900" lvl="0" marL="342900" rtl="0" algn="just">
              <a:spcBef>
                <a:spcPts val="544"/>
              </a:spcBef>
              <a:spcAft>
                <a:spcPts val="0"/>
              </a:spcAft>
              <a:buClr>
                <a:schemeClr val="dk1"/>
              </a:buClr>
              <a:buSzPct val="100000"/>
              <a:buChar char="•"/>
            </a:pPr>
            <a:r>
              <a:rPr b="0" i="0" lang="en-US">
                <a:latin typeface="Times New Roman"/>
                <a:ea typeface="Times New Roman"/>
                <a:cs typeface="Times New Roman"/>
                <a:sym typeface="Times New Roman"/>
              </a:rPr>
              <a:t>Extraneous variables are any </a:t>
            </a:r>
            <a:r>
              <a:rPr b="0" i="0" lang="en-US" strike="noStrike">
                <a:latin typeface="Times New Roman"/>
                <a:ea typeface="Times New Roman"/>
                <a:cs typeface="Times New Roman"/>
                <a:sym typeface="Times New Roman"/>
              </a:rPr>
              <a:t>variables </a:t>
            </a:r>
            <a:r>
              <a:rPr b="0" i="0" lang="en-US">
                <a:latin typeface="Times New Roman"/>
                <a:ea typeface="Times New Roman"/>
                <a:cs typeface="Times New Roman"/>
                <a:sym typeface="Times New Roman"/>
              </a:rPr>
              <a:t>that you are not intentionally studying in your experiment or test. When you run an experiment, you’re looking to see if one </a:t>
            </a:r>
            <a:r>
              <a:rPr b="0" i="0" lang="en-US" strike="noStrike">
                <a:latin typeface="Times New Roman"/>
                <a:ea typeface="Times New Roman"/>
                <a:cs typeface="Times New Roman"/>
                <a:sym typeface="Times New Roman"/>
              </a:rPr>
              <a:t>variable</a:t>
            </a:r>
            <a:r>
              <a:rPr b="0" i="0" lang="en-US">
                <a:latin typeface="Times New Roman"/>
                <a:ea typeface="Times New Roman"/>
                <a:cs typeface="Times New Roman"/>
                <a:sym typeface="Times New Roman"/>
              </a:rPr>
              <a:t> (the </a:t>
            </a:r>
            <a:r>
              <a:rPr b="0" i="0" lang="en-US" strike="noStrike">
                <a:latin typeface="Times New Roman"/>
                <a:ea typeface="Times New Roman"/>
                <a:cs typeface="Times New Roman"/>
                <a:sym typeface="Times New Roman"/>
              </a:rPr>
              <a:t>independent variable</a:t>
            </a:r>
            <a:r>
              <a:rPr b="0" i="0" lang="en-US">
                <a:latin typeface="Times New Roman"/>
                <a:ea typeface="Times New Roman"/>
                <a:cs typeface="Times New Roman"/>
                <a:sym typeface="Times New Roman"/>
              </a:rPr>
              <a:t>) has an effect on another </a:t>
            </a:r>
            <a:r>
              <a:rPr b="0" i="0" lang="en-US" strike="noStrike">
                <a:latin typeface="Times New Roman"/>
                <a:ea typeface="Times New Roman"/>
                <a:cs typeface="Times New Roman"/>
                <a:sym typeface="Times New Roman"/>
              </a:rPr>
              <a:t>variable </a:t>
            </a:r>
            <a:r>
              <a:rPr b="0" i="0" lang="en-US">
                <a:latin typeface="Times New Roman"/>
                <a:ea typeface="Times New Roman"/>
                <a:cs typeface="Times New Roman"/>
                <a:sym typeface="Times New Roman"/>
              </a:rPr>
              <a:t>(the </a:t>
            </a:r>
            <a:r>
              <a:rPr b="0" i="0" lang="en-US" strike="noStrike">
                <a:latin typeface="Times New Roman"/>
                <a:ea typeface="Times New Roman"/>
                <a:cs typeface="Times New Roman"/>
                <a:sym typeface="Times New Roman"/>
              </a:rPr>
              <a:t>dependent variable</a:t>
            </a:r>
            <a:r>
              <a:rPr b="0" i="0" lang="en-US">
                <a:latin typeface="Times New Roman"/>
                <a:ea typeface="Times New Roman"/>
                <a:cs typeface="Times New Roman"/>
                <a:sym typeface="Times New Roman"/>
              </a:rPr>
              <a:t>). In an ideal world you’d run the experiment, check the results, and voila! Unfortunately…like many things in life…it’s a little more complicated that than. Other </a:t>
            </a:r>
            <a:r>
              <a:rPr b="0" i="0" lang="en-US" strike="noStrike">
                <a:latin typeface="Times New Roman"/>
                <a:ea typeface="Times New Roman"/>
                <a:cs typeface="Times New Roman"/>
                <a:sym typeface="Times New Roman"/>
              </a:rPr>
              <a:t>variables</a:t>
            </a:r>
            <a:r>
              <a:rPr b="0" i="0" lang="en-US">
                <a:latin typeface="Times New Roman"/>
                <a:ea typeface="Times New Roman"/>
                <a:cs typeface="Times New Roman"/>
                <a:sym typeface="Times New Roman"/>
              </a:rPr>
              <a:t>, perhaps ones that never crossed your mind, might influence the outcome of an experiment. These undesirable </a:t>
            </a:r>
            <a:r>
              <a:rPr b="0" i="0" lang="en-US" strike="noStrike">
                <a:latin typeface="Times New Roman"/>
                <a:ea typeface="Times New Roman"/>
                <a:cs typeface="Times New Roman"/>
                <a:sym typeface="Times New Roman"/>
              </a:rPr>
              <a:t>variables </a:t>
            </a:r>
            <a:r>
              <a:rPr b="0" i="0" lang="en-US">
                <a:latin typeface="Times New Roman"/>
                <a:ea typeface="Times New Roman"/>
                <a:cs typeface="Times New Roman"/>
                <a:sym typeface="Times New Roman"/>
              </a:rPr>
              <a:t>are called extraneous variables.</a:t>
            </a:r>
            <a:endParaRPr>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6"/>
          <p:cNvSpPr txBox="1"/>
          <p:nvPr>
            <p:ph type="title"/>
          </p:nvPr>
        </p:nvSpPr>
        <p:spPr>
          <a:xfrm>
            <a:off x="457200" y="274638"/>
            <a:ext cx="8229600" cy="457199"/>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lang="en-US">
                <a:latin typeface="Times New Roman"/>
                <a:ea typeface="Times New Roman"/>
                <a:cs typeface="Times New Roman"/>
                <a:sym typeface="Times New Roman"/>
              </a:rPr>
              <a:t>E</a:t>
            </a:r>
            <a:r>
              <a:rPr i="0" lang="en-US">
                <a:latin typeface="Times New Roman"/>
                <a:ea typeface="Times New Roman"/>
                <a:cs typeface="Times New Roman"/>
                <a:sym typeface="Times New Roman"/>
              </a:rPr>
              <a:t>xample</a:t>
            </a:r>
            <a:endParaRPr/>
          </a:p>
        </p:txBody>
      </p:sp>
      <p:sp>
        <p:nvSpPr>
          <p:cNvPr id="277" name="Google Shape;277;p46"/>
          <p:cNvSpPr txBox="1"/>
          <p:nvPr>
            <p:ph idx="1" type="body"/>
          </p:nvPr>
        </p:nvSpPr>
        <p:spPr>
          <a:xfrm>
            <a:off x="152400" y="914400"/>
            <a:ext cx="8839200" cy="57912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3200"/>
              <a:buNone/>
            </a:pPr>
            <a:r>
              <a:rPr i="0" lang="en-US">
                <a:latin typeface="Times New Roman"/>
                <a:ea typeface="Times New Roman"/>
                <a:cs typeface="Times New Roman"/>
                <a:sym typeface="Times New Roman"/>
              </a:rPr>
              <a:t>You want to know if online learning increases student understanding of statistics. One group uses an </a:t>
            </a:r>
            <a:r>
              <a:rPr i="0" lang="en-US" u="none" strike="noStrike">
                <a:latin typeface="Times New Roman"/>
                <a:ea typeface="Times New Roman"/>
                <a:cs typeface="Times New Roman"/>
                <a:sym typeface="Times New Roman"/>
              </a:rPr>
              <a:t>online knowledge base </a:t>
            </a:r>
            <a:r>
              <a:rPr i="0" lang="en-US">
                <a:latin typeface="Times New Roman"/>
                <a:ea typeface="Times New Roman"/>
                <a:cs typeface="Times New Roman"/>
                <a:sym typeface="Times New Roman"/>
              </a:rPr>
              <a:t>to study, the other group uses a traditional text. Extraneous variables could include prior knowledge of statistics; you would have to make sure that group A roughly matched group B with prior knowledge before starting the study. Other extraneous variables could include amount of support in the home, socio-economic income, or temperature of the testing room.</a:t>
            </a:r>
            <a:endParaRPr>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3600">
                <a:latin typeface="Times New Roman"/>
                <a:ea typeface="Times New Roman"/>
                <a:cs typeface="Times New Roman"/>
                <a:sym typeface="Times New Roman"/>
              </a:rPr>
              <a:t>Types of experimental research design</a:t>
            </a:r>
            <a:endParaRPr/>
          </a:p>
        </p:txBody>
      </p:sp>
      <p:sp>
        <p:nvSpPr>
          <p:cNvPr id="283" name="Google Shape;283;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just">
              <a:spcBef>
                <a:spcPts val="0"/>
              </a:spcBef>
              <a:spcAft>
                <a:spcPts val="0"/>
              </a:spcAft>
              <a:buClr>
                <a:schemeClr val="dk1"/>
              </a:buClr>
              <a:buSzPct val="100000"/>
              <a:buNone/>
            </a:pPr>
            <a:r>
              <a:rPr lang="en-US" sz="2800">
                <a:latin typeface="Times New Roman"/>
                <a:ea typeface="Times New Roman"/>
                <a:cs typeface="Times New Roman"/>
                <a:sym typeface="Times New Roman"/>
              </a:rPr>
              <a:t>1.	</a:t>
            </a:r>
            <a:r>
              <a:rPr b="1" lang="en-US" sz="2800">
                <a:latin typeface="Times New Roman"/>
                <a:ea typeface="Times New Roman"/>
                <a:cs typeface="Times New Roman"/>
                <a:sym typeface="Times New Roman"/>
              </a:rPr>
              <a:t>True experimental </a:t>
            </a:r>
            <a:r>
              <a:rPr lang="en-US" sz="2800">
                <a:latin typeface="Times New Roman"/>
                <a:ea typeface="Times New Roman"/>
                <a:cs typeface="Times New Roman"/>
                <a:sym typeface="Times New Roman"/>
              </a:rPr>
              <a:t>(randomized trials):</a:t>
            </a:r>
            <a:endParaRPr/>
          </a:p>
          <a:p>
            <a:pPr indent="-342900" lvl="0" marL="342900" rtl="0" algn="just">
              <a:spcBef>
                <a:spcPts val="518"/>
              </a:spcBef>
              <a:spcAft>
                <a:spcPts val="0"/>
              </a:spcAft>
              <a:buClr>
                <a:schemeClr val="dk1"/>
              </a:buClr>
              <a:buSzPct val="100000"/>
              <a:buChar char="•"/>
            </a:pPr>
            <a:r>
              <a:rPr lang="en-US" sz="2800">
                <a:latin typeface="Times New Roman"/>
                <a:ea typeface="Times New Roman"/>
                <a:cs typeface="Times New Roman"/>
                <a:sym typeface="Times New Roman"/>
              </a:rPr>
              <a:t>Researcher manipulates or varies an independent variable and measures its effects on one or more dependent variable.</a:t>
            </a:r>
            <a:endParaRPr/>
          </a:p>
          <a:p>
            <a:pPr indent="-342900" lvl="0" marL="342900" rtl="0" algn="just">
              <a:spcBef>
                <a:spcPts val="518"/>
              </a:spcBef>
              <a:spcAft>
                <a:spcPts val="0"/>
              </a:spcAft>
              <a:buClr>
                <a:schemeClr val="dk1"/>
              </a:buClr>
              <a:buSzPct val="100000"/>
              <a:buChar char="•"/>
            </a:pPr>
            <a:r>
              <a:rPr lang="en-US" sz="2800">
                <a:latin typeface="Times New Roman"/>
                <a:ea typeface="Times New Roman"/>
                <a:cs typeface="Times New Roman"/>
                <a:sym typeface="Times New Roman"/>
              </a:rPr>
              <a:t>Participants divided into groups: treatment and control groups</a:t>
            </a:r>
            <a:endParaRPr/>
          </a:p>
          <a:p>
            <a:pPr indent="-342900" lvl="0" marL="342900" rtl="0" algn="just">
              <a:spcBef>
                <a:spcPts val="518"/>
              </a:spcBef>
              <a:spcAft>
                <a:spcPts val="0"/>
              </a:spcAft>
              <a:buClr>
                <a:schemeClr val="dk1"/>
              </a:buClr>
              <a:buSzPct val="100000"/>
              <a:buChar char="•"/>
            </a:pPr>
            <a:r>
              <a:rPr b="1" lang="en-US" sz="2800">
                <a:latin typeface="Times New Roman"/>
                <a:ea typeface="Times New Roman"/>
                <a:cs typeface="Times New Roman"/>
                <a:sym typeface="Times New Roman"/>
              </a:rPr>
              <a:t>Treatment group</a:t>
            </a:r>
            <a:r>
              <a:rPr lang="en-US" sz="2800">
                <a:latin typeface="Times New Roman"/>
                <a:ea typeface="Times New Roman"/>
                <a:cs typeface="Times New Roman"/>
                <a:sym typeface="Times New Roman"/>
              </a:rPr>
              <a:t>- Receives a special reading program.</a:t>
            </a:r>
            <a:endParaRPr/>
          </a:p>
          <a:p>
            <a:pPr indent="-342900" lvl="0" marL="342900" rtl="0" algn="just">
              <a:spcBef>
                <a:spcPts val="518"/>
              </a:spcBef>
              <a:spcAft>
                <a:spcPts val="0"/>
              </a:spcAft>
              <a:buClr>
                <a:schemeClr val="dk1"/>
              </a:buClr>
              <a:buSzPct val="100000"/>
              <a:buChar char="•"/>
            </a:pPr>
            <a:r>
              <a:rPr b="1" lang="en-US" sz="2800">
                <a:latin typeface="Times New Roman"/>
                <a:ea typeface="Times New Roman"/>
                <a:cs typeface="Times New Roman"/>
                <a:sym typeface="Times New Roman"/>
              </a:rPr>
              <a:t>Control group</a:t>
            </a:r>
            <a:r>
              <a:rPr lang="en-US" sz="2800">
                <a:latin typeface="Times New Roman"/>
                <a:ea typeface="Times New Roman"/>
                <a:cs typeface="Times New Roman"/>
                <a:sym typeface="Times New Roman"/>
              </a:rPr>
              <a:t>- participants in the control group do not receive the treatment/ reading program.</a:t>
            </a:r>
            <a:endParaRPr/>
          </a:p>
          <a:p>
            <a:pPr indent="-342900" lvl="0" marL="342900" rtl="0" algn="just">
              <a:spcBef>
                <a:spcPts val="518"/>
              </a:spcBef>
              <a:spcAft>
                <a:spcPts val="0"/>
              </a:spcAft>
              <a:buClr>
                <a:schemeClr val="dk1"/>
              </a:buClr>
              <a:buSzPct val="100000"/>
              <a:buChar char="•"/>
            </a:pPr>
            <a:r>
              <a:rPr lang="en-US" sz="2800">
                <a:latin typeface="Times New Roman"/>
                <a:ea typeface="Times New Roman"/>
                <a:cs typeface="Times New Roman"/>
                <a:sym typeface="Times New Roman"/>
              </a:rPr>
              <a:t>Reading ability is assessed.</a:t>
            </a:r>
            <a:endParaRPr/>
          </a:p>
          <a:p>
            <a:pPr indent="-342900" lvl="0" marL="342900" rtl="0" algn="just">
              <a:spcBef>
                <a:spcPts val="518"/>
              </a:spcBef>
              <a:spcAft>
                <a:spcPts val="0"/>
              </a:spcAft>
              <a:buClr>
                <a:schemeClr val="dk1"/>
              </a:buClr>
              <a:buSzPct val="100000"/>
              <a:buNone/>
            </a:pPr>
            <a:r>
              <a:t/>
            </a:r>
            <a:endParaRPr sz="280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8"/>
          <p:cNvSpPr txBox="1"/>
          <p:nvPr>
            <p:ph idx="1" type="body"/>
          </p:nvPr>
        </p:nvSpPr>
        <p:spPr>
          <a:xfrm>
            <a:off x="457200" y="304800"/>
            <a:ext cx="8229600" cy="62484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None/>
            </a:pPr>
            <a:r>
              <a:rPr lang="en-US" sz="2800">
                <a:latin typeface="Times New Roman"/>
                <a:ea typeface="Times New Roman"/>
                <a:cs typeface="Times New Roman"/>
                <a:sym typeface="Times New Roman"/>
              </a:rPr>
              <a:t>2.	</a:t>
            </a:r>
            <a:r>
              <a:rPr b="1" lang="en-US" sz="2800">
                <a:latin typeface="Times New Roman"/>
                <a:ea typeface="Times New Roman"/>
                <a:cs typeface="Times New Roman"/>
                <a:sym typeface="Times New Roman"/>
              </a:rPr>
              <a:t>Quasi-experimental</a:t>
            </a:r>
            <a:r>
              <a:rPr lang="en-US" sz="2800">
                <a:latin typeface="Times New Roman"/>
                <a:ea typeface="Times New Roman"/>
                <a:cs typeface="Times New Roman"/>
                <a:sym typeface="Times New Roman"/>
              </a:rPr>
              <a:t>: random assignment not possible.</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Examining the academic achievement of two groups, one that goes to tutoring and one that doesn’t. here groups already existed, either attended tutoring or not and were placed in groups based on this pre-existing condition.</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The effects of academic counseling on the academic achievement of children from divorced vs non-divorced families. Here, an independent variable that cannot be randomly assigned (family status=divorced or not)is added.</a:t>
            </a:r>
            <a:endParaRPr/>
          </a:p>
          <a:p>
            <a:pPr indent="-342900" lvl="0" marL="342900" rtl="0" algn="just">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9"/>
          <p:cNvSpPr txBox="1"/>
          <p:nvPr>
            <p:ph idx="1" type="body"/>
          </p:nvPr>
        </p:nvSpPr>
        <p:spPr>
          <a:xfrm>
            <a:off x="228600" y="304800"/>
            <a:ext cx="8763000" cy="627856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Clr>
                <a:srgbClr val="000000"/>
              </a:buClr>
              <a:buSzPct val="100000"/>
              <a:buNone/>
            </a:pPr>
            <a:r>
              <a:rPr b="0" i="0" lang="en-US">
                <a:solidFill>
                  <a:srgbClr val="000000"/>
                </a:solidFill>
                <a:latin typeface="Times New Roman"/>
                <a:ea typeface="Times New Roman"/>
                <a:cs typeface="Times New Roman"/>
                <a:sym typeface="Times New Roman"/>
              </a:rPr>
              <a:t>The prefix </a:t>
            </a:r>
            <a:r>
              <a:rPr b="0" i="1" lang="en-US">
                <a:solidFill>
                  <a:srgbClr val="000000"/>
                </a:solidFill>
                <a:latin typeface="Times New Roman"/>
                <a:ea typeface="Times New Roman"/>
                <a:cs typeface="Times New Roman"/>
                <a:sym typeface="Times New Roman"/>
              </a:rPr>
              <a:t>quasi</a:t>
            </a:r>
            <a:r>
              <a:rPr b="0" i="0" lang="en-US">
                <a:solidFill>
                  <a:srgbClr val="000000"/>
                </a:solidFill>
                <a:latin typeface="Times New Roman"/>
                <a:ea typeface="Times New Roman"/>
                <a:cs typeface="Times New Roman"/>
                <a:sym typeface="Times New Roman"/>
              </a:rPr>
              <a:t> means “resembling.” Thus, quasi-experimental research is research that resembles experimental research but is not true experimental research. Although the independent variable is manipulated, participants are not randomly assigned to conditions or orders of conditions. Because the independent variable is manipulated before the dependent variable is measured, quasi-experimental research eliminates the directionality problem. But because participants are not randomly assigned—making it likely that there are other differences between conditions—quasi-experimental research does not eliminate the problem of confounding variables. In terms of internal validity, therefore, quasi-experiments are generally somewhere between correlational studies and true experiments.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0"/>
          <p:cNvSpPr txBox="1"/>
          <p:nvPr>
            <p:ph idx="1" type="body"/>
          </p:nvPr>
        </p:nvSpPr>
        <p:spPr>
          <a:xfrm>
            <a:off x="457200" y="1066800"/>
            <a:ext cx="8229600" cy="50593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3200"/>
              <a:buNone/>
            </a:pPr>
            <a:r>
              <a:rPr lang="en-US">
                <a:latin typeface="Times New Roman"/>
                <a:ea typeface="Times New Roman"/>
                <a:cs typeface="Times New Roman"/>
                <a:sym typeface="Times New Roman"/>
              </a:rPr>
              <a:t>A </a:t>
            </a:r>
            <a:r>
              <a:rPr b="1" lang="en-US">
                <a:latin typeface="Times New Roman"/>
                <a:ea typeface="Times New Roman"/>
                <a:cs typeface="Times New Roman"/>
                <a:sym typeface="Times New Roman"/>
              </a:rPr>
              <a:t>confounding variable</a:t>
            </a:r>
            <a:r>
              <a:rPr lang="en-US">
                <a:latin typeface="Times New Roman"/>
                <a:ea typeface="Times New Roman"/>
                <a:cs typeface="Times New Roman"/>
                <a:sym typeface="Times New Roman"/>
              </a:rPr>
              <a:t> is a third </a:t>
            </a:r>
            <a:r>
              <a:rPr b="1" lang="en-US">
                <a:latin typeface="Times New Roman"/>
                <a:ea typeface="Times New Roman"/>
                <a:cs typeface="Times New Roman"/>
                <a:sym typeface="Times New Roman"/>
              </a:rPr>
              <a:t>variable</a:t>
            </a:r>
            <a:r>
              <a:rPr lang="en-US">
                <a:latin typeface="Times New Roman"/>
                <a:ea typeface="Times New Roman"/>
                <a:cs typeface="Times New Roman"/>
                <a:sym typeface="Times New Roman"/>
              </a:rPr>
              <a:t> that influences both the independent and dependent </a:t>
            </a:r>
            <a:r>
              <a:rPr b="1" lang="en-US">
                <a:latin typeface="Times New Roman"/>
                <a:ea typeface="Times New Roman"/>
                <a:cs typeface="Times New Roman"/>
                <a:sym typeface="Times New Roman"/>
              </a:rPr>
              <a:t>variables</a:t>
            </a:r>
            <a:r>
              <a:rPr lang="en-US">
                <a:latin typeface="Times New Roman"/>
                <a:ea typeface="Times New Roman"/>
                <a:cs typeface="Times New Roman"/>
                <a:sym typeface="Times New Roman"/>
              </a:rPr>
              <a:t>. Failing to account for </a:t>
            </a:r>
            <a:r>
              <a:rPr b="1" lang="en-US">
                <a:latin typeface="Times New Roman"/>
                <a:ea typeface="Times New Roman"/>
                <a:cs typeface="Times New Roman"/>
                <a:sym typeface="Times New Roman"/>
              </a:rPr>
              <a:t>confounding variables</a:t>
            </a:r>
            <a:r>
              <a:rPr lang="en-US">
                <a:latin typeface="Times New Roman"/>
                <a:ea typeface="Times New Roman"/>
                <a:cs typeface="Times New Roman"/>
                <a:sym typeface="Times New Roman"/>
              </a:rPr>
              <a:t> can cause you to wrongly estimate the relationship between your independent and dependent </a:t>
            </a:r>
            <a:r>
              <a:rPr b="1" lang="en-US">
                <a:latin typeface="Times New Roman"/>
                <a:ea typeface="Times New Roman"/>
                <a:cs typeface="Times New Roman"/>
                <a:sym typeface="Times New Roman"/>
              </a:rPr>
              <a:t>variables</a:t>
            </a:r>
            <a:r>
              <a:rPr lang="en-US">
                <a:latin typeface="Times New Roman"/>
                <a:ea typeface="Times New Roman"/>
                <a:cs typeface="Times New Roman"/>
                <a:sym typeface="Times New Roman"/>
              </a:rPr>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1"/>
          <p:cNvSpPr txBox="1"/>
          <p:nvPr>
            <p:ph idx="1" type="body"/>
          </p:nvPr>
        </p:nvSpPr>
        <p:spPr>
          <a:xfrm>
            <a:off x="152400" y="533400"/>
            <a:ext cx="8839200" cy="579120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3200"/>
              <a:buNone/>
            </a:pPr>
            <a:r>
              <a:rPr b="1" lang="en-US">
                <a:latin typeface="Times New Roman"/>
                <a:ea typeface="Times New Roman"/>
                <a:cs typeface="Times New Roman"/>
                <a:sym typeface="Times New Roman"/>
              </a:rPr>
              <a:t>confounding variable</a:t>
            </a:r>
            <a:r>
              <a:rPr lang="en-US">
                <a:latin typeface="Times New Roman"/>
                <a:ea typeface="Times New Roman"/>
                <a:cs typeface="Times New Roman"/>
                <a:sym typeface="Times New Roman"/>
              </a:rPr>
              <a:t> is an “extra” variable that you didn’t account for. They can ruin an experiment and give you useless results. They can suggest there is correlation when in fact there isn’t. They can even introduce bias. That’s why it’s important to know what one is, and how to avoid getting them into your experiment in the first place.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2"/>
          <p:cNvSpPr txBox="1"/>
          <p:nvPr>
            <p:ph idx="1" type="body"/>
          </p:nvPr>
        </p:nvSpPr>
        <p:spPr>
          <a:xfrm>
            <a:off x="457200" y="533400"/>
            <a:ext cx="8229600" cy="57150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3200"/>
              <a:buNone/>
            </a:pPr>
            <a:r>
              <a:rPr lang="en-US">
                <a:latin typeface="Times New Roman"/>
                <a:ea typeface="Times New Roman"/>
                <a:cs typeface="Times New Roman"/>
                <a:sym typeface="Times New Roman"/>
              </a:rPr>
              <a:t>In an experiment, the independent variable typically has an effect on your dependent variable. For example, if you are researching whether lack of exercise leads to weight gain, then lack of exercise is your independent variable and weight gain is your dependent variable. Confounding variables are any other variable that also has an effect on your dependent variable. They are like extra independent variables that are having a hidden effect on your dependent variables.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8000"/>
              <a:buNone/>
            </a:pPr>
            <a:r>
              <a:t/>
            </a:r>
            <a:endParaRPr sz="8000">
              <a:latin typeface="Quintessential"/>
              <a:ea typeface="Quintessential"/>
              <a:cs typeface="Quintessential"/>
              <a:sym typeface="Quintessential"/>
            </a:endParaRPr>
          </a:p>
          <a:p>
            <a:pPr indent="-342900" lvl="0" marL="342900" rtl="0" algn="ctr">
              <a:spcBef>
                <a:spcPts val="960"/>
              </a:spcBef>
              <a:spcAft>
                <a:spcPts val="0"/>
              </a:spcAft>
              <a:buClr>
                <a:srgbClr val="C00000"/>
              </a:buClr>
              <a:buSzPts val="4800"/>
              <a:buNone/>
            </a:pPr>
            <a:r>
              <a:rPr lang="en-US" sz="4800">
                <a:solidFill>
                  <a:srgbClr val="C00000"/>
                </a:solidFill>
                <a:latin typeface="Quintessential"/>
                <a:ea typeface="Quintessential"/>
                <a:cs typeface="Quintessential"/>
                <a:sym typeface="Quintessent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