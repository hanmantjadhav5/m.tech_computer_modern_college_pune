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631165-B9DA-4790-9F95-20D87538478B}">
  <a:tblStyle styleId="{07631165-B9DA-4790-9F95-20D87538478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3" Type="http://schemas.openxmlformats.org/officeDocument/2006/relationships/slide" Target="slides/slide57.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a:p>
        </p:txBody>
      </p:sp>
      <p:sp>
        <p:nvSpPr>
          <p:cNvPr id="99" name="Google Shape;9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0" name="Google Shape;10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a:p>
        </p:txBody>
      </p:sp>
      <p:sp>
        <p:nvSpPr>
          <p:cNvPr id="107" name="Google Shape;10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8" name="Google Shape;10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a:p>
        </p:txBody>
      </p:sp>
      <p:sp>
        <p:nvSpPr>
          <p:cNvPr id="115" name="Google Shape;11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6" name="Google Shape;116;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a:p>
        </p:txBody>
      </p:sp>
      <p:sp>
        <p:nvSpPr>
          <p:cNvPr id="123" name="Google Shape;12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4" name="Google Shape;12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30" name="Google Shape;130;p7:notes"/>
          <p:cNvSpPr/>
          <p:nvPr>
            <p:ph idx="2" type="sldImg"/>
          </p:nvPr>
        </p:nvSpPr>
        <p:spPr>
          <a:xfrm>
            <a:off x="1152525" y="682625"/>
            <a:ext cx="4554537" cy="3416300"/>
          </a:xfrm>
          <a:custGeom>
            <a:rect b="b" l="l" r="r" t="t"/>
            <a:pathLst>
              <a:path extrusionOk="0" h="120000" w="120000">
                <a:moveTo>
                  <a:pt x="0" y="0"/>
                </a:moveTo>
                <a:lnTo>
                  <a:pt x="120000" y="0"/>
                </a:lnTo>
                <a:lnTo>
                  <a:pt x="120000" y="120000"/>
                </a:lnTo>
                <a:lnTo>
                  <a:pt x="0" y="120000"/>
                </a:lnTo>
                <a:close/>
              </a:path>
            </a:pathLst>
          </a:custGeom>
          <a:noFill/>
          <a:ln cap="flat" cmpd="sng" w="12675">
            <a:solidFill>
              <a:srgbClr val="000000"/>
            </a:solidFill>
            <a:prstDash val="solid"/>
            <a:miter lim="524288"/>
            <a:headEnd len="sm" w="sm" type="none"/>
            <a:tailEnd len="sm" w="sm" type="none"/>
          </a:ln>
        </p:spPr>
      </p:sp>
      <p:sp>
        <p:nvSpPr>
          <p:cNvPr id="131" name="Google Shape;131;p7:notes"/>
          <p:cNvSpPr txBox="1"/>
          <p:nvPr>
            <p:ph idx="1" type="body"/>
          </p:nvPr>
        </p:nvSpPr>
        <p:spPr>
          <a:xfrm>
            <a:off x="914400" y="4343400"/>
            <a:ext cx="5029200" cy="4098925"/>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40" name="Google Shape;140;p8:notes"/>
          <p:cNvSpPr/>
          <p:nvPr>
            <p:ph idx="2" type="sldImg"/>
          </p:nvPr>
        </p:nvSpPr>
        <p:spPr>
          <a:xfrm>
            <a:off x="1152525" y="682625"/>
            <a:ext cx="4554537" cy="3416300"/>
          </a:xfrm>
          <a:custGeom>
            <a:rect b="b" l="l" r="r" t="t"/>
            <a:pathLst>
              <a:path extrusionOk="0" h="120000" w="120000">
                <a:moveTo>
                  <a:pt x="0" y="0"/>
                </a:moveTo>
                <a:lnTo>
                  <a:pt x="120000" y="0"/>
                </a:lnTo>
                <a:lnTo>
                  <a:pt x="120000" y="120000"/>
                </a:lnTo>
                <a:lnTo>
                  <a:pt x="0" y="120000"/>
                </a:lnTo>
                <a:close/>
              </a:path>
            </a:pathLst>
          </a:custGeom>
          <a:noFill/>
          <a:ln cap="flat" cmpd="sng" w="12675">
            <a:solidFill>
              <a:srgbClr val="000000"/>
            </a:solidFill>
            <a:prstDash val="solid"/>
            <a:miter lim="524288"/>
            <a:headEnd len="sm" w="sm" type="none"/>
            <a:tailEnd len="sm" w="sm" type="none"/>
          </a:ln>
        </p:spPr>
      </p:sp>
      <p:sp>
        <p:nvSpPr>
          <p:cNvPr id="141" name="Google Shape;141;p8:notes"/>
          <p:cNvSpPr txBox="1"/>
          <p:nvPr>
            <p:ph idx="1" type="body"/>
          </p:nvPr>
        </p:nvSpPr>
        <p:spPr>
          <a:xfrm>
            <a:off x="914400" y="4343400"/>
            <a:ext cx="5029200" cy="4098925"/>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47" name="Google Shape;14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8" name="Google Shape;14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54" name="Google Shape;154;p10:notes"/>
          <p:cNvSpPr/>
          <p:nvPr>
            <p:ph idx="2" type="sldImg"/>
          </p:nvPr>
        </p:nvSpPr>
        <p:spPr>
          <a:xfrm>
            <a:off x="1152525" y="682625"/>
            <a:ext cx="4554537" cy="3416300"/>
          </a:xfrm>
          <a:custGeom>
            <a:rect b="b" l="l" r="r" t="t"/>
            <a:pathLst>
              <a:path extrusionOk="0" h="120000" w="120000">
                <a:moveTo>
                  <a:pt x="0" y="0"/>
                </a:moveTo>
                <a:lnTo>
                  <a:pt x="120000" y="0"/>
                </a:lnTo>
                <a:lnTo>
                  <a:pt x="120000" y="120000"/>
                </a:lnTo>
                <a:lnTo>
                  <a:pt x="0" y="120000"/>
                </a:lnTo>
                <a:close/>
              </a:path>
            </a:pathLst>
          </a:custGeom>
          <a:noFill/>
          <a:ln cap="flat" cmpd="sng" w="12675">
            <a:solidFill>
              <a:srgbClr val="000000"/>
            </a:solidFill>
            <a:prstDash val="solid"/>
            <a:miter lim="524288"/>
            <a:headEnd len="sm" w="sm" type="none"/>
            <a:tailEnd len="sm" w="sm" type="none"/>
          </a:ln>
        </p:spPr>
      </p:sp>
      <p:sp>
        <p:nvSpPr>
          <p:cNvPr id="155" name="Google Shape;155;p10:notes"/>
          <p:cNvSpPr txBox="1"/>
          <p:nvPr>
            <p:ph idx="1" type="body"/>
          </p:nvPr>
        </p:nvSpPr>
        <p:spPr>
          <a:xfrm>
            <a:off x="914400" y="4343400"/>
            <a:ext cx="5029200" cy="4098925"/>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61" name="Google Shape;161;p11:notes"/>
          <p:cNvSpPr/>
          <p:nvPr>
            <p:ph idx="2" type="sldImg"/>
          </p:nvPr>
        </p:nvSpPr>
        <p:spPr>
          <a:xfrm>
            <a:off x="1152525" y="682625"/>
            <a:ext cx="4554537" cy="341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2" name="Google Shape;162;p11:notes"/>
          <p:cNvSpPr txBox="1"/>
          <p:nvPr>
            <p:ph idx="1" type="body"/>
          </p:nvPr>
        </p:nvSpPr>
        <p:spPr>
          <a:xfrm>
            <a:off x="914400" y="4343400"/>
            <a:ext cx="5029200" cy="4098925"/>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68" name="Google Shape;168;p12:notes"/>
          <p:cNvSpPr/>
          <p:nvPr>
            <p:ph idx="2" type="sldImg"/>
          </p:nvPr>
        </p:nvSpPr>
        <p:spPr>
          <a:xfrm>
            <a:off x="1152525" y="682625"/>
            <a:ext cx="4554537" cy="341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9" name="Google Shape;169;p12:notes"/>
          <p:cNvSpPr txBox="1"/>
          <p:nvPr>
            <p:ph idx="1" type="body"/>
          </p:nvPr>
        </p:nvSpPr>
        <p:spPr>
          <a:xfrm>
            <a:off x="914400" y="4343400"/>
            <a:ext cx="5029200" cy="4098925"/>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75" name="Google Shape;175;p13:notes"/>
          <p:cNvSpPr/>
          <p:nvPr>
            <p:ph idx="2" type="sldImg"/>
          </p:nvPr>
        </p:nvSpPr>
        <p:spPr>
          <a:xfrm>
            <a:off x="1152525" y="682625"/>
            <a:ext cx="4554537" cy="3416300"/>
          </a:xfrm>
          <a:custGeom>
            <a:rect b="b" l="l" r="r" t="t"/>
            <a:pathLst>
              <a:path extrusionOk="0" h="120000" w="120000">
                <a:moveTo>
                  <a:pt x="0" y="0"/>
                </a:moveTo>
                <a:lnTo>
                  <a:pt x="120000" y="0"/>
                </a:lnTo>
                <a:lnTo>
                  <a:pt x="120000" y="120000"/>
                </a:lnTo>
                <a:lnTo>
                  <a:pt x="0" y="120000"/>
                </a:lnTo>
                <a:close/>
              </a:path>
            </a:pathLst>
          </a:custGeom>
          <a:noFill/>
          <a:ln cap="flat" cmpd="sng" w="12675">
            <a:solidFill>
              <a:srgbClr val="000000"/>
            </a:solidFill>
            <a:prstDash val="solid"/>
            <a:miter lim="524288"/>
            <a:headEnd len="sm" w="sm" type="none"/>
            <a:tailEnd len="sm" w="sm" type="none"/>
          </a:ln>
        </p:spPr>
      </p:sp>
      <p:sp>
        <p:nvSpPr>
          <p:cNvPr id="176" name="Google Shape;176;p13:notes"/>
          <p:cNvSpPr txBox="1"/>
          <p:nvPr>
            <p:ph idx="1" type="body"/>
          </p:nvPr>
        </p:nvSpPr>
        <p:spPr>
          <a:xfrm>
            <a:off x="914400" y="4343400"/>
            <a:ext cx="5029200" cy="4098925"/>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5" name="Google Shape;20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6" name="Shape 36"/>
        <p:cNvGrpSpPr/>
        <p:nvPr/>
      </p:nvGrpSpPr>
      <p:grpSpPr>
        <a:xfrm>
          <a:off x="0" y="0"/>
          <a:ext cx="0" cy="0"/>
          <a:chOff x="0" y="0"/>
          <a:chExt cx="0" cy="0"/>
        </a:xfrm>
      </p:grpSpPr>
      <p:sp>
        <p:nvSpPr>
          <p:cNvPr id="37" name="Google Shape;37;p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 name="Shape 42"/>
        <p:cNvGrpSpPr/>
        <p:nvPr/>
      </p:nvGrpSpPr>
      <p:grpSpPr>
        <a:xfrm>
          <a:off x="0" y="0"/>
          <a:ext cx="0" cy="0"/>
          <a:chOff x="0" y="0"/>
          <a:chExt cx="0" cy="0"/>
        </a:xfrm>
      </p:grpSpPr>
      <p:sp>
        <p:nvSpPr>
          <p:cNvPr id="43" name="Google Shape;43;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7"/>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8"/>
          <p:cNvSpPr/>
          <p:nvPr>
            <p:ph idx="2" type="pic"/>
          </p:nvPr>
        </p:nvSpPr>
        <p:spPr>
          <a:xfrm>
            <a:off x="1792288" y="612775"/>
            <a:ext cx="5486400" cy="4114800"/>
          </a:xfrm>
          <a:prstGeom prst="rect">
            <a:avLst/>
          </a:prstGeom>
          <a:noFill/>
          <a:ln>
            <a:noFill/>
          </a:ln>
        </p:spPr>
      </p:sp>
      <p:sp>
        <p:nvSpPr>
          <p:cNvPr id="51" name="Google Shape;51;p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2" name="Google Shape;5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8" name="Google Shape;58;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9" name="Google Shape;59;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7" name="Google Shape;67;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8" name="Google Shape;6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1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4" name="Google Shape;74;p1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shutterstock_154457633-850x476.jpg" id="89" name="Google Shape;89;p13"/>
          <p:cNvPicPr preferRelativeResize="0"/>
          <p:nvPr/>
        </p:nvPicPr>
        <p:blipFill rotWithShape="1">
          <a:blip r:embed="rId3">
            <a:alphaModFix/>
          </a:blip>
          <a:srcRect b="0" l="0" r="0" t="0"/>
          <a:stretch/>
        </p:blipFill>
        <p:spPr>
          <a:xfrm>
            <a:off x="228600" y="0"/>
            <a:ext cx="9144000" cy="6858000"/>
          </a:xfrm>
          <a:prstGeom prst="rect">
            <a:avLst/>
          </a:prstGeom>
          <a:noFill/>
          <a:ln>
            <a:noFill/>
          </a:ln>
        </p:spPr>
      </p:pic>
      <p:sp>
        <p:nvSpPr>
          <p:cNvPr id="90" name="Google Shape;90;p13"/>
          <p:cNvSpPr txBox="1"/>
          <p:nvPr>
            <p:ph idx="1" type="body"/>
          </p:nvPr>
        </p:nvSpPr>
        <p:spPr>
          <a:xfrm>
            <a:off x="228600" y="533400"/>
            <a:ext cx="9067800" cy="6172200"/>
          </a:xfrm>
          <a:prstGeom prst="rect">
            <a:avLst/>
          </a:prstGeom>
          <a:noFill/>
          <a:ln>
            <a:noFill/>
          </a:ln>
        </p:spPr>
        <p:txBody>
          <a:bodyPr anchorCtr="0" anchor="t" bIns="45700" lIns="91425" spcFirstLastPara="1" rIns="91425" wrap="square" tIns="45700">
            <a:normAutofit/>
          </a:bodyPr>
          <a:lstStyle/>
          <a:p>
            <a:pPr indent="-342900" lvl="0" marL="342900" marR="0" rtl="0" algn="ctr">
              <a:lnSpc>
                <a:spcPct val="80000"/>
              </a:lnSpc>
              <a:spcBef>
                <a:spcPts val="0"/>
              </a:spcBef>
              <a:spcAft>
                <a:spcPts val="0"/>
              </a:spcAft>
              <a:buClr>
                <a:srgbClr val="C00000"/>
              </a:buClr>
              <a:buSzPts val="4100"/>
              <a:buFont typeface="Arial"/>
              <a:buNone/>
            </a:pPr>
            <a:r>
              <a:rPr b="1" i="0" lang="en-US" sz="4100" u="none" cap="none" strike="noStrike">
                <a:solidFill>
                  <a:srgbClr val="C00000"/>
                </a:solidFill>
                <a:latin typeface="Algerian"/>
                <a:ea typeface="Algerian"/>
                <a:cs typeface="Algerian"/>
                <a:sym typeface="Algerian"/>
              </a:rPr>
              <a:t>RESEARCH METHODology</a:t>
            </a:r>
            <a:endParaRPr/>
          </a:p>
          <a:p>
            <a:pPr indent="-342900" lvl="0" marL="342900" marR="0" rtl="0" algn="ctr">
              <a:lnSpc>
                <a:spcPct val="80000"/>
              </a:lnSpc>
              <a:spcBef>
                <a:spcPts val="480"/>
              </a:spcBef>
              <a:spcAft>
                <a:spcPts val="0"/>
              </a:spcAft>
              <a:buClr>
                <a:schemeClr val="dk1"/>
              </a:buClr>
              <a:buSzPts val="2400"/>
              <a:buFont typeface="Arial"/>
              <a:buNone/>
            </a:pPr>
            <a:r>
              <a:t/>
            </a:r>
            <a:endParaRPr b="0" i="0" sz="2400" u="none" cap="none" strike="noStrike">
              <a:solidFill>
                <a:srgbClr val="F5770F"/>
              </a:solidFill>
              <a:latin typeface="Calibri"/>
              <a:ea typeface="Calibri"/>
              <a:cs typeface="Calibri"/>
              <a:sym typeface="Calibri"/>
            </a:endParaRPr>
          </a:p>
          <a:p>
            <a:pPr indent="-342900" lvl="0" marL="342900" marR="0" rtl="0" algn="ctr">
              <a:lnSpc>
                <a:spcPct val="140000"/>
              </a:lnSpc>
              <a:spcBef>
                <a:spcPts val="540"/>
              </a:spcBef>
              <a:spcAft>
                <a:spcPts val="0"/>
              </a:spcAft>
              <a:buClr>
                <a:srgbClr val="FF0000"/>
              </a:buClr>
              <a:buSzPts val="2700"/>
              <a:buFont typeface="Arial"/>
              <a:buNone/>
            </a:pPr>
            <a:r>
              <a:rPr b="1" i="0" lang="en-US" sz="2700" u="none" cap="none" strike="noStrike">
                <a:solidFill>
                  <a:srgbClr val="FF0000"/>
                </a:solidFill>
                <a:latin typeface="Times New Roman"/>
                <a:ea typeface="Times New Roman"/>
                <a:cs typeface="Times New Roman"/>
                <a:sym typeface="Times New Roman"/>
              </a:rPr>
              <a:t>                     </a:t>
            </a:r>
            <a:r>
              <a:rPr b="1" i="0" lang="en-US" sz="2700" u="none" cap="none" strike="noStrike">
                <a:solidFill>
                  <a:srgbClr val="FF0000"/>
                </a:solidFill>
                <a:latin typeface="Algerian"/>
                <a:ea typeface="Algerian"/>
                <a:cs typeface="Algerian"/>
                <a:sym typeface="Algerian"/>
              </a:rPr>
              <a:t>Course Code RMT06504 	</a:t>
            </a:r>
            <a:endParaRPr b="1" i="0" sz="2700" u="none" cap="none" strike="noStrike">
              <a:solidFill>
                <a:srgbClr val="F5770F"/>
              </a:solidFill>
              <a:latin typeface="Algerian"/>
              <a:ea typeface="Algerian"/>
              <a:cs typeface="Algerian"/>
              <a:sym typeface="Algerian"/>
            </a:endParaRPr>
          </a:p>
          <a:p>
            <a:pPr indent="-342900" lvl="0" marL="342900" marR="0" rtl="0" algn="ctr">
              <a:lnSpc>
                <a:spcPct val="140000"/>
              </a:lnSpc>
              <a:spcBef>
                <a:spcPts val="540"/>
              </a:spcBef>
              <a:spcAft>
                <a:spcPts val="0"/>
              </a:spcAft>
              <a:buClr>
                <a:srgbClr val="FF0000"/>
              </a:buClr>
              <a:buSzPts val="2700"/>
              <a:buFont typeface="Arial"/>
              <a:buNone/>
            </a:pPr>
            <a:r>
              <a:rPr b="1" i="0" lang="en-US" sz="2700" u="none" cap="none" strike="noStrike">
                <a:solidFill>
                  <a:srgbClr val="FF0000"/>
                </a:solidFill>
                <a:latin typeface="Algerian"/>
                <a:ea typeface="Algerian"/>
                <a:cs typeface="Algerian"/>
                <a:sym typeface="Algerian"/>
              </a:rPr>
              <a:t>Compulsory Generic Core Course</a:t>
            </a:r>
            <a:endParaRPr/>
          </a:p>
          <a:p>
            <a:pPr indent="-342900" lvl="0" marL="342900" marR="0" rtl="0" algn="ctr">
              <a:lnSpc>
                <a:spcPct val="140000"/>
              </a:lnSpc>
              <a:spcBef>
                <a:spcPts val="540"/>
              </a:spcBef>
              <a:spcAft>
                <a:spcPts val="0"/>
              </a:spcAft>
              <a:buClr>
                <a:srgbClr val="FF0000"/>
              </a:buClr>
              <a:buSzPts val="2700"/>
              <a:buFont typeface="Arial"/>
              <a:buNone/>
            </a:pPr>
            <a:r>
              <a:rPr b="1" i="0" lang="en-US" sz="2700" u="none" cap="none" strike="noStrike">
                <a:solidFill>
                  <a:srgbClr val="FF0000"/>
                </a:solidFill>
                <a:latin typeface="Algerian"/>
                <a:ea typeface="Algerian"/>
                <a:cs typeface="Algerian"/>
                <a:sym typeface="Algerian"/>
              </a:rPr>
              <a:t>4 Credit</a:t>
            </a:r>
            <a:endParaRPr/>
          </a:p>
          <a:p>
            <a:pPr indent="-342900" lvl="0" marL="342900" marR="0" rtl="0" algn="ctr">
              <a:lnSpc>
                <a:spcPct val="140000"/>
              </a:lnSpc>
              <a:spcBef>
                <a:spcPts val="540"/>
              </a:spcBef>
              <a:spcAft>
                <a:spcPts val="0"/>
              </a:spcAft>
              <a:buClr>
                <a:srgbClr val="FF0000"/>
              </a:buClr>
              <a:buSzPts val="2700"/>
              <a:buFont typeface="Arial"/>
              <a:buNone/>
            </a:pPr>
            <a:r>
              <a:rPr b="1" i="0" lang="en-US" sz="2700" u="none" cap="none" strike="noStrike">
                <a:solidFill>
                  <a:srgbClr val="FF0000"/>
                </a:solidFill>
                <a:latin typeface="Algerian"/>
                <a:ea typeface="Algerian"/>
                <a:cs typeface="Algerian"/>
                <a:sym typeface="Algerian"/>
              </a:rPr>
              <a:t>Learning Hours- 4 hours per week</a:t>
            </a:r>
            <a:endParaRPr/>
          </a:p>
          <a:p>
            <a:pPr indent="-342900" lvl="0" marL="342900" marR="0" rtl="0" algn="ctr">
              <a:lnSpc>
                <a:spcPct val="140000"/>
              </a:lnSpc>
              <a:spcBef>
                <a:spcPts val="440"/>
              </a:spcBef>
              <a:spcAft>
                <a:spcPts val="0"/>
              </a:spcAft>
              <a:buClr>
                <a:srgbClr val="FF0000"/>
              </a:buClr>
              <a:buSzPts val="2200"/>
              <a:buFont typeface="Arial"/>
              <a:buNone/>
            </a:pPr>
            <a:r>
              <a:rPr b="1" i="0" lang="en-US" sz="2200" u="none" cap="none" strike="noStrike">
                <a:solidFill>
                  <a:srgbClr val="FF0000"/>
                </a:solidFill>
                <a:latin typeface="Algerian"/>
                <a:ea typeface="Algerian"/>
                <a:cs typeface="Algerian"/>
                <a:sym typeface="Algerian"/>
              </a:rPr>
              <a:t>Cumulative Internal Examinations (CIE)- 40 Marks</a:t>
            </a:r>
            <a:endParaRPr/>
          </a:p>
          <a:p>
            <a:pPr indent="-342900" lvl="0" marL="342900" marR="0" rtl="0" algn="ctr">
              <a:lnSpc>
                <a:spcPct val="140000"/>
              </a:lnSpc>
              <a:spcBef>
                <a:spcPts val="540"/>
              </a:spcBef>
              <a:spcAft>
                <a:spcPts val="0"/>
              </a:spcAft>
              <a:buClr>
                <a:srgbClr val="FF0000"/>
              </a:buClr>
              <a:buSzPts val="2700"/>
              <a:buFont typeface="Arial"/>
              <a:buNone/>
            </a:pPr>
            <a:r>
              <a:rPr b="1" i="0" lang="en-US" sz="2700" u="none" cap="none" strike="noStrike">
                <a:solidFill>
                  <a:srgbClr val="FF0000"/>
                </a:solidFill>
                <a:latin typeface="Algerian"/>
                <a:ea typeface="Algerian"/>
                <a:cs typeface="Algerian"/>
                <a:sym typeface="Algerian"/>
              </a:rPr>
              <a:t>Semester End Examination (SEE) – 60 marks	</a:t>
            </a:r>
            <a:endParaRPr/>
          </a:p>
          <a:p>
            <a:pPr indent="-342900" lvl="0" marL="342900" marR="0" rtl="0" algn="ctr">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Algerian"/>
              <a:ea typeface="Algerian"/>
              <a:cs typeface="Algerian"/>
              <a:sym typeface="Algerian"/>
            </a:endParaRPr>
          </a:p>
          <a:p>
            <a:pPr indent="-342900" lvl="0" marL="342900" marR="0" rtl="0" algn="ctr">
              <a:lnSpc>
                <a:spcPct val="80000"/>
              </a:lnSpc>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a:t>
            </a:r>
            <a:endParaRPr/>
          </a:p>
          <a:p>
            <a:pPr indent="-342900" lvl="0" marL="342900" marR="0" rtl="0" algn="ctr">
              <a:lnSpc>
                <a:spcPct val="80000"/>
              </a:lnSpc>
              <a:spcBef>
                <a:spcPts val="480"/>
              </a:spcBef>
              <a:spcAft>
                <a:spcPts val="0"/>
              </a:spcAft>
              <a:buClr>
                <a:srgbClr val="FF0000"/>
              </a:buClr>
              <a:buSzPts val="2400"/>
              <a:buFont typeface="Arial"/>
              <a:buNone/>
            </a:pPr>
            <a:r>
              <a:rPr b="1" i="0" lang="en-US" sz="2400" u="none" cap="none" strike="noStrike">
                <a:solidFill>
                  <a:srgbClr val="FF0000"/>
                </a:solidFill>
                <a:latin typeface="Times New Roman"/>
                <a:ea typeface="Times New Roman"/>
                <a:cs typeface="Times New Roman"/>
                <a:sym typeface="Times New Roman"/>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ctrTitle"/>
          </p:nvPr>
        </p:nvSpPr>
        <p:spPr>
          <a:xfrm>
            <a:off x="400050" y="2130425"/>
            <a:ext cx="8243887"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0" i="0" lang="en-US" sz="3600" u="none">
                <a:solidFill>
                  <a:schemeClr val="dk1"/>
                </a:solidFill>
                <a:latin typeface="Times New Roman"/>
                <a:ea typeface="Times New Roman"/>
                <a:cs typeface="Times New Roman"/>
                <a:sym typeface="Times New Roman"/>
              </a:rPr>
              <a:t>Introduction to Research Methodology and Design</a:t>
            </a:r>
            <a:endParaRPr/>
          </a:p>
        </p:txBody>
      </p:sp>
      <p:sp>
        <p:nvSpPr>
          <p:cNvPr id="96" name="Google Shape;96;p14"/>
          <p:cNvSpPr txBox="1"/>
          <p:nvPr>
            <p:ph idx="1" type="subTitle"/>
          </p:nvPr>
        </p:nvSpPr>
        <p:spPr>
          <a:xfrm>
            <a:off x="1168400" y="3886200"/>
            <a:ext cx="6789737"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None/>
            </a:pPr>
            <a:r>
              <a:rPr b="0" i="0" lang="en-US" sz="3200" u="none">
                <a:solidFill>
                  <a:schemeClr val="dk1"/>
                </a:solidFill>
                <a:latin typeface="Times New Roman"/>
                <a:ea typeface="Times New Roman"/>
                <a:cs typeface="Times New Roman"/>
                <a:sym typeface="Times New Roman"/>
              </a:rPr>
              <a:t>Chapter 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457200" y="500062"/>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990000"/>
              </a:buClr>
              <a:buSzPts val="3400"/>
              <a:buFont typeface="Times New Roman"/>
              <a:buNone/>
            </a:pPr>
            <a:br>
              <a:rPr b="1" i="0" lang="en-US" sz="3400" u="none">
                <a:solidFill>
                  <a:srgbClr val="990000"/>
                </a:solidFill>
                <a:latin typeface="Times New Roman"/>
                <a:ea typeface="Times New Roman"/>
                <a:cs typeface="Times New Roman"/>
                <a:sym typeface="Times New Roman"/>
              </a:rPr>
            </a:br>
            <a:endParaRPr/>
          </a:p>
        </p:txBody>
      </p:sp>
      <p:sp>
        <p:nvSpPr>
          <p:cNvPr id="103" name="Google Shape;103;p15"/>
          <p:cNvSpPr txBox="1"/>
          <p:nvPr>
            <p:ph idx="1" type="body"/>
          </p:nvPr>
        </p:nvSpPr>
        <p:spPr>
          <a:xfrm>
            <a:off x="457200" y="2071687"/>
            <a:ext cx="8229600" cy="40544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4000"/>
              <a:buFont typeface="Arial"/>
              <a:buNone/>
            </a:pPr>
            <a:r>
              <a:rPr b="0" i="0" lang="en-US" sz="4000" u="none" cap="none" strike="noStrike">
                <a:solidFill>
                  <a:schemeClr val="dk1"/>
                </a:solidFill>
                <a:latin typeface="Times New Roman"/>
                <a:ea typeface="Times New Roman"/>
                <a:cs typeface="Times New Roman"/>
                <a:sym typeface="Times New Roman"/>
              </a:rPr>
              <a:t>	</a:t>
            </a:r>
            <a:r>
              <a:rPr b="0" i="0" lang="en-US" sz="3600" u="none" cap="none" strike="noStrike">
                <a:solidFill>
                  <a:schemeClr val="dk1"/>
                </a:solidFill>
                <a:latin typeface="Times New Roman"/>
                <a:ea typeface="Times New Roman"/>
                <a:cs typeface="Times New Roman"/>
                <a:sym typeface="Times New Roman"/>
              </a:rPr>
              <a:t>Research is the process of finding solutions to a problem after a thorough study and analysis of the situational factors.</a:t>
            </a:r>
            <a:endParaRPr/>
          </a:p>
          <a:p>
            <a:pPr indent="-88900" lvl="0" marL="342900" marR="0" rtl="0" algn="l">
              <a:lnSpc>
                <a:spcPct val="80000"/>
              </a:lnSpc>
              <a:spcBef>
                <a:spcPts val="800"/>
              </a:spcBef>
              <a:spcAft>
                <a:spcPts val="0"/>
              </a:spcAft>
              <a:buClr>
                <a:schemeClr val="dk1"/>
              </a:buClr>
              <a:buSzPts val="4000"/>
              <a:buFont typeface="Arial"/>
              <a:buNone/>
            </a:pPr>
            <a:r>
              <a:t/>
            </a:r>
            <a:endParaRPr b="0" i="0" sz="4000" u="none" cap="none" strike="noStrike">
              <a:solidFill>
                <a:schemeClr val="dk1"/>
              </a:solidFill>
              <a:latin typeface="Times New Roman"/>
              <a:ea typeface="Times New Roman"/>
              <a:cs typeface="Times New Roman"/>
              <a:sym typeface="Times New Roman"/>
            </a:endParaRPr>
          </a:p>
          <a:p>
            <a:pPr indent="-241300" lvl="0" marL="342900" marR="0" rtl="0" algn="l">
              <a:lnSpc>
                <a:spcPct val="80000"/>
              </a:lnSpc>
              <a:spcBef>
                <a:spcPts val="320"/>
              </a:spcBef>
              <a:spcAft>
                <a:spcPts val="0"/>
              </a:spcAft>
              <a:buClr>
                <a:schemeClr val="dk1"/>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254000" lvl="0" marL="342900" marR="0" rtl="0" algn="l">
              <a:lnSpc>
                <a:spcPct val="80000"/>
              </a:lnSpc>
              <a:spcBef>
                <a:spcPts val="280"/>
              </a:spcBef>
              <a:spcAft>
                <a:spcPts val="0"/>
              </a:spcAft>
              <a:buClr>
                <a:schemeClr val="dk1"/>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254000" lvl="0" marL="342900" marR="0" rtl="0" algn="l">
              <a:spcBef>
                <a:spcPts val="280"/>
              </a:spcBef>
              <a:spcAft>
                <a:spcPts val="0"/>
              </a:spcAft>
              <a:buClr>
                <a:schemeClr val="dk1"/>
              </a:buClr>
              <a:buSzPts val="1400"/>
              <a:buFont typeface="Arial"/>
              <a:buNone/>
            </a:pPr>
            <a:r>
              <a:t/>
            </a:r>
            <a:endParaRPr b="0" i="0" sz="1400" u="none">
              <a:solidFill>
                <a:schemeClr val="dk1"/>
              </a:solidFill>
              <a:latin typeface="Times New Roman"/>
              <a:ea typeface="Times New Roman"/>
              <a:cs typeface="Times New Roman"/>
              <a:sym typeface="Times New Roman"/>
            </a:endParaRPr>
          </a:p>
        </p:txBody>
      </p:sp>
      <p:sp>
        <p:nvSpPr>
          <p:cNvPr id="104" name="Google Shape;104;p15"/>
          <p:cNvSpPr txBox="1"/>
          <p:nvPr/>
        </p:nvSpPr>
        <p:spPr>
          <a:xfrm>
            <a:off x="990600" y="657225"/>
            <a:ext cx="7439025"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INTRODUCTION TO RESEARCH</a:t>
            </a:r>
            <a:r>
              <a:rPr b="0" i="0" lang="en-US" sz="3600" u="none" cap="none" strike="noStrike">
                <a:solidFill>
                  <a:schemeClr val="dk1"/>
                </a:solidFill>
                <a:latin typeface="Times New Roman"/>
                <a:ea typeface="Times New Roman"/>
                <a:cs typeface="Times New Roman"/>
                <a:sym typeface="Times New Roman"/>
              </a:rPr>
              <a:t> </a:t>
            </a:r>
            <a:br>
              <a:rPr b="0" i="0" lang="en-US" sz="3600" u="none" cap="none" strike="noStrike">
                <a:solidFill>
                  <a:schemeClr val="dk1"/>
                </a:solidFill>
                <a:latin typeface="Times New Roman"/>
                <a:ea typeface="Times New Roman"/>
                <a:cs typeface="Times New Roman"/>
                <a:sym typeface="Times New Roman"/>
              </a:rPr>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457200" y="500062"/>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990000"/>
              </a:buClr>
              <a:buSzPts val="3400"/>
              <a:buFont typeface="Times New Roman"/>
              <a:buNone/>
            </a:pPr>
            <a:br>
              <a:rPr b="1" i="0" lang="en-US" sz="3400" u="none">
                <a:solidFill>
                  <a:srgbClr val="990000"/>
                </a:solidFill>
                <a:latin typeface="Times New Roman"/>
                <a:ea typeface="Times New Roman"/>
                <a:cs typeface="Times New Roman"/>
                <a:sym typeface="Times New Roman"/>
              </a:rPr>
            </a:br>
            <a:endParaRPr/>
          </a:p>
        </p:txBody>
      </p:sp>
      <p:sp>
        <p:nvSpPr>
          <p:cNvPr id="111" name="Google Shape;111;p16"/>
          <p:cNvSpPr txBox="1"/>
          <p:nvPr>
            <p:ph idx="1" type="body"/>
          </p:nvPr>
        </p:nvSpPr>
        <p:spPr>
          <a:xfrm>
            <a:off x="457200" y="1447800"/>
            <a:ext cx="8382000" cy="5181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To gain familiarity with a phenomenon or to achieve new insights into it. (exploratory or formulative research studies)</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To portray accurately the characteristics of a particular individual, situation or a group (descriptive research studies)</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To determine the frequency with which something occurs or with which it is associated with something else (diagnostic research studies)</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To test a hypothesis of a causal relationship between variables (hypothesis-testing research studies).</a:t>
            </a:r>
            <a:endParaRPr/>
          </a:p>
          <a:p>
            <a:pPr indent="-165100" lvl="0" marL="342900" marR="0" rtl="0" algn="just">
              <a:lnSpc>
                <a:spcPct val="80000"/>
              </a:lnSpc>
              <a:spcBef>
                <a:spcPts val="56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a:p>
            <a:pPr indent="-165100" lvl="0" marL="342900" marR="0" rtl="0" algn="just">
              <a:lnSpc>
                <a:spcPct val="80000"/>
              </a:lnSpc>
              <a:spcBef>
                <a:spcPts val="56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a:p>
            <a:pPr indent="-165100" lvl="0" marL="342900" marR="0" rtl="0" algn="just">
              <a:lnSpc>
                <a:spcPct val="80000"/>
              </a:lnSpc>
              <a:spcBef>
                <a:spcPts val="56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p:txBody>
      </p:sp>
      <p:sp>
        <p:nvSpPr>
          <p:cNvPr id="112" name="Google Shape;112;p16"/>
          <p:cNvSpPr txBox="1"/>
          <p:nvPr/>
        </p:nvSpPr>
        <p:spPr>
          <a:xfrm>
            <a:off x="990600" y="657225"/>
            <a:ext cx="6643687"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OBJECTIVES OF RESEARCH</a:t>
            </a:r>
            <a:r>
              <a:rPr b="0" i="0" lang="en-US" sz="3600" u="none" cap="none" strike="noStrike">
                <a:solidFill>
                  <a:schemeClr val="dk1"/>
                </a:solidFill>
                <a:latin typeface="Times New Roman"/>
                <a:ea typeface="Times New Roman"/>
                <a:cs typeface="Times New Roman"/>
                <a:sym typeface="Times New Roman"/>
              </a:rPr>
              <a:t> </a:t>
            </a:r>
            <a:br>
              <a:rPr b="0" i="0" lang="en-US" sz="3600" u="none" cap="none" strike="noStrike">
                <a:solidFill>
                  <a:schemeClr val="dk1"/>
                </a:solidFill>
                <a:latin typeface="Times New Roman"/>
                <a:ea typeface="Times New Roman"/>
                <a:cs typeface="Times New Roman"/>
                <a:sym typeface="Times New Roman"/>
              </a:rPr>
            </a:b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457200" y="500062"/>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990000"/>
              </a:buClr>
              <a:buSzPts val="3400"/>
              <a:buFont typeface="Times New Roman"/>
              <a:buNone/>
            </a:pPr>
            <a:br>
              <a:rPr b="1" i="0" lang="en-US" sz="3400" u="none">
                <a:solidFill>
                  <a:srgbClr val="990000"/>
                </a:solidFill>
                <a:latin typeface="Times New Roman"/>
                <a:ea typeface="Times New Roman"/>
                <a:cs typeface="Times New Roman"/>
                <a:sym typeface="Times New Roman"/>
              </a:rPr>
            </a:br>
            <a:endParaRPr/>
          </a:p>
        </p:txBody>
      </p:sp>
      <p:sp>
        <p:nvSpPr>
          <p:cNvPr id="119" name="Google Shape;119;p17"/>
          <p:cNvSpPr txBox="1"/>
          <p:nvPr>
            <p:ph idx="1" type="body"/>
          </p:nvPr>
        </p:nvSpPr>
        <p:spPr>
          <a:xfrm>
            <a:off x="457200" y="16002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Desire to get a research degree along with its consequential benefits;</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Desire to face the challenge in solving the unsolved problems, i.e., concern over practical problems initiates research;</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Desire to get intellectual joy of doing some creative work;</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Desire to be of service to society;</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Desire to get respectability.</a:t>
            </a:r>
            <a:endParaRPr/>
          </a:p>
          <a:p>
            <a:pPr indent="-165100" lvl="0" marL="342900" marR="0" rtl="0" algn="just">
              <a:lnSpc>
                <a:spcPct val="80000"/>
              </a:lnSpc>
              <a:spcBef>
                <a:spcPts val="56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a:p>
            <a:pPr indent="-165100" lvl="0" marL="342900" marR="0" rtl="0" algn="just">
              <a:lnSpc>
                <a:spcPct val="80000"/>
              </a:lnSpc>
              <a:spcBef>
                <a:spcPts val="56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a:p>
            <a:pPr indent="-165100" lvl="0" marL="342900" marR="0" rtl="0" algn="just">
              <a:lnSpc>
                <a:spcPct val="80000"/>
              </a:lnSpc>
              <a:spcBef>
                <a:spcPts val="56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p:txBody>
      </p:sp>
      <p:sp>
        <p:nvSpPr>
          <p:cNvPr id="120" name="Google Shape;120;p17"/>
          <p:cNvSpPr txBox="1"/>
          <p:nvPr/>
        </p:nvSpPr>
        <p:spPr>
          <a:xfrm>
            <a:off x="990600" y="657225"/>
            <a:ext cx="6643687"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MOTIVATION IN RESEARCH</a:t>
            </a:r>
            <a:r>
              <a:rPr b="0" i="0" lang="en-US" sz="3600" u="none" cap="none" strike="noStrike">
                <a:solidFill>
                  <a:schemeClr val="dk1"/>
                </a:solidFill>
                <a:latin typeface="Times New Roman"/>
                <a:ea typeface="Times New Roman"/>
                <a:cs typeface="Times New Roman"/>
                <a:sym typeface="Times New Roman"/>
              </a:rPr>
              <a:t> </a:t>
            </a:r>
            <a:br>
              <a:rPr b="0" i="0" lang="en-US" sz="3600" u="none" cap="none" strike="noStrike">
                <a:solidFill>
                  <a:schemeClr val="dk1"/>
                </a:solidFill>
                <a:latin typeface="Times New Roman"/>
                <a:ea typeface="Times New Roman"/>
                <a:cs typeface="Times New Roman"/>
                <a:sym typeface="Times New Roman"/>
              </a:rPr>
            </a:b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WHAT IS BUSINESS RESEARCH?</a:t>
            </a:r>
            <a:endParaRPr/>
          </a:p>
        </p:txBody>
      </p:sp>
      <p:sp>
        <p:nvSpPr>
          <p:cNvPr id="127" name="Google Shape;127;p1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Research provides the needed information that guides managers to make informed decisions to successfully deal with problems.</a:t>
            </a:r>
            <a:endParaRPr/>
          </a:p>
          <a:p>
            <a:pPr indent="-342900" lvl="0" marL="342900" marR="0" rtl="0" algn="just">
              <a:lnSpc>
                <a:spcPct val="100000"/>
              </a:lnSpc>
              <a:spcBef>
                <a:spcPts val="640"/>
              </a:spcBef>
              <a:spcAft>
                <a:spcPts val="0"/>
              </a:spcAft>
              <a:buClr>
                <a:schemeClr val="dk1"/>
              </a:buClr>
              <a:buSzPts val="3200"/>
              <a:buFont typeface="Arial"/>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The information provided could be the result of a careful analysis of data gathered firsthand or of data that are already available (in the company).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ctrTitle"/>
          </p:nvPr>
        </p:nvSpPr>
        <p:spPr>
          <a:xfrm>
            <a:off x="1371600" y="762000"/>
            <a:ext cx="3352800" cy="4419600"/>
          </a:xfrm>
          <a:prstGeom prst="rect">
            <a:avLst/>
          </a:prstGeom>
          <a:noFill/>
          <a:ln>
            <a:noFill/>
          </a:ln>
        </p:spPr>
        <p:txBody>
          <a:bodyPr anchorCtr="0" anchor="ctr" bIns="46025" lIns="92075" spcFirstLastPara="1" rIns="92075" wrap="square" tIns="46025">
            <a:noAutofit/>
          </a:bodyPr>
          <a:lstStyle/>
          <a:p>
            <a:pPr indent="0" lvl="0" marL="0" rtl="0" algn="l">
              <a:lnSpc>
                <a:spcPct val="2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Information</a:t>
            </a:r>
            <a:br>
              <a:rPr b="1" i="0" lang="en-US" sz="3600" u="none">
                <a:solidFill>
                  <a:schemeClr val="dk1"/>
                </a:solidFill>
                <a:latin typeface="Times New Roman"/>
                <a:ea typeface="Times New Roman"/>
                <a:cs typeface="Times New Roman"/>
                <a:sym typeface="Times New Roman"/>
              </a:rPr>
            </a:br>
            <a:r>
              <a:rPr b="1" i="0" lang="en-US" sz="3600" u="none">
                <a:solidFill>
                  <a:schemeClr val="dk1"/>
                </a:solidFill>
                <a:latin typeface="Times New Roman"/>
                <a:ea typeface="Times New Roman"/>
                <a:cs typeface="Times New Roman"/>
                <a:sym typeface="Times New Roman"/>
              </a:rPr>
              <a:t>Reduces</a:t>
            </a:r>
            <a:br>
              <a:rPr b="1" i="0" lang="en-US" sz="3600" u="none">
                <a:solidFill>
                  <a:schemeClr val="dk1"/>
                </a:solidFill>
                <a:latin typeface="Times New Roman"/>
                <a:ea typeface="Times New Roman"/>
                <a:cs typeface="Times New Roman"/>
                <a:sym typeface="Times New Roman"/>
              </a:rPr>
            </a:br>
            <a:r>
              <a:rPr b="1" i="0" lang="en-US" sz="3600" u="none">
                <a:solidFill>
                  <a:schemeClr val="dk1"/>
                </a:solidFill>
                <a:latin typeface="Times New Roman"/>
                <a:ea typeface="Times New Roman"/>
                <a:cs typeface="Times New Roman"/>
                <a:sym typeface="Times New Roman"/>
              </a:rPr>
              <a:t>Uncertainty</a:t>
            </a:r>
            <a:endParaRPr/>
          </a:p>
        </p:txBody>
      </p:sp>
      <p:pic>
        <p:nvPicPr>
          <p:cNvPr id="134" name="Google Shape;134;p19"/>
          <p:cNvPicPr preferRelativeResize="0"/>
          <p:nvPr/>
        </p:nvPicPr>
        <p:blipFill rotWithShape="1">
          <a:blip r:embed="rId3">
            <a:alphaModFix/>
          </a:blip>
          <a:srcRect b="0" l="0" r="0" t="0"/>
          <a:stretch/>
        </p:blipFill>
        <p:spPr>
          <a:xfrm>
            <a:off x="3733800" y="3200400"/>
            <a:ext cx="2765425" cy="3375025"/>
          </a:xfrm>
          <a:prstGeom prst="rect">
            <a:avLst/>
          </a:prstGeom>
          <a:noFill/>
          <a:ln>
            <a:noFill/>
          </a:ln>
        </p:spPr>
      </p:pic>
      <p:sp>
        <p:nvSpPr>
          <p:cNvPr id="135" name="Google Shape;135;p19"/>
          <p:cNvSpPr/>
          <p:nvPr/>
        </p:nvSpPr>
        <p:spPr>
          <a:xfrm>
            <a:off x="5867400" y="304800"/>
            <a:ext cx="3048000" cy="3584575"/>
          </a:xfrm>
          <a:custGeom>
            <a:rect b="b" l="l" r="r" t="t"/>
            <a:pathLst>
              <a:path extrusionOk="0" h="2258" w="1826">
                <a:moveTo>
                  <a:pt x="147" y="1650"/>
                </a:moveTo>
                <a:lnTo>
                  <a:pt x="101" y="1524"/>
                </a:lnTo>
                <a:lnTo>
                  <a:pt x="74" y="1395"/>
                </a:lnTo>
                <a:lnTo>
                  <a:pt x="55" y="1262"/>
                </a:lnTo>
                <a:lnTo>
                  <a:pt x="46" y="1129"/>
                </a:lnTo>
                <a:lnTo>
                  <a:pt x="55" y="1015"/>
                </a:lnTo>
                <a:lnTo>
                  <a:pt x="64" y="901"/>
                </a:lnTo>
                <a:lnTo>
                  <a:pt x="83" y="792"/>
                </a:lnTo>
                <a:lnTo>
                  <a:pt x="120" y="690"/>
                </a:lnTo>
                <a:lnTo>
                  <a:pt x="157" y="592"/>
                </a:lnTo>
                <a:lnTo>
                  <a:pt x="193" y="498"/>
                </a:lnTo>
                <a:lnTo>
                  <a:pt x="249" y="411"/>
                </a:lnTo>
                <a:lnTo>
                  <a:pt x="304" y="329"/>
                </a:lnTo>
                <a:lnTo>
                  <a:pt x="369" y="259"/>
                </a:lnTo>
                <a:lnTo>
                  <a:pt x="442" y="192"/>
                </a:lnTo>
                <a:lnTo>
                  <a:pt x="516" y="137"/>
                </a:lnTo>
                <a:lnTo>
                  <a:pt x="590" y="90"/>
                </a:lnTo>
                <a:lnTo>
                  <a:pt x="673" y="51"/>
                </a:lnTo>
                <a:lnTo>
                  <a:pt x="756" y="24"/>
                </a:lnTo>
                <a:lnTo>
                  <a:pt x="848" y="8"/>
                </a:lnTo>
                <a:lnTo>
                  <a:pt x="940" y="0"/>
                </a:lnTo>
                <a:lnTo>
                  <a:pt x="1032" y="8"/>
                </a:lnTo>
                <a:lnTo>
                  <a:pt x="1115" y="24"/>
                </a:lnTo>
                <a:lnTo>
                  <a:pt x="1207" y="51"/>
                </a:lnTo>
                <a:lnTo>
                  <a:pt x="1281" y="90"/>
                </a:lnTo>
                <a:lnTo>
                  <a:pt x="1364" y="137"/>
                </a:lnTo>
                <a:lnTo>
                  <a:pt x="1438" y="192"/>
                </a:lnTo>
                <a:lnTo>
                  <a:pt x="1502" y="259"/>
                </a:lnTo>
                <a:lnTo>
                  <a:pt x="1567" y="329"/>
                </a:lnTo>
                <a:lnTo>
                  <a:pt x="1622" y="411"/>
                </a:lnTo>
                <a:lnTo>
                  <a:pt x="1678" y="498"/>
                </a:lnTo>
                <a:lnTo>
                  <a:pt x="1714" y="592"/>
                </a:lnTo>
                <a:lnTo>
                  <a:pt x="1751" y="690"/>
                </a:lnTo>
                <a:lnTo>
                  <a:pt x="1788" y="792"/>
                </a:lnTo>
                <a:lnTo>
                  <a:pt x="1807" y="901"/>
                </a:lnTo>
                <a:lnTo>
                  <a:pt x="1825" y="1015"/>
                </a:lnTo>
                <a:lnTo>
                  <a:pt x="1825" y="1129"/>
                </a:lnTo>
                <a:lnTo>
                  <a:pt x="1825" y="1242"/>
                </a:lnTo>
                <a:lnTo>
                  <a:pt x="1807" y="1356"/>
                </a:lnTo>
                <a:lnTo>
                  <a:pt x="1788" y="1465"/>
                </a:lnTo>
                <a:lnTo>
                  <a:pt x="1751" y="1567"/>
                </a:lnTo>
                <a:lnTo>
                  <a:pt x="1714" y="1665"/>
                </a:lnTo>
                <a:lnTo>
                  <a:pt x="1678" y="1759"/>
                </a:lnTo>
                <a:lnTo>
                  <a:pt x="1622" y="1846"/>
                </a:lnTo>
                <a:lnTo>
                  <a:pt x="1567" y="1928"/>
                </a:lnTo>
                <a:lnTo>
                  <a:pt x="1502" y="1998"/>
                </a:lnTo>
                <a:lnTo>
                  <a:pt x="1438" y="2065"/>
                </a:lnTo>
                <a:lnTo>
                  <a:pt x="1364" y="2120"/>
                </a:lnTo>
                <a:lnTo>
                  <a:pt x="1281" y="2167"/>
                </a:lnTo>
                <a:lnTo>
                  <a:pt x="1207" y="2206"/>
                </a:lnTo>
                <a:lnTo>
                  <a:pt x="1115" y="2233"/>
                </a:lnTo>
                <a:lnTo>
                  <a:pt x="1032" y="2253"/>
                </a:lnTo>
                <a:lnTo>
                  <a:pt x="940" y="2257"/>
                </a:lnTo>
                <a:lnTo>
                  <a:pt x="857" y="2253"/>
                </a:lnTo>
                <a:lnTo>
                  <a:pt x="783" y="2237"/>
                </a:lnTo>
                <a:lnTo>
                  <a:pt x="700" y="2218"/>
                </a:lnTo>
                <a:lnTo>
                  <a:pt x="627" y="2186"/>
                </a:lnTo>
                <a:lnTo>
                  <a:pt x="553" y="2147"/>
                </a:lnTo>
                <a:lnTo>
                  <a:pt x="488" y="2100"/>
                </a:lnTo>
                <a:lnTo>
                  <a:pt x="424" y="2049"/>
                </a:lnTo>
                <a:lnTo>
                  <a:pt x="359" y="1987"/>
                </a:lnTo>
                <a:lnTo>
                  <a:pt x="0" y="2073"/>
                </a:lnTo>
                <a:lnTo>
                  <a:pt x="147" y="1650"/>
                </a:lnTo>
              </a:path>
            </a:pathLst>
          </a:custGeom>
          <a:solidFill>
            <a:schemeClr val="accent1"/>
          </a:solidFill>
          <a:ln cap="rnd" cmpd="sng" w="126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6" name="Google Shape;136;p19"/>
          <p:cNvSpPr txBox="1"/>
          <p:nvPr/>
        </p:nvSpPr>
        <p:spPr>
          <a:xfrm>
            <a:off x="6477000" y="866775"/>
            <a:ext cx="1854200" cy="245745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lt1"/>
              </a:buClr>
              <a:buSzPts val="3200"/>
              <a:buFont typeface="Arial"/>
              <a:buNone/>
            </a:pPr>
            <a:r>
              <a:rPr b="0" i="0" lang="en-US" sz="3200" u="none">
                <a:solidFill>
                  <a:schemeClr val="lt1"/>
                </a:solidFill>
                <a:latin typeface="Arial"/>
                <a:ea typeface="Arial"/>
                <a:cs typeface="Arial"/>
                <a:sym typeface="Arial"/>
              </a:rPr>
              <a:t>I don’t know</a:t>
            </a:r>
            <a:endParaRPr/>
          </a:p>
          <a:p>
            <a:pPr indent="0" lvl="0" marL="0" marR="0" rtl="0" algn="ctr">
              <a:lnSpc>
                <a:spcPct val="100000"/>
              </a:lnSpc>
              <a:spcBef>
                <a:spcPts val="0"/>
              </a:spcBef>
              <a:spcAft>
                <a:spcPts val="0"/>
              </a:spcAft>
              <a:buClr>
                <a:schemeClr val="lt1"/>
              </a:buClr>
              <a:buSzPts val="3200"/>
              <a:buFont typeface="Arial"/>
              <a:buNone/>
            </a:pPr>
            <a:r>
              <a:rPr b="0" i="0" lang="en-US" sz="3200" u="none">
                <a:solidFill>
                  <a:schemeClr val="lt1"/>
                </a:solidFill>
                <a:latin typeface="Arial"/>
                <a:ea typeface="Arial"/>
                <a:cs typeface="Arial"/>
                <a:sym typeface="Arial"/>
              </a:rPr>
              <a:t>if we</a:t>
            </a:r>
            <a:endParaRPr/>
          </a:p>
          <a:p>
            <a:pPr indent="0" lvl="0" marL="0" marR="0" rtl="0" algn="ctr">
              <a:lnSpc>
                <a:spcPct val="100000"/>
              </a:lnSpc>
              <a:spcBef>
                <a:spcPts val="0"/>
              </a:spcBef>
              <a:spcAft>
                <a:spcPts val="0"/>
              </a:spcAft>
              <a:buClr>
                <a:schemeClr val="lt1"/>
              </a:buClr>
              <a:buSzPts val="3200"/>
              <a:buFont typeface="Arial"/>
              <a:buNone/>
            </a:pPr>
            <a:r>
              <a:rPr b="0" i="0" lang="en-US" sz="3200" u="none">
                <a:solidFill>
                  <a:schemeClr val="lt1"/>
                </a:solidFill>
                <a:latin typeface="Arial"/>
                <a:ea typeface="Arial"/>
                <a:cs typeface="Arial"/>
                <a:sym typeface="Arial"/>
              </a:rPr>
              <a:t> </a:t>
            </a:r>
            <a:r>
              <a:rPr b="0" i="0" lang="en-US" sz="3200" u="none">
                <a:solidFill>
                  <a:schemeClr val="lt1"/>
                </a:solidFill>
                <a:latin typeface="Times New Roman"/>
                <a:ea typeface="Times New Roman"/>
                <a:cs typeface="Times New Roman"/>
                <a:sym typeface="Times New Roman"/>
              </a:rPr>
              <a:t>should</a:t>
            </a:r>
            <a:endParaRPr/>
          </a:p>
          <a:p>
            <a:pPr indent="0" lvl="0" marL="0" marR="0" rtl="0" algn="ctr">
              <a:lnSpc>
                <a:spcPct val="100000"/>
              </a:lnSpc>
              <a:spcBef>
                <a:spcPts val="0"/>
              </a:spcBef>
              <a:spcAft>
                <a:spcPts val="0"/>
              </a:spcAft>
              <a:buClr>
                <a:schemeClr val="lt1"/>
              </a:buClr>
              <a:buSzPts val="3200"/>
              <a:buFont typeface="Arial"/>
              <a:buNone/>
            </a:pPr>
            <a:r>
              <a:rPr b="0" i="0" lang="en-US" sz="3200" u="none">
                <a:solidFill>
                  <a:schemeClr val="lt1"/>
                </a:solidFill>
                <a:latin typeface="Arial"/>
                <a:ea typeface="Arial"/>
                <a:cs typeface="Arial"/>
                <a:sym typeface="Arial"/>
              </a:rPr>
              <a:t>offer on-site</a:t>
            </a:r>
            <a:endParaRPr/>
          </a:p>
          <a:p>
            <a:pPr indent="0" lvl="0" marL="0" marR="0" rtl="0" algn="ctr">
              <a:lnSpc>
                <a:spcPct val="100000"/>
              </a:lnSpc>
              <a:spcBef>
                <a:spcPts val="0"/>
              </a:spcBef>
              <a:spcAft>
                <a:spcPts val="0"/>
              </a:spcAft>
              <a:buClr>
                <a:schemeClr val="lt1"/>
              </a:buClr>
              <a:buSzPts val="3200"/>
              <a:buFont typeface="Arial"/>
              <a:buNone/>
            </a:pPr>
            <a:r>
              <a:rPr b="0" i="0" lang="en-US" sz="3200" u="none">
                <a:solidFill>
                  <a:schemeClr val="lt1"/>
                </a:solidFill>
                <a:latin typeface="Arial"/>
                <a:ea typeface="Arial"/>
                <a:cs typeface="Arial"/>
                <a:sym typeface="Arial"/>
              </a:rPr>
              <a:t>child care?</a:t>
            </a:r>
            <a:endParaRPr/>
          </a:p>
        </p:txBody>
      </p:sp>
      <p:sp>
        <p:nvSpPr>
          <p:cNvPr id="137" name="Google Shape;137;p19"/>
          <p:cNvSpPr txBox="1"/>
          <p:nvPr/>
        </p:nvSpPr>
        <p:spPr>
          <a:xfrm>
            <a:off x="6400800" y="6553200"/>
            <a:ext cx="274320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Effect filter="fade" transition="in">
                                      <p:cBhvr>
                                        <p:cTn dur="75"/>
                                        <p:tgtEl>
                                          <p:spTgt spid="13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nvSpPr>
        <p:spPr>
          <a:xfrm>
            <a:off x="304800" y="1676400"/>
            <a:ext cx="8610600" cy="3540125"/>
          </a:xfrm>
          <a:prstGeom prst="rect">
            <a:avLst/>
          </a:prstGeom>
          <a:noFill/>
          <a:ln>
            <a:noFill/>
          </a:ln>
        </p:spPr>
        <p:txBody>
          <a:bodyPr anchorCtr="0" anchor="t" bIns="46025" lIns="92075" spcFirstLastPara="1" rIns="92075" wrap="square" tIns="46025">
            <a:spAutoFit/>
          </a:bodyPr>
          <a:lstStyle/>
          <a:p>
            <a:pPr indent="0" lvl="0" marL="0" marR="0" rtl="0" algn="just">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According to C.R. Kothari, research is a systematic investigation that aims to discover and interpret facts to gain new insights and accurate descriptions of phenomena.</a:t>
            </a:r>
            <a:endParaRPr/>
          </a:p>
          <a:p>
            <a:pPr indent="0" lvl="0" marL="0" marR="0" rtl="0" algn="just">
              <a:lnSpc>
                <a:spcPct val="100000"/>
              </a:lnSpc>
              <a:spcBef>
                <a:spcPts val="0"/>
              </a:spcBef>
              <a:spcAft>
                <a:spcPts val="0"/>
              </a:spcAft>
              <a:buClr>
                <a:schemeClr val="dk1"/>
              </a:buClr>
              <a:buSzPts val="3200"/>
              <a:buFont typeface="Arial"/>
              <a:buNone/>
            </a:pPr>
            <a:r>
              <a:t/>
            </a:r>
            <a:endParaRPr b="0" i="0" sz="32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It can also be defined as an original contribution to existing knowledge that helps develop it.</a:t>
            </a:r>
            <a:endParaRPr/>
          </a:p>
        </p:txBody>
      </p:sp>
      <p:sp>
        <p:nvSpPr>
          <p:cNvPr id="144" name="Google Shape;144;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DEFINITION OF RESEARCH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 calcmode="lin" valueType="num">
                                      <p:cBhvr additive="base">
                                        <p:cTn dur="500"/>
                                        <p:tgtEl>
                                          <p:spTgt spid="14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anim calcmode="lin" valueType="num">
                                      <p:cBhvr additive="base">
                                        <p:cTn dur="500"/>
                                        <p:tgtEl>
                                          <p:spTgt spid="14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anim calcmode="lin" valueType="num">
                                      <p:cBhvr additive="base">
                                        <p:cTn dur="500"/>
                                        <p:tgtEl>
                                          <p:spTgt spid="14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539750" y="228600"/>
            <a:ext cx="8229600" cy="75723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br>
              <a:rPr b="1" i="0" lang="en-US" sz="3600" u="none">
                <a:solidFill>
                  <a:schemeClr val="dk1"/>
                </a:solidFill>
                <a:latin typeface="Times New Roman"/>
                <a:ea typeface="Times New Roman"/>
                <a:cs typeface="Times New Roman"/>
                <a:sym typeface="Times New Roman"/>
              </a:rPr>
            </a:br>
            <a:r>
              <a:rPr b="1" i="0" lang="en-US" sz="3600" u="none">
                <a:solidFill>
                  <a:schemeClr val="dk1"/>
                </a:solidFill>
                <a:latin typeface="Times New Roman"/>
                <a:ea typeface="Times New Roman"/>
                <a:cs typeface="Times New Roman"/>
                <a:sym typeface="Times New Roman"/>
              </a:rPr>
              <a:t>TYPES OF RESEARCH.</a:t>
            </a:r>
            <a:br>
              <a:rPr b="1" i="0" lang="en-US" sz="3600" u="none">
                <a:solidFill>
                  <a:schemeClr val="dk1"/>
                </a:solidFill>
                <a:latin typeface="Times New Roman"/>
                <a:ea typeface="Times New Roman"/>
                <a:cs typeface="Times New Roman"/>
                <a:sym typeface="Times New Roman"/>
              </a:rPr>
            </a:br>
            <a:endParaRPr/>
          </a:p>
        </p:txBody>
      </p:sp>
      <p:sp>
        <p:nvSpPr>
          <p:cNvPr id="151" name="Google Shape;151;p21"/>
          <p:cNvSpPr txBox="1"/>
          <p:nvPr>
            <p:ph idx="1" type="body"/>
          </p:nvPr>
        </p:nvSpPr>
        <p:spPr>
          <a:xfrm>
            <a:off x="539750" y="1214437"/>
            <a:ext cx="8229600" cy="564356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90000"/>
              </a:lnSpc>
              <a:spcBef>
                <a:spcPts val="0"/>
              </a:spcBef>
              <a:spcAft>
                <a:spcPts val="0"/>
              </a:spcAft>
              <a:buClr>
                <a:schemeClr val="dk1"/>
              </a:buClr>
              <a:buSzPts val="3200"/>
              <a:buFont typeface="Arial"/>
              <a:buNone/>
            </a:pPr>
            <a:r>
              <a:rPr b="0" i="0" lang="en-US" sz="3200" u="none">
                <a:solidFill>
                  <a:schemeClr val="dk1"/>
                </a:solidFill>
                <a:latin typeface="Times New Roman"/>
                <a:ea typeface="Times New Roman"/>
                <a:cs typeface="Times New Roman"/>
                <a:sym typeface="Times New Roman"/>
              </a:rPr>
              <a:t>1.Applied research</a:t>
            </a:r>
            <a:endParaRPr/>
          </a:p>
          <a:p>
            <a:pPr indent="-342900" lvl="0" marL="342900" marR="0" rtl="0" algn="just">
              <a:lnSpc>
                <a:spcPct val="90000"/>
              </a:lnSpc>
              <a:spcBef>
                <a:spcPts val="640"/>
              </a:spcBef>
              <a:spcAft>
                <a:spcPts val="0"/>
              </a:spcAft>
              <a:buClr>
                <a:schemeClr val="dk1"/>
              </a:buClr>
              <a:buSzPts val="3200"/>
              <a:buFont typeface="Arial"/>
              <a:buNone/>
            </a:pPr>
            <a:r>
              <a:rPr b="0" i="0" lang="en-US" sz="3200" u="none">
                <a:solidFill>
                  <a:schemeClr val="dk1"/>
                </a:solidFill>
                <a:latin typeface="Times New Roman"/>
                <a:ea typeface="Times New Roman"/>
                <a:cs typeface="Times New Roman"/>
                <a:sym typeface="Times New Roman"/>
              </a:rPr>
              <a:t>	Is to solve a current problem faced by the manager in the work setting, demanding a timely solution.</a:t>
            </a:r>
            <a:endParaRPr/>
          </a:p>
          <a:p>
            <a:pPr indent="-342900" lvl="0" marL="342900" marR="0" rtl="0" algn="just">
              <a:lnSpc>
                <a:spcPct val="90000"/>
              </a:lnSpc>
              <a:spcBef>
                <a:spcPts val="640"/>
              </a:spcBef>
              <a:spcAft>
                <a:spcPts val="0"/>
              </a:spcAft>
              <a:buClr>
                <a:schemeClr val="dk1"/>
              </a:buClr>
              <a:buSzPts val="3200"/>
              <a:buFont typeface="Arial"/>
              <a:buNone/>
            </a:pPr>
            <a:r>
              <a:rPr b="0" i="0" lang="en-US" sz="3200" u="none">
                <a:solidFill>
                  <a:schemeClr val="dk1"/>
                </a:solidFill>
                <a:latin typeface="Times New Roman"/>
                <a:ea typeface="Times New Roman"/>
                <a:cs typeface="Times New Roman"/>
                <a:sym typeface="Times New Roman"/>
              </a:rPr>
              <a:t>2.Basic research (fundamental, pure)</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9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Is to generate a body of knowledge by trying to comprehend how certain problems that occur in organizations can be solved.</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9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The findings of such research contribute to the building of knowledge in the various functional areas of business.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457200" y="274637"/>
            <a:ext cx="8229600" cy="16303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BASIC RESEARCH</a:t>
            </a:r>
            <a:endParaRPr/>
          </a:p>
        </p:txBody>
      </p:sp>
      <p:sp>
        <p:nvSpPr>
          <p:cNvPr id="158" name="Google Shape;158;p22"/>
          <p:cNvSpPr txBox="1"/>
          <p:nvPr>
            <p:ph idx="1" type="body"/>
          </p:nvPr>
        </p:nvSpPr>
        <p:spPr>
          <a:xfrm>
            <a:off x="457200" y="1752600"/>
            <a:ext cx="8229600" cy="3810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Attempts to expand the limits of knowledge.</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Not directly involved in the solution to a pragmatic problem.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 calcmode="lin" valueType="num">
                                      <p:cBhvr additive="base">
                                        <p:cTn dur="500"/>
                                        <p:tgtEl>
                                          <p:spTgt spid="15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 calcmode="lin" valueType="num">
                                      <p:cBhvr additive="base">
                                        <p:cTn dur="500"/>
                                        <p:tgtEl>
                                          <p:spTgt spid="15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BASIC RESEARCH EXAMPLE</a:t>
            </a:r>
            <a:endParaRPr/>
          </a:p>
        </p:txBody>
      </p:sp>
      <p:sp>
        <p:nvSpPr>
          <p:cNvPr id="165" name="Google Shape;165;p23"/>
          <p:cNvSpPr txBox="1"/>
          <p:nvPr>
            <p:ph idx="1" type="body"/>
          </p:nvPr>
        </p:nvSpPr>
        <p:spPr>
          <a:xfrm>
            <a:off x="457200" y="1524000"/>
            <a:ext cx="8229600" cy="4632325"/>
          </a:xfrm>
          <a:prstGeom prst="rect">
            <a:avLst/>
          </a:prstGeom>
          <a:noFill/>
          <a:ln>
            <a:noFill/>
          </a:ln>
        </p:spPr>
        <p:txBody>
          <a:bodyPr anchorCtr="0" anchor="t" bIns="46025" lIns="92075" spcFirstLastPara="1" rIns="92075" wrap="square" tIns="46025">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Is executive success correlated with high need for achievement?</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Are members of highly cohesive work groups  more satisfied than members of less cohesive work groups?</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Do consumers experience cognitive dissonance in low-involvement situations?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anim calcmode="lin" valueType="num">
                                      <p:cBhvr additive="base">
                                        <p:cTn dur="500"/>
                                        <p:tgtEl>
                                          <p:spTgt spid="16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anim calcmode="lin" valueType="num">
                                      <p:cBhvr additive="base">
                                        <p:cTn dur="500"/>
                                        <p:tgtEl>
                                          <p:spTgt spid="16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anim calcmode="lin" valueType="num">
                                      <p:cBhvr additive="base">
                                        <p:cTn dur="500"/>
                                        <p:tgtEl>
                                          <p:spTgt spid="16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APPLIED RESEARCH</a:t>
            </a:r>
            <a:endParaRPr/>
          </a:p>
        </p:txBody>
      </p:sp>
      <p:sp>
        <p:nvSpPr>
          <p:cNvPr id="172" name="Google Shape;172;p24"/>
          <p:cNvSpPr txBox="1"/>
          <p:nvPr>
            <p:ph idx="1" type="body"/>
          </p:nvPr>
        </p:nvSpPr>
        <p:spPr>
          <a:xfrm>
            <a:off x="457200" y="1600200"/>
            <a:ext cx="8229600" cy="4556125"/>
          </a:xfrm>
          <a:prstGeom prst="rect">
            <a:avLst/>
          </a:prstGeom>
          <a:noFill/>
          <a:ln>
            <a:noFill/>
          </a:ln>
        </p:spPr>
        <p:txBody>
          <a:bodyPr anchorCtr="0" anchor="t" bIns="46025" lIns="92075" spcFirstLastPara="1" rIns="92075" wrap="square" tIns="46025">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Conducted when a decision must be made about a specific real-life problem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APPLIED RESEARCH EXAMPLES</a:t>
            </a:r>
            <a:endParaRPr/>
          </a:p>
        </p:txBody>
      </p:sp>
      <p:sp>
        <p:nvSpPr>
          <p:cNvPr id="179" name="Google Shape;179;p25"/>
          <p:cNvSpPr txBox="1"/>
          <p:nvPr>
            <p:ph idx="1" type="body"/>
          </p:nvPr>
        </p:nvSpPr>
        <p:spPr>
          <a:xfrm>
            <a:off x="457200" y="1447800"/>
            <a:ext cx="8229600" cy="4953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Should McDonalds add Italian pasta dinners to its menu?</a:t>
            </a:r>
            <a:endParaRPr/>
          </a:p>
          <a:p>
            <a:pPr indent="-342900" lvl="0" marL="342900" marR="0" rtl="0" algn="just">
              <a:lnSpc>
                <a:spcPct val="100000"/>
              </a:lnSpc>
              <a:spcBef>
                <a:spcPts val="640"/>
              </a:spcBef>
              <a:spcAft>
                <a:spcPts val="0"/>
              </a:spcAft>
              <a:buClr>
                <a:schemeClr val="dk1"/>
              </a:buClr>
              <a:buSzPts val="3200"/>
              <a:buFont typeface="Arial"/>
              <a:buNone/>
            </a:pPr>
            <a:r>
              <a:rPr b="0" i="0" lang="en-US" sz="3200" u="none">
                <a:solidFill>
                  <a:schemeClr val="dk1"/>
                </a:solidFill>
                <a:latin typeface="Times New Roman"/>
                <a:ea typeface="Times New Roman"/>
                <a:cs typeface="Times New Roman"/>
                <a:sym typeface="Times New Roman"/>
              </a:rPr>
              <a:t>	</a:t>
            </a:r>
            <a:r>
              <a:rPr b="0" i="0" lang="en-US" sz="3200" u="none">
                <a:solidFill>
                  <a:srgbClr val="FF0000"/>
                </a:solidFill>
                <a:latin typeface="Times New Roman"/>
                <a:ea typeface="Times New Roman"/>
                <a:cs typeface="Times New Roman"/>
                <a:sym typeface="Times New Roman"/>
              </a:rPr>
              <a:t>Business research told McDonald’s it should not?</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Should Procter &amp; Gamble add a high-priced home teeth bleaching kit to its product line?</a:t>
            </a:r>
            <a:endParaRPr/>
          </a:p>
          <a:p>
            <a:pPr indent="-342900" lvl="0" marL="342900" marR="0" rtl="0" algn="just">
              <a:lnSpc>
                <a:spcPct val="100000"/>
              </a:lnSpc>
              <a:spcBef>
                <a:spcPts val="640"/>
              </a:spcBef>
              <a:spcAft>
                <a:spcPts val="0"/>
              </a:spcAft>
              <a:buClr>
                <a:schemeClr val="dk1"/>
              </a:buClr>
              <a:buSzPts val="3200"/>
              <a:buFont typeface="Arial"/>
              <a:buNone/>
            </a:pPr>
            <a:r>
              <a:rPr b="0" i="0" lang="en-US" sz="3200" u="none">
                <a:solidFill>
                  <a:schemeClr val="dk1"/>
                </a:solidFill>
                <a:latin typeface="Times New Roman"/>
                <a:ea typeface="Times New Roman"/>
                <a:cs typeface="Times New Roman"/>
                <a:sym typeface="Times New Roman"/>
              </a:rPr>
              <a:t>	</a:t>
            </a:r>
            <a:r>
              <a:rPr b="0" i="0" lang="en-US" sz="3200" u="none">
                <a:solidFill>
                  <a:srgbClr val="FF0000"/>
                </a:solidFill>
                <a:latin typeface="Times New Roman"/>
                <a:ea typeface="Times New Roman"/>
                <a:cs typeface="Times New Roman"/>
                <a:sym typeface="Times New Roman"/>
              </a:rPr>
              <a:t>Research showed Crest Whitestrips would sell well at a retail price of $44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anim calcmode="lin" valueType="num">
                                      <p:cBhvr additive="base">
                                        <p:cTn dur="500"/>
                                        <p:tgtEl>
                                          <p:spTgt spid="17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
                                            <p:txEl>
                                              <p:pRg end="1" st="1"/>
                                            </p:txEl>
                                          </p:spTgt>
                                        </p:tgtEl>
                                        <p:attrNameLst>
                                          <p:attrName>style.visibility</p:attrName>
                                        </p:attrNameLst>
                                      </p:cBhvr>
                                      <p:to>
                                        <p:strVal val="visible"/>
                                      </p:to>
                                    </p:set>
                                    <p:anim calcmode="lin" valueType="num">
                                      <p:cBhvr additive="base">
                                        <p:cTn dur="500"/>
                                        <p:tgtEl>
                                          <p:spTgt spid="17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
                                            <p:txEl>
                                              <p:pRg end="2" st="2"/>
                                            </p:txEl>
                                          </p:spTgt>
                                        </p:tgtEl>
                                        <p:attrNameLst>
                                          <p:attrName>style.visibility</p:attrName>
                                        </p:attrNameLst>
                                      </p:cBhvr>
                                      <p:to>
                                        <p:strVal val="visible"/>
                                      </p:to>
                                    </p:set>
                                    <p:anim calcmode="lin" valueType="num">
                                      <p:cBhvr additive="base">
                                        <p:cTn dur="500"/>
                                        <p:tgtEl>
                                          <p:spTgt spid="179">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
                                            <p:txEl>
                                              <p:pRg end="3" st="3"/>
                                            </p:txEl>
                                          </p:spTgt>
                                        </p:tgtEl>
                                        <p:attrNameLst>
                                          <p:attrName>style.visibility</p:attrName>
                                        </p:attrNameLst>
                                      </p:cBhvr>
                                      <p:to>
                                        <p:strVal val="visible"/>
                                      </p:to>
                                    </p:set>
                                    <p:anim calcmode="lin" valueType="num">
                                      <p:cBhvr additive="base">
                                        <p:cTn dur="500"/>
                                        <p:tgtEl>
                                          <p:spTgt spid="179">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txBox="1"/>
          <p:nvPr>
            <p:ph type="title"/>
          </p:nvPr>
        </p:nvSpPr>
        <p:spPr>
          <a:xfrm>
            <a:off x="457200" y="-15875"/>
            <a:ext cx="82296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Research Methods vs. Methodology</a:t>
            </a:r>
            <a:endParaRPr/>
          </a:p>
        </p:txBody>
      </p:sp>
      <p:sp>
        <p:nvSpPr>
          <p:cNvPr id="185" name="Google Shape;185;p26"/>
          <p:cNvSpPr txBox="1"/>
          <p:nvPr>
            <p:ph idx="1" type="body"/>
          </p:nvPr>
        </p:nvSpPr>
        <p:spPr>
          <a:xfrm>
            <a:off x="152400" y="592137"/>
            <a:ext cx="8839200" cy="61896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300"/>
              <a:buFont typeface="Arial"/>
              <a:buChar char="•"/>
            </a:pPr>
            <a:r>
              <a:rPr b="1" i="0" lang="en-US" sz="2300" u="none">
                <a:solidFill>
                  <a:schemeClr val="dk1"/>
                </a:solidFill>
                <a:latin typeface="Times New Roman"/>
                <a:ea typeface="Times New Roman"/>
                <a:cs typeface="Times New Roman"/>
                <a:sym typeface="Times New Roman"/>
              </a:rPr>
              <a:t>Definition</a:t>
            </a:r>
            <a:r>
              <a:rPr b="0" i="0" lang="en-US" sz="2300" u="none">
                <a:solidFill>
                  <a:schemeClr val="dk1"/>
                </a:solidFill>
                <a:latin typeface="Times New Roman"/>
                <a:ea typeface="Times New Roman"/>
                <a:cs typeface="Times New Roman"/>
                <a:sym typeface="Times New Roman"/>
              </a:rPr>
              <a:t>:</a:t>
            </a:r>
            <a:endParaRPr/>
          </a:p>
          <a:p>
            <a:pPr indent="-342900" lvl="0" marL="342900" marR="0" rtl="0" algn="just">
              <a:lnSpc>
                <a:spcPct val="100000"/>
              </a:lnSpc>
              <a:spcBef>
                <a:spcPts val="460"/>
              </a:spcBef>
              <a:spcAft>
                <a:spcPts val="0"/>
              </a:spcAft>
              <a:buClr>
                <a:schemeClr val="dk1"/>
              </a:buClr>
              <a:buSzPts val="2300"/>
              <a:buFont typeface="Arial"/>
              <a:buNone/>
            </a:pPr>
            <a:r>
              <a:rPr b="1" i="0" lang="en-US" sz="2300" u="none">
                <a:solidFill>
                  <a:schemeClr val="dk1"/>
                </a:solidFill>
                <a:latin typeface="Times New Roman"/>
                <a:ea typeface="Times New Roman"/>
                <a:cs typeface="Times New Roman"/>
                <a:sym typeface="Times New Roman"/>
              </a:rPr>
              <a:t>Research Methods</a:t>
            </a:r>
            <a:r>
              <a:rPr b="0" i="0" lang="en-US" sz="2300" u="none">
                <a:solidFill>
                  <a:schemeClr val="dk1"/>
                </a:solidFill>
                <a:latin typeface="Times New Roman"/>
                <a:ea typeface="Times New Roman"/>
                <a:cs typeface="Times New Roman"/>
                <a:sym typeface="Times New Roman"/>
              </a:rPr>
              <a:t>: Specific techniques and procedures used to collect and analyze data (e.g., surveys, experiments).</a:t>
            </a:r>
            <a:endParaRPr/>
          </a:p>
          <a:p>
            <a:pPr indent="-342900" lvl="0" marL="342900" marR="0" rtl="0" algn="just">
              <a:lnSpc>
                <a:spcPct val="100000"/>
              </a:lnSpc>
              <a:spcBef>
                <a:spcPts val="460"/>
              </a:spcBef>
              <a:spcAft>
                <a:spcPts val="0"/>
              </a:spcAft>
              <a:buClr>
                <a:schemeClr val="dk1"/>
              </a:buClr>
              <a:buSzPts val="2300"/>
              <a:buFont typeface="Arial"/>
              <a:buNone/>
            </a:pPr>
            <a:r>
              <a:rPr b="1" i="0" lang="en-US" sz="2300" u="none">
                <a:solidFill>
                  <a:schemeClr val="dk1"/>
                </a:solidFill>
                <a:latin typeface="Times New Roman"/>
                <a:ea typeface="Times New Roman"/>
                <a:cs typeface="Times New Roman"/>
                <a:sym typeface="Times New Roman"/>
              </a:rPr>
              <a:t>Research Methodology</a:t>
            </a:r>
            <a:r>
              <a:rPr b="0" i="0" lang="en-US" sz="2300" u="none">
                <a:solidFill>
                  <a:schemeClr val="dk1"/>
                </a:solidFill>
                <a:latin typeface="Times New Roman"/>
                <a:ea typeface="Times New Roman"/>
                <a:cs typeface="Times New Roman"/>
                <a:sym typeface="Times New Roman"/>
              </a:rPr>
              <a:t>: The overarching strategy and rationale guiding the choice of research methods and their application.</a:t>
            </a:r>
            <a:endParaRPr/>
          </a:p>
          <a:p>
            <a:pPr indent="-342900" lvl="0" marL="342900" marR="0" rtl="0" algn="just">
              <a:lnSpc>
                <a:spcPct val="100000"/>
              </a:lnSpc>
              <a:spcBef>
                <a:spcPts val="460"/>
              </a:spcBef>
              <a:spcAft>
                <a:spcPts val="0"/>
              </a:spcAft>
              <a:buClr>
                <a:schemeClr val="dk1"/>
              </a:buClr>
              <a:buSzPts val="2300"/>
              <a:buFont typeface="Arial"/>
              <a:buChar char="•"/>
            </a:pPr>
            <a:r>
              <a:rPr b="1" i="0" lang="en-US" sz="2300" u="none">
                <a:solidFill>
                  <a:schemeClr val="dk1"/>
                </a:solidFill>
                <a:latin typeface="Times New Roman"/>
                <a:ea typeface="Times New Roman"/>
                <a:cs typeface="Times New Roman"/>
                <a:sym typeface="Times New Roman"/>
              </a:rPr>
              <a:t>Focus</a:t>
            </a:r>
            <a:r>
              <a:rPr b="0" i="0" lang="en-US" sz="2300" u="none">
                <a:solidFill>
                  <a:schemeClr val="dk1"/>
                </a:solidFill>
                <a:latin typeface="Times New Roman"/>
                <a:ea typeface="Times New Roman"/>
                <a:cs typeface="Times New Roman"/>
                <a:sym typeface="Times New Roman"/>
              </a:rPr>
              <a:t>:</a:t>
            </a:r>
            <a:endParaRPr/>
          </a:p>
          <a:p>
            <a:pPr indent="-342900" lvl="0" marL="342900" marR="0" rtl="0" algn="just">
              <a:lnSpc>
                <a:spcPct val="100000"/>
              </a:lnSpc>
              <a:spcBef>
                <a:spcPts val="460"/>
              </a:spcBef>
              <a:spcAft>
                <a:spcPts val="0"/>
              </a:spcAft>
              <a:buClr>
                <a:schemeClr val="dk1"/>
              </a:buClr>
              <a:buSzPts val="2300"/>
              <a:buFont typeface="Arial"/>
              <a:buNone/>
            </a:pPr>
            <a:r>
              <a:rPr b="1" i="0" lang="en-US" sz="2300" u="none">
                <a:solidFill>
                  <a:schemeClr val="dk1"/>
                </a:solidFill>
                <a:latin typeface="Times New Roman"/>
                <a:ea typeface="Times New Roman"/>
                <a:cs typeface="Times New Roman"/>
                <a:sym typeface="Times New Roman"/>
              </a:rPr>
              <a:t>Research Methods</a:t>
            </a:r>
            <a:r>
              <a:rPr b="0" i="0" lang="en-US" sz="2300" u="none">
                <a:solidFill>
                  <a:schemeClr val="dk1"/>
                </a:solidFill>
                <a:latin typeface="Times New Roman"/>
                <a:ea typeface="Times New Roman"/>
                <a:cs typeface="Times New Roman"/>
                <a:sym typeface="Times New Roman"/>
              </a:rPr>
              <a:t>: Concerned with the "how" of conducting research—practical steps like data collection and analysis.</a:t>
            </a:r>
            <a:endParaRPr/>
          </a:p>
          <a:p>
            <a:pPr indent="-342900" lvl="0" marL="342900" marR="0" rtl="0" algn="just">
              <a:lnSpc>
                <a:spcPct val="100000"/>
              </a:lnSpc>
              <a:spcBef>
                <a:spcPts val="460"/>
              </a:spcBef>
              <a:spcAft>
                <a:spcPts val="0"/>
              </a:spcAft>
              <a:buClr>
                <a:schemeClr val="dk1"/>
              </a:buClr>
              <a:buSzPts val="2300"/>
              <a:buFont typeface="Arial"/>
              <a:buNone/>
            </a:pPr>
            <a:r>
              <a:rPr b="1" i="0" lang="en-US" sz="2300" u="none">
                <a:solidFill>
                  <a:schemeClr val="dk1"/>
                </a:solidFill>
                <a:latin typeface="Times New Roman"/>
                <a:ea typeface="Times New Roman"/>
                <a:cs typeface="Times New Roman"/>
                <a:sym typeface="Times New Roman"/>
              </a:rPr>
              <a:t>Research Methodology</a:t>
            </a:r>
            <a:r>
              <a:rPr b="0" i="0" lang="en-US" sz="2300" u="none">
                <a:solidFill>
                  <a:schemeClr val="dk1"/>
                </a:solidFill>
                <a:latin typeface="Times New Roman"/>
                <a:ea typeface="Times New Roman"/>
                <a:cs typeface="Times New Roman"/>
                <a:sym typeface="Times New Roman"/>
              </a:rPr>
              <a:t>: Focuses on the "why"—the reasoning behind choosing specific methods and the underlying principles.</a:t>
            </a:r>
            <a:endParaRPr/>
          </a:p>
          <a:p>
            <a:pPr indent="-342900" lvl="0" marL="342900" marR="0" rtl="0" algn="just">
              <a:lnSpc>
                <a:spcPct val="100000"/>
              </a:lnSpc>
              <a:spcBef>
                <a:spcPts val="460"/>
              </a:spcBef>
              <a:spcAft>
                <a:spcPts val="0"/>
              </a:spcAft>
              <a:buClr>
                <a:schemeClr val="dk1"/>
              </a:buClr>
              <a:buSzPts val="2300"/>
              <a:buFont typeface="Arial"/>
              <a:buChar char="•"/>
            </a:pPr>
            <a:r>
              <a:rPr b="1" i="0" lang="en-US" sz="2300" u="none">
                <a:solidFill>
                  <a:schemeClr val="dk1"/>
                </a:solidFill>
                <a:latin typeface="Times New Roman"/>
                <a:ea typeface="Times New Roman"/>
                <a:cs typeface="Times New Roman"/>
                <a:sym typeface="Times New Roman"/>
              </a:rPr>
              <a:t>Scope:</a:t>
            </a:r>
            <a:endParaRPr/>
          </a:p>
          <a:p>
            <a:pPr indent="-342900" lvl="0" marL="342900" marR="0" rtl="0" algn="just">
              <a:lnSpc>
                <a:spcPct val="100000"/>
              </a:lnSpc>
              <a:spcBef>
                <a:spcPts val="460"/>
              </a:spcBef>
              <a:spcAft>
                <a:spcPts val="0"/>
              </a:spcAft>
              <a:buClr>
                <a:schemeClr val="dk1"/>
              </a:buClr>
              <a:buSzPts val="2300"/>
              <a:buFont typeface="Arial"/>
              <a:buNone/>
            </a:pPr>
            <a:r>
              <a:rPr b="1" i="0" lang="en-US" sz="2300" u="none">
                <a:solidFill>
                  <a:schemeClr val="dk1"/>
                </a:solidFill>
                <a:latin typeface="Times New Roman"/>
                <a:ea typeface="Times New Roman"/>
                <a:cs typeface="Times New Roman"/>
                <a:sym typeface="Times New Roman"/>
              </a:rPr>
              <a:t>Research Methods</a:t>
            </a:r>
            <a:r>
              <a:rPr b="0" i="0" lang="en-US" sz="2300" u="none">
                <a:solidFill>
                  <a:schemeClr val="dk1"/>
                </a:solidFill>
                <a:latin typeface="Times New Roman"/>
                <a:ea typeface="Times New Roman"/>
                <a:cs typeface="Times New Roman"/>
                <a:sym typeface="Times New Roman"/>
              </a:rPr>
              <a:t>: Narrower in scope, dealing with the actual execution of research tasks.</a:t>
            </a:r>
            <a:endParaRPr/>
          </a:p>
          <a:p>
            <a:pPr indent="-342900" lvl="0" marL="342900" marR="0" rtl="0" algn="just">
              <a:lnSpc>
                <a:spcPct val="100000"/>
              </a:lnSpc>
              <a:spcBef>
                <a:spcPts val="460"/>
              </a:spcBef>
              <a:spcAft>
                <a:spcPts val="0"/>
              </a:spcAft>
              <a:buClr>
                <a:schemeClr val="dk1"/>
              </a:buClr>
              <a:buSzPts val="2300"/>
              <a:buFont typeface="Arial"/>
              <a:buNone/>
            </a:pPr>
            <a:r>
              <a:rPr b="1" i="0" lang="en-US" sz="2300" u="none">
                <a:solidFill>
                  <a:schemeClr val="dk1"/>
                </a:solidFill>
                <a:latin typeface="Times New Roman"/>
                <a:ea typeface="Times New Roman"/>
                <a:cs typeface="Times New Roman"/>
                <a:sym typeface="Times New Roman"/>
              </a:rPr>
              <a:t>Research Methodology</a:t>
            </a:r>
            <a:r>
              <a:rPr b="0" i="0" lang="en-US" sz="2300" u="none">
                <a:solidFill>
                  <a:schemeClr val="dk1"/>
                </a:solidFill>
                <a:latin typeface="Times New Roman"/>
                <a:ea typeface="Times New Roman"/>
                <a:cs typeface="Times New Roman"/>
                <a:sym typeface="Times New Roman"/>
              </a:rPr>
              <a:t>: Broader in scope, encompassing the entire research process, including theoretical frameworks, research design, and the justification for using certain methods.</a:t>
            </a:r>
            <a:endParaRPr/>
          </a:p>
          <a:p>
            <a:pPr indent="-196850" lvl="0" marL="342900" marR="0" rtl="0" algn="l">
              <a:spcBef>
                <a:spcPts val="460"/>
              </a:spcBef>
              <a:spcAft>
                <a:spcPts val="0"/>
              </a:spcAft>
              <a:buClr>
                <a:schemeClr val="dk1"/>
              </a:buClr>
              <a:buSzPts val="2300"/>
              <a:buFont typeface="Arial"/>
              <a:buNone/>
            </a:pPr>
            <a:r>
              <a:t/>
            </a:r>
            <a:endParaRPr b="0" i="0" sz="23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7"/>
          <p:cNvSpPr txBox="1"/>
          <p:nvPr>
            <p:ph type="title"/>
          </p:nvPr>
        </p:nvSpPr>
        <p:spPr>
          <a:xfrm>
            <a:off x="457200" y="0"/>
            <a:ext cx="8229600" cy="4873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Significance of Research Methodology</a:t>
            </a:r>
            <a:endParaRPr/>
          </a:p>
        </p:txBody>
      </p:sp>
      <p:sp>
        <p:nvSpPr>
          <p:cNvPr id="191" name="Google Shape;191;p27"/>
          <p:cNvSpPr txBox="1"/>
          <p:nvPr>
            <p:ph idx="1" type="body"/>
          </p:nvPr>
        </p:nvSpPr>
        <p:spPr>
          <a:xfrm>
            <a:off x="152400" y="685800"/>
            <a:ext cx="8839200" cy="6019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600"/>
              <a:buFont typeface="Arial"/>
              <a:buChar char="•"/>
            </a:pPr>
            <a:r>
              <a:rPr b="1" i="0" lang="en-US" sz="2600" u="none">
                <a:solidFill>
                  <a:schemeClr val="dk1"/>
                </a:solidFill>
                <a:latin typeface="Times New Roman"/>
                <a:ea typeface="Times New Roman"/>
                <a:cs typeface="Times New Roman"/>
                <a:sym typeface="Times New Roman"/>
              </a:rPr>
              <a:t>Guides Research Direction: </a:t>
            </a:r>
            <a:r>
              <a:rPr b="0" i="0" lang="en-US" sz="2600" u="none">
                <a:solidFill>
                  <a:schemeClr val="dk1"/>
                </a:solidFill>
                <a:latin typeface="Times New Roman"/>
                <a:ea typeface="Times New Roman"/>
                <a:cs typeface="Times New Roman"/>
                <a:sym typeface="Times New Roman"/>
              </a:rPr>
              <a:t>Research methodology helps researchers define the path they need to follow to achieve their research objectives. It ensures that the research stays focused and that the steps taken are appropriate to address the research questions.</a:t>
            </a:r>
            <a:endParaRPr/>
          </a:p>
          <a:p>
            <a:pPr indent="-342900" lvl="0" marL="342900" marR="0" rtl="0" algn="just">
              <a:lnSpc>
                <a:spcPct val="100000"/>
              </a:lnSpc>
              <a:spcBef>
                <a:spcPts val="520"/>
              </a:spcBef>
              <a:spcAft>
                <a:spcPts val="0"/>
              </a:spcAft>
              <a:buClr>
                <a:schemeClr val="dk1"/>
              </a:buClr>
              <a:buSzPts val="2600"/>
              <a:buFont typeface="Arial"/>
              <a:buChar char="•"/>
            </a:pPr>
            <a:r>
              <a:rPr b="1" i="0" lang="en-US" sz="2600" u="none">
                <a:solidFill>
                  <a:schemeClr val="dk1"/>
                </a:solidFill>
                <a:latin typeface="Times New Roman"/>
                <a:ea typeface="Times New Roman"/>
                <a:cs typeface="Times New Roman"/>
                <a:sym typeface="Times New Roman"/>
              </a:rPr>
              <a:t>Ensures Validity and Reliability:</a:t>
            </a:r>
            <a:r>
              <a:rPr b="0" i="0" lang="en-US" sz="2600" u="none">
                <a:solidFill>
                  <a:schemeClr val="dk1"/>
                </a:solidFill>
                <a:latin typeface="Times New Roman"/>
                <a:ea typeface="Times New Roman"/>
                <a:cs typeface="Times New Roman"/>
                <a:sym typeface="Times New Roman"/>
              </a:rPr>
              <a:t> A well-structured research methodology ensures that the results obtained are valid (accurately represent what they are supposed to measure) and reliable (consistent when repeated under the same conditions).</a:t>
            </a:r>
            <a:endParaRPr/>
          </a:p>
          <a:p>
            <a:pPr indent="-342900" lvl="0" marL="342900" marR="0" rtl="0" algn="just">
              <a:lnSpc>
                <a:spcPct val="100000"/>
              </a:lnSpc>
              <a:spcBef>
                <a:spcPts val="520"/>
              </a:spcBef>
              <a:spcAft>
                <a:spcPts val="0"/>
              </a:spcAft>
              <a:buClr>
                <a:schemeClr val="dk1"/>
              </a:buClr>
              <a:buSzPts val="2600"/>
              <a:buFont typeface="Arial"/>
              <a:buChar char="•"/>
            </a:pPr>
            <a:r>
              <a:rPr b="1" i="0" lang="en-US" sz="2600" u="none">
                <a:solidFill>
                  <a:schemeClr val="dk1"/>
                </a:solidFill>
                <a:latin typeface="Times New Roman"/>
                <a:ea typeface="Times New Roman"/>
                <a:cs typeface="Times New Roman"/>
                <a:sym typeface="Times New Roman"/>
              </a:rPr>
              <a:t>Facilitates Data Collection and Analysis</a:t>
            </a:r>
            <a:r>
              <a:rPr b="0" i="0" lang="en-US" sz="2600" u="none">
                <a:solidFill>
                  <a:schemeClr val="dk1"/>
                </a:solidFill>
                <a:latin typeface="Times New Roman"/>
                <a:ea typeface="Times New Roman"/>
                <a:cs typeface="Times New Roman"/>
                <a:sym typeface="Times New Roman"/>
              </a:rPr>
              <a:t>: It provides clear guidelines on how data should be collected, what tools and techniques should be used, and how data should be analyzed to derive meaningful conclusions.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ph idx="1" type="body"/>
          </p:nvPr>
        </p:nvSpPr>
        <p:spPr>
          <a:xfrm>
            <a:off x="152400" y="228600"/>
            <a:ext cx="8915400" cy="6324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500"/>
              <a:buFont typeface="Arial"/>
              <a:buChar char="•"/>
            </a:pPr>
            <a:r>
              <a:rPr b="1" i="0" lang="en-US" sz="2500" u="none">
                <a:solidFill>
                  <a:schemeClr val="dk1"/>
                </a:solidFill>
                <a:latin typeface="Times New Roman"/>
                <a:ea typeface="Times New Roman"/>
                <a:cs typeface="Times New Roman"/>
                <a:sym typeface="Times New Roman"/>
              </a:rPr>
              <a:t>Enables Replication</a:t>
            </a:r>
            <a:r>
              <a:rPr b="0" i="0" lang="en-US" sz="2500" u="none">
                <a:solidFill>
                  <a:schemeClr val="dk1"/>
                </a:solidFill>
                <a:latin typeface="Times New Roman"/>
                <a:ea typeface="Times New Roman"/>
                <a:cs typeface="Times New Roman"/>
                <a:sym typeface="Times New Roman"/>
              </a:rPr>
              <a:t>: By documenting the research methodology in detail, other researchers can replicate the study to verify results or build on the original research, contributing to the body of knowledge in the field.</a:t>
            </a:r>
            <a:endParaRPr/>
          </a:p>
          <a:p>
            <a:pPr indent="-342900" lvl="0" marL="342900" marR="0" rtl="0" algn="just">
              <a:lnSpc>
                <a:spcPct val="100000"/>
              </a:lnSpc>
              <a:spcBef>
                <a:spcPts val="500"/>
              </a:spcBef>
              <a:spcAft>
                <a:spcPts val="0"/>
              </a:spcAft>
              <a:buClr>
                <a:schemeClr val="dk1"/>
              </a:buClr>
              <a:buSzPts val="2500"/>
              <a:buFont typeface="Arial"/>
              <a:buChar char="•"/>
            </a:pPr>
            <a:r>
              <a:rPr b="1" i="0" lang="en-US" sz="2500" u="none">
                <a:solidFill>
                  <a:schemeClr val="dk1"/>
                </a:solidFill>
                <a:latin typeface="Times New Roman"/>
                <a:ea typeface="Times New Roman"/>
                <a:cs typeface="Times New Roman"/>
                <a:sym typeface="Times New Roman"/>
              </a:rPr>
              <a:t>Enhances Objectivity</a:t>
            </a:r>
            <a:r>
              <a:rPr b="0" i="0" lang="en-US" sz="2500" u="none">
                <a:solidFill>
                  <a:schemeClr val="dk1"/>
                </a:solidFill>
                <a:latin typeface="Times New Roman"/>
                <a:ea typeface="Times New Roman"/>
                <a:cs typeface="Times New Roman"/>
                <a:sym typeface="Times New Roman"/>
              </a:rPr>
              <a:t>: A well-defined methodology reduces bias in the research process by ensuring that data collection and analysis are based on objective criteria, leading to more credible results.</a:t>
            </a:r>
            <a:endParaRPr/>
          </a:p>
          <a:p>
            <a:pPr indent="-342900" lvl="0" marL="342900" marR="0" rtl="0" algn="just">
              <a:lnSpc>
                <a:spcPct val="100000"/>
              </a:lnSpc>
              <a:spcBef>
                <a:spcPts val="500"/>
              </a:spcBef>
              <a:spcAft>
                <a:spcPts val="0"/>
              </a:spcAft>
              <a:buClr>
                <a:schemeClr val="dk1"/>
              </a:buClr>
              <a:buSzPts val="2500"/>
              <a:buFont typeface="Arial"/>
              <a:buChar char="•"/>
            </a:pPr>
            <a:r>
              <a:rPr b="1" i="0" lang="en-US" sz="2500" u="none">
                <a:solidFill>
                  <a:schemeClr val="dk1"/>
                </a:solidFill>
                <a:latin typeface="Times New Roman"/>
                <a:ea typeface="Times New Roman"/>
                <a:cs typeface="Times New Roman"/>
                <a:sym typeface="Times New Roman"/>
              </a:rPr>
              <a:t>Improves Decision-Making</a:t>
            </a:r>
            <a:r>
              <a:rPr b="0" i="0" lang="en-US" sz="2500" u="none">
                <a:solidFill>
                  <a:schemeClr val="dk1"/>
                </a:solidFill>
                <a:latin typeface="Times New Roman"/>
                <a:ea typeface="Times New Roman"/>
                <a:cs typeface="Times New Roman"/>
                <a:sym typeface="Times New Roman"/>
              </a:rPr>
              <a:t>: Research methodology helps in the interpretation of data and results, enabling researchers to make informed decisions and draw accurate conclusions that can be applied in real-world scenarios.</a:t>
            </a:r>
            <a:endParaRPr/>
          </a:p>
          <a:p>
            <a:pPr indent="-342900" lvl="0" marL="342900" marR="0" rtl="0" algn="just">
              <a:lnSpc>
                <a:spcPct val="100000"/>
              </a:lnSpc>
              <a:spcBef>
                <a:spcPts val="500"/>
              </a:spcBef>
              <a:spcAft>
                <a:spcPts val="0"/>
              </a:spcAft>
              <a:buClr>
                <a:schemeClr val="dk1"/>
              </a:buClr>
              <a:buSzPts val="2500"/>
              <a:buFont typeface="Arial"/>
              <a:buChar char="•"/>
            </a:pPr>
            <a:r>
              <a:rPr b="1" i="0" lang="en-US" sz="2500" u="none">
                <a:solidFill>
                  <a:schemeClr val="dk1"/>
                </a:solidFill>
                <a:latin typeface="Times New Roman"/>
                <a:ea typeface="Times New Roman"/>
                <a:cs typeface="Times New Roman"/>
                <a:sym typeface="Times New Roman"/>
              </a:rPr>
              <a:t>Supports Ethical Research</a:t>
            </a:r>
            <a:r>
              <a:rPr b="0" i="0" lang="en-US" sz="2500" u="none">
                <a:solidFill>
                  <a:schemeClr val="dk1"/>
                </a:solidFill>
                <a:latin typeface="Times New Roman"/>
                <a:ea typeface="Times New Roman"/>
                <a:cs typeface="Times New Roman"/>
                <a:sym typeface="Times New Roman"/>
              </a:rPr>
              <a:t>: Methodology often includes ethical considerations, ensuring that the research is conducted in a manner that respects the rights and dignity of participants, which is crucial in maintaining the integrity of the research.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Times New Roman"/>
              <a:buNone/>
            </a:pPr>
            <a:r>
              <a:rPr b="0" i="0" lang="en-US" sz="4400" u="none">
                <a:solidFill>
                  <a:schemeClr val="dk1"/>
                </a:solidFill>
                <a:latin typeface="Times New Roman"/>
                <a:ea typeface="Times New Roman"/>
                <a:cs typeface="Times New Roman"/>
                <a:sym typeface="Times New Roman"/>
              </a:rPr>
              <a:t>The research process</a:t>
            </a:r>
            <a:endParaRPr/>
          </a:p>
        </p:txBody>
      </p:sp>
      <p:sp>
        <p:nvSpPr>
          <p:cNvPr id="202" name="Google Shape;202;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1 Observation</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2 Data gathering</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3 Problem definition</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4 Theoretical framework (variables identified)</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5 Hypotheses</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6 Research design</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7 Data collection, analysis, interpretation</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8 Deduction</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9 Report writing</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10 Report presentation</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Times New Roman"/>
                <a:ea typeface="Times New Roman"/>
                <a:cs typeface="Times New Roman"/>
                <a:sym typeface="Times New Roman"/>
              </a:rPr>
              <a:t>11 Managerial decision making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0"/>
          <p:cNvPicPr preferRelativeResize="0"/>
          <p:nvPr/>
        </p:nvPicPr>
        <p:blipFill rotWithShape="1">
          <a:blip r:embed="rId3">
            <a:alphaModFix/>
          </a:blip>
          <a:srcRect b="0" l="0" r="0" t="0"/>
          <a:stretch/>
        </p:blipFill>
        <p:spPr>
          <a:xfrm>
            <a:off x="228600" y="152400"/>
            <a:ext cx="8915400" cy="6477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ph idx="1" type="body"/>
          </p:nvPr>
        </p:nvSpPr>
        <p:spPr>
          <a:xfrm>
            <a:off x="457200" y="10668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0" lvl="0" marL="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0" lvl="0" marL="0" marR="0" rtl="0" algn="ctr">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Research Problem Definition: Selecting and Defining the Problem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Introduction to Research Problem</a:t>
            </a:r>
            <a:endParaRPr/>
          </a:p>
        </p:txBody>
      </p:sp>
      <p:sp>
        <p:nvSpPr>
          <p:cNvPr id="219" name="Google Shape;219;p32"/>
          <p:cNvSpPr txBox="1"/>
          <p:nvPr>
            <p:ph idx="1" type="body"/>
          </p:nvPr>
        </p:nvSpPr>
        <p:spPr>
          <a:xfrm>
            <a:off x="533400" y="2286000"/>
            <a:ext cx="8077200" cy="3324225"/>
          </a:xfrm>
          <a:prstGeom prst="rect">
            <a:avLst/>
          </a:prstGeom>
          <a:noFill/>
          <a:ln>
            <a:noFill/>
          </a:ln>
        </p:spPr>
        <p:txBody>
          <a:bodyPr anchorCtr="0" anchor="ctr" bIns="45700" lIns="91425" spcFirstLastPara="1" rIns="91425" wrap="square" tIns="45700">
            <a:spAutoFit/>
          </a:bodyPr>
          <a:lstStyle/>
          <a:p>
            <a:pPr indent="-177800" lvl="0" marL="0" marR="0" rtl="0" algn="l">
              <a:lnSpc>
                <a:spcPct val="15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 research problem is the initial step in the research process.</a:t>
            </a:r>
            <a:endParaRPr/>
          </a:p>
          <a:p>
            <a:pPr indent="-177800" lvl="0" marL="0" marR="0" rtl="0" algn="l">
              <a:lnSpc>
                <a:spcPct val="15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It guides the direction of the study.</a:t>
            </a:r>
            <a:endParaRPr/>
          </a:p>
          <a:p>
            <a:pPr indent="-177800" lvl="0" marL="0" marR="0" rtl="0" algn="l">
              <a:lnSpc>
                <a:spcPct val="15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It involves identifying a gap in knowledge or a pressing issue that needs investigation.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Criteria for Selecting a Research Problem</a:t>
            </a:r>
            <a:endParaRPr/>
          </a:p>
        </p:txBody>
      </p:sp>
      <p:sp>
        <p:nvSpPr>
          <p:cNvPr id="225" name="Google Shape;225;p33"/>
          <p:cNvSpPr txBox="1"/>
          <p:nvPr>
            <p:ph idx="1" type="body"/>
          </p:nvPr>
        </p:nvSpPr>
        <p:spPr>
          <a:xfrm>
            <a:off x="457200" y="1662112"/>
            <a:ext cx="8001000" cy="4402137"/>
          </a:xfrm>
          <a:prstGeom prst="rect">
            <a:avLst/>
          </a:prstGeom>
          <a:noFill/>
          <a:ln>
            <a:noFill/>
          </a:ln>
        </p:spPr>
        <p:txBody>
          <a:bodyPr anchorCtr="0" anchor="ctr"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Relevance</a:t>
            </a:r>
            <a:r>
              <a:rPr b="0" i="0" lang="en-US" sz="2800" u="none">
                <a:solidFill>
                  <a:schemeClr val="dk1"/>
                </a:solidFill>
                <a:latin typeface="Arial"/>
                <a:ea typeface="Arial"/>
                <a:cs typeface="Arial"/>
                <a:sym typeface="Arial"/>
              </a:rPr>
              <a:t>: Should address a current or significant issue.</a:t>
            </a:r>
            <a:endParaRPr/>
          </a:p>
          <a:p>
            <a:pPr indent="-177800" lvl="0" marL="0" marR="0" rtl="0" algn="just">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Feasibility</a:t>
            </a:r>
            <a:r>
              <a:rPr b="0" i="0" lang="en-US" sz="2800" u="none">
                <a:solidFill>
                  <a:schemeClr val="dk1"/>
                </a:solidFill>
                <a:latin typeface="Arial"/>
                <a:ea typeface="Arial"/>
                <a:cs typeface="Arial"/>
                <a:sym typeface="Arial"/>
              </a:rPr>
              <a:t>: Should be manageable with available resources (time, money, data, etc.).</a:t>
            </a:r>
            <a:endParaRPr/>
          </a:p>
          <a:p>
            <a:pPr indent="-177800" lvl="0" marL="0" marR="0" rtl="0" algn="just">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Novelty</a:t>
            </a:r>
            <a:r>
              <a:rPr b="0" i="0" lang="en-US" sz="2800" u="none">
                <a:solidFill>
                  <a:schemeClr val="dk1"/>
                </a:solidFill>
                <a:latin typeface="Arial"/>
                <a:ea typeface="Arial"/>
                <a:cs typeface="Arial"/>
                <a:sym typeface="Arial"/>
              </a:rPr>
              <a:t>: Should contribute new insights to the existing body of knowledge.</a:t>
            </a:r>
            <a:endParaRPr/>
          </a:p>
          <a:p>
            <a:pPr indent="-177800" lvl="0" marL="0" marR="0" rtl="0" algn="just">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Interest and Passion</a:t>
            </a:r>
            <a:r>
              <a:rPr b="0" i="0" lang="en-US" sz="2800" u="none">
                <a:solidFill>
                  <a:schemeClr val="dk1"/>
                </a:solidFill>
                <a:latin typeface="Arial"/>
                <a:ea typeface="Arial"/>
                <a:cs typeface="Arial"/>
                <a:sym typeface="Arial"/>
              </a:rPr>
              <a:t>: Researchers must be genuinely interested in the problem.</a:t>
            </a:r>
            <a:endParaRPr/>
          </a:p>
          <a:p>
            <a:pPr indent="-177800" lvl="0" marL="0" marR="0" rtl="0" algn="just">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Ethical Considerations</a:t>
            </a:r>
            <a:r>
              <a:rPr b="0" i="0" lang="en-US" sz="2800" u="none">
                <a:solidFill>
                  <a:schemeClr val="dk1"/>
                </a:solidFill>
                <a:latin typeface="Arial"/>
                <a:ea typeface="Arial"/>
                <a:cs typeface="Arial"/>
                <a:sym typeface="Arial"/>
              </a:rPr>
              <a:t>: Should align with ethical standards.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Sources for Identifying a Research Problem</a:t>
            </a:r>
            <a:endParaRPr/>
          </a:p>
        </p:txBody>
      </p:sp>
      <p:sp>
        <p:nvSpPr>
          <p:cNvPr id="231" name="Google Shape;231;p34"/>
          <p:cNvSpPr txBox="1"/>
          <p:nvPr>
            <p:ph idx="1" type="body"/>
          </p:nvPr>
        </p:nvSpPr>
        <p:spPr>
          <a:xfrm>
            <a:off x="457200" y="1354137"/>
            <a:ext cx="8153400" cy="5018087"/>
          </a:xfrm>
          <a:prstGeom prst="rect">
            <a:avLst/>
          </a:prstGeom>
          <a:noFill/>
          <a:ln>
            <a:noFill/>
          </a:ln>
        </p:spPr>
        <p:txBody>
          <a:bodyPr anchorCtr="0" anchor="ctr" bIns="45700" lIns="91425" spcFirstLastPara="1" rIns="91425" wrap="square" tIns="45700">
            <a:spAutoFit/>
          </a:bodyPr>
          <a:lstStyle/>
          <a:p>
            <a:pPr indent="-203200" lvl="0" marL="0" marR="0" rtl="0" algn="just">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Literature Review</a:t>
            </a:r>
            <a:r>
              <a:rPr b="0" i="0" lang="en-US" sz="3200" u="none">
                <a:solidFill>
                  <a:schemeClr val="dk1"/>
                </a:solidFill>
                <a:latin typeface="Arial"/>
                <a:ea typeface="Arial"/>
                <a:cs typeface="Arial"/>
                <a:sym typeface="Arial"/>
              </a:rPr>
              <a:t>: Gaps in existing research.</a:t>
            </a:r>
            <a:endParaRPr/>
          </a:p>
          <a:p>
            <a:pPr indent="-203200" lvl="0" marL="0" marR="0" rtl="0" algn="just">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Practical Problems</a:t>
            </a:r>
            <a:r>
              <a:rPr b="0" i="0" lang="en-US" sz="3200" u="none">
                <a:solidFill>
                  <a:schemeClr val="dk1"/>
                </a:solidFill>
                <a:latin typeface="Arial"/>
                <a:ea typeface="Arial"/>
                <a:cs typeface="Arial"/>
                <a:sym typeface="Arial"/>
              </a:rPr>
              <a:t>: Issues faced in professional practice.</a:t>
            </a:r>
            <a:endParaRPr/>
          </a:p>
          <a:p>
            <a:pPr indent="-203200" lvl="0" marL="0" marR="0" rtl="0" algn="just">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Theoretical Frameworks</a:t>
            </a:r>
            <a:r>
              <a:rPr b="0" i="0" lang="en-US" sz="3200" u="none">
                <a:solidFill>
                  <a:schemeClr val="dk1"/>
                </a:solidFill>
                <a:latin typeface="Arial"/>
                <a:ea typeface="Arial"/>
                <a:cs typeface="Arial"/>
                <a:sym typeface="Arial"/>
              </a:rPr>
              <a:t>: Unanswered questions in theories.</a:t>
            </a:r>
            <a:endParaRPr/>
          </a:p>
          <a:p>
            <a:pPr indent="-203200" lvl="0" marL="0" marR="0" rtl="0" algn="just">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Personal Experience</a:t>
            </a:r>
            <a:r>
              <a:rPr b="0" i="0" lang="en-US" sz="3200" u="none">
                <a:solidFill>
                  <a:schemeClr val="dk1"/>
                </a:solidFill>
                <a:latin typeface="Arial"/>
                <a:ea typeface="Arial"/>
                <a:cs typeface="Arial"/>
                <a:sym typeface="Arial"/>
              </a:rPr>
              <a:t>: Observations or challenges in everyday life.</a:t>
            </a:r>
            <a:endParaRPr/>
          </a:p>
          <a:p>
            <a:pPr indent="-203200" lvl="0" marL="0" marR="0" rtl="0" algn="just">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Discussion with Experts</a:t>
            </a:r>
            <a:r>
              <a:rPr b="0" i="0" lang="en-US" sz="3200" u="none">
                <a:solidFill>
                  <a:schemeClr val="dk1"/>
                </a:solidFill>
                <a:latin typeface="Arial"/>
                <a:ea typeface="Arial"/>
                <a:cs typeface="Arial"/>
                <a:sym typeface="Arial"/>
              </a:rPr>
              <a:t>: Consulting professionals or academics.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Steps in Selecting a Research Problem</a:t>
            </a:r>
            <a:endParaRPr/>
          </a:p>
        </p:txBody>
      </p:sp>
      <p:sp>
        <p:nvSpPr>
          <p:cNvPr id="237" name="Google Shape;237;p35"/>
          <p:cNvSpPr txBox="1"/>
          <p:nvPr>
            <p:ph idx="1" type="body"/>
          </p:nvPr>
        </p:nvSpPr>
        <p:spPr>
          <a:xfrm>
            <a:off x="457200" y="1354137"/>
            <a:ext cx="8229600" cy="5018087"/>
          </a:xfrm>
          <a:prstGeom prst="rect">
            <a:avLst/>
          </a:prstGeom>
          <a:noFill/>
          <a:ln>
            <a:noFill/>
          </a:ln>
        </p:spPr>
        <p:txBody>
          <a:bodyPr anchorCtr="0" anchor="ctr" bIns="45700" lIns="91425" spcFirstLastPara="1" rIns="91425" wrap="square" tIns="45700">
            <a:spAutoFit/>
          </a:bodyPr>
          <a:lstStyle/>
          <a:p>
            <a:pPr indent="-203200" lvl="0" marL="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Explore the Broad Subject Area</a:t>
            </a:r>
            <a:r>
              <a:rPr b="0" i="0" lang="en-US" sz="3200" u="none">
                <a:solidFill>
                  <a:schemeClr val="dk1"/>
                </a:solidFill>
                <a:latin typeface="Arial"/>
                <a:ea typeface="Arial"/>
                <a:cs typeface="Arial"/>
                <a:sym typeface="Arial"/>
              </a:rPr>
              <a:t>: Identify the field of interest.</a:t>
            </a:r>
            <a:endParaRPr/>
          </a:p>
          <a:p>
            <a:pPr indent="-203200" lvl="0" marL="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Narrow Down to a Specific Issue</a:t>
            </a:r>
            <a:r>
              <a:rPr b="0" i="0" lang="en-US" sz="3200" u="none">
                <a:solidFill>
                  <a:schemeClr val="dk1"/>
                </a:solidFill>
                <a:latin typeface="Arial"/>
                <a:ea typeface="Arial"/>
                <a:cs typeface="Arial"/>
                <a:sym typeface="Arial"/>
              </a:rPr>
              <a:t>: Focus on a manageable aspect.</a:t>
            </a:r>
            <a:endParaRPr/>
          </a:p>
          <a:p>
            <a:pPr indent="-203200" lvl="0" marL="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Review the Literature</a:t>
            </a:r>
            <a:r>
              <a:rPr b="0" i="0" lang="en-US" sz="3200" u="none">
                <a:solidFill>
                  <a:schemeClr val="dk1"/>
                </a:solidFill>
                <a:latin typeface="Arial"/>
                <a:ea typeface="Arial"/>
                <a:cs typeface="Arial"/>
                <a:sym typeface="Arial"/>
              </a:rPr>
              <a:t>: Understand existing studies and gaps.</a:t>
            </a:r>
            <a:endParaRPr/>
          </a:p>
          <a:p>
            <a:pPr indent="-203200" lvl="0" marL="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Assess Feasibility</a:t>
            </a:r>
            <a:r>
              <a:rPr b="0" i="0" lang="en-US" sz="3200" u="none">
                <a:solidFill>
                  <a:schemeClr val="dk1"/>
                </a:solidFill>
                <a:latin typeface="Arial"/>
                <a:ea typeface="Arial"/>
                <a:cs typeface="Arial"/>
                <a:sym typeface="Arial"/>
              </a:rPr>
              <a:t>: Consider resources, scope, and time.</a:t>
            </a:r>
            <a:endParaRPr/>
          </a:p>
          <a:p>
            <a:pPr indent="-203200" lvl="0" marL="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Formulate Initial Questions</a:t>
            </a:r>
            <a:r>
              <a:rPr b="0" i="0" lang="en-US" sz="3200" u="none">
                <a:solidFill>
                  <a:schemeClr val="dk1"/>
                </a:solidFill>
                <a:latin typeface="Arial"/>
                <a:ea typeface="Arial"/>
                <a:cs typeface="Arial"/>
                <a:sym typeface="Arial"/>
              </a:rPr>
              <a:t>: Begin with general questions before refinement.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Defining the Research Problem</a:t>
            </a:r>
            <a:endParaRPr/>
          </a:p>
        </p:txBody>
      </p:sp>
      <p:sp>
        <p:nvSpPr>
          <p:cNvPr id="243" name="Google Shape;243;p3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Clear articulation of the problem.</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Should be concise and precise.</a:t>
            </a:r>
            <a:endParaRPr/>
          </a:p>
          <a:p>
            <a:pPr indent="-342900" lvl="0" marL="342900" marR="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Calibri"/>
                <a:ea typeface="Calibri"/>
                <a:cs typeface="Calibri"/>
                <a:sym typeface="Calibri"/>
              </a:rPr>
              <a:t>Example</a:t>
            </a:r>
            <a:r>
              <a:rPr b="0" i="0" lang="en-US" sz="3200" u="none">
                <a:solidFill>
                  <a:schemeClr val="dk1"/>
                </a:solidFill>
                <a:latin typeface="Calibri"/>
                <a:ea typeface="Calibri"/>
                <a:cs typeface="Calibri"/>
                <a:sym typeface="Calibri"/>
              </a:rPr>
              <a:t>: "What is the impact of social media on consumer buying behavior in the retail industry?"</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Steps in Defining the Problem</a:t>
            </a:r>
            <a:endParaRPr/>
          </a:p>
        </p:txBody>
      </p:sp>
      <p:sp>
        <p:nvSpPr>
          <p:cNvPr id="249" name="Google Shape;249;p37"/>
          <p:cNvSpPr txBox="1"/>
          <p:nvPr>
            <p:ph idx="1" type="body"/>
          </p:nvPr>
        </p:nvSpPr>
        <p:spPr>
          <a:xfrm>
            <a:off x="457200" y="2093912"/>
            <a:ext cx="8458200" cy="3538537"/>
          </a:xfrm>
          <a:prstGeom prst="rect">
            <a:avLst/>
          </a:prstGeom>
          <a:noFill/>
          <a:ln>
            <a:noFill/>
          </a:ln>
        </p:spPr>
        <p:txBody>
          <a:bodyPr anchorCtr="0" anchor="ctr" bIns="45700" lIns="91425" spcFirstLastPara="1" rIns="91425" wrap="square" tIns="45700">
            <a:spAutoFit/>
          </a:bodyPr>
          <a:lstStyle/>
          <a:p>
            <a:pPr indent="-177800" lvl="0" marL="0" marR="0" rtl="0" algn="just">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State the Problem Clearly</a:t>
            </a:r>
            <a:r>
              <a:rPr b="0" i="0" lang="en-US" sz="2800" u="none">
                <a:solidFill>
                  <a:schemeClr val="dk1"/>
                </a:solidFill>
                <a:latin typeface="Arial"/>
                <a:ea typeface="Arial"/>
                <a:cs typeface="Arial"/>
                <a:sym typeface="Arial"/>
              </a:rPr>
              <a:t>: In one or two sentences.</a:t>
            </a:r>
            <a:endParaRPr/>
          </a:p>
          <a:p>
            <a:pPr indent="-177800" lvl="0" marL="0" marR="0" rtl="0" algn="just">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Specify Key Variables</a:t>
            </a:r>
            <a:r>
              <a:rPr b="0" i="0" lang="en-US" sz="2800" u="none">
                <a:solidFill>
                  <a:schemeClr val="dk1"/>
                </a:solidFill>
                <a:latin typeface="Arial"/>
                <a:ea typeface="Arial"/>
                <a:cs typeface="Arial"/>
                <a:sym typeface="Arial"/>
              </a:rPr>
              <a:t>: Identify dependent and independent variables.</a:t>
            </a:r>
            <a:endParaRPr/>
          </a:p>
          <a:p>
            <a:pPr indent="-177800" lvl="0" marL="0" marR="0" rtl="0" algn="just">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Contextualize the Problem</a:t>
            </a:r>
            <a:r>
              <a:rPr b="0" i="0" lang="en-US" sz="2800" u="none">
                <a:solidFill>
                  <a:schemeClr val="dk1"/>
                </a:solidFill>
                <a:latin typeface="Arial"/>
                <a:ea typeface="Arial"/>
                <a:cs typeface="Arial"/>
                <a:sym typeface="Arial"/>
              </a:rPr>
              <a:t>: Relate it to the broader research area.</a:t>
            </a:r>
            <a:endParaRPr/>
          </a:p>
          <a:p>
            <a:pPr indent="-177800" lvl="0" marL="0" marR="0" rtl="0" algn="just">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Identify the Research Objectives</a:t>
            </a:r>
            <a:r>
              <a:rPr b="0" i="0" lang="en-US" sz="2800" u="none">
                <a:solidFill>
                  <a:schemeClr val="dk1"/>
                </a:solidFill>
                <a:latin typeface="Arial"/>
                <a:ea typeface="Arial"/>
                <a:cs typeface="Arial"/>
                <a:sym typeface="Arial"/>
              </a:rPr>
              <a:t>: Outline the purpose of the study.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Example: Defining a Research Problem</a:t>
            </a:r>
            <a:endParaRPr/>
          </a:p>
        </p:txBody>
      </p:sp>
      <p:sp>
        <p:nvSpPr>
          <p:cNvPr id="255" name="Google Shape;255;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just">
              <a:lnSpc>
                <a:spcPct val="100000"/>
              </a:lnSpc>
              <a:spcBef>
                <a:spcPts val="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Topic</a:t>
            </a:r>
            <a:r>
              <a:rPr b="0" i="0" lang="en-US" sz="3200" u="none">
                <a:solidFill>
                  <a:schemeClr val="dk1"/>
                </a:solidFill>
                <a:latin typeface="Arial"/>
                <a:ea typeface="Arial"/>
                <a:cs typeface="Arial"/>
                <a:sym typeface="Arial"/>
              </a:rPr>
              <a:t>: The impact of digital marketing on small businesses.</a:t>
            </a:r>
            <a:endParaRPr/>
          </a:p>
          <a:p>
            <a:pPr indent="-342900" lvl="0" marL="342900" marR="0" rtl="0" algn="just">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Research Problem</a:t>
            </a:r>
            <a:r>
              <a:rPr b="0" i="0" lang="en-US" sz="3200" u="none">
                <a:solidFill>
                  <a:schemeClr val="dk1"/>
                </a:solidFill>
                <a:latin typeface="Arial"/>
                <a:ea typeface="Arial"/>
                <a:cs typeface="Arial"/>
                <a:sym typeface="Arial"/>
              </a:rPr>
              <a:t>: "How does the adoption of digital marketing strategies influence the profitability and growth of small businesses in urban areas?" </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Activity for Students</a:t>
            </a:r>
            <a:endParaRPr/>
          </a:p>
        </p:txBody>
      </p:sp>
      <p:sp>
        <p:nvSpPr>
          <p:cNvPr id="261" name="Google Shape;261;p39"/>
          <p:cNvSpPr txBox="1"/>
          <p:nvPr>
            <p:ph idx="1" type="body"/>
          </p:nvPr>
        </p:nvSpPr>
        <p:spPr>
          <a:xfrm>
            <a:off x="457200" y="2847975"/>
            <a:ext cx="8339137" cy="2030412"/>
          </a:xfrm>
          <a:prstGeom prst="rect">
            <a:avLst/>
          </a:prstGeom>
          <a:noFill/>
          <a:ln>
            <a:noFill/>
          </a:ln>
        </p:spPr>
        <p:txBody>
          <a:bodyPr anchorCtr="0" anchor="ctr" bIns="45700" lIns="91425" spcFirstLastPara="1" rIns="91425" wrap="square" tIns="45700">
            <a:spAutoFit/>
          </a:bodyPr>
          <a:lstStyle/>
          <a:p>
            <a:pPr indent="-177800" lvl="0" marL="0" marR="0" rtl="0" algn="l">
              <a:lnSpc>
                <a:spcPct val="15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Select a broad topic of interest.</a:t>
            </a:r>
            <a:endParaRPr/>
          </a:p>
          <a:p>
            <a:pPr indent="-177800" lvl="0" marL="0" marR="0" rtl="0" algn="l">
              <a:lnSpc>
                <a:spcPct val="15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Narrow down to a specific research problem.</a:t>
            </a:r>
            <a:endParaRPr/>
          </a:p>
          <a:p>
            <a:pPr indent="-177800" lvl="0" marL="0" marR="0" rtl="0" algn="l">
              <a:lnSpc>
                <a:spcPct val="15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Write a clear problem statement in 2-3 sentences.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0"/>
          <p:cNvSpPr txBox="1"/>
          <p:nvPr>
            <p:ph idx="1" type="body"/>
          </p:nvPr>
        </p:nvSpPr>
        <p:spPr>
          <a:xfrm>
            <a:off x="457200" y="1524000"/>
            <a:ext cx="8229600" cy="5105400"/>
          </a:xfrm>
          <a:prstGeom prst="rect">
            <a:avLst/>
          </a:prstGeom>
          <a:noFill/>
          <a:ln>
            <a:noFill/>
          </a:ln>
        </p:spPr>
        <p:txBody>
          <a:bodyPr anchorCtr="0" anchor="t" bIns="45700" lIns="91425" spcFirstLastPara="1" rIns="91425" wrap="square" tIns="45700">
            <a:normAutofit/>
          </a:bodyPr>
          <a:lstStyle/>
          <a:p>
            <a:pPr indent="-215900" lvl="0" marL="342900" marR="0" rtl="0" algn="just">
              <a:lnSpc>
                <a:spcPct val="100000"/>
              </a:lnSpc>
              <a:spcBef>
                <a:spcPts val="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a:p>
            <a:pPr indent="-215900" lvl="0" marL="34290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a:p>
            <a:pPr indent="-215900" lvl="0" marL="34290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p:txBody>
      </p:sp>
      <p:graphicFrame>
        <p:nvGraphicFramePr>
          <p:cNvPr id="267" name="Google Shape;267;p40"/>
          <p:cNvGraphicFramePr/>
          <p:nvPr/>
        </p:nvGraphicFramePr>
        <p:xfrm>
          <a:off x="228600" y="228600"/>
          <a:ext cx="3000000" cy="3000000"/>
        </p:xfrm>
        <a:graphic>
          <a:graphicData uri="http://schemas.openxmlformats.org/drawingml/2006/table">
            <a:tbl>
              <a:tblPr>
                <a:noFill/>
                <a:tableStyleId>{07631165-B9DA-4790-9F95-20D87538478B}</a:tableStyleId>
              </a:tblPr>
              <a:tblGrid>
                <a:gridCol w="3121025"/>
                <a:gridCol w="2444750"/>
                <a:gridCol w="3121025"/>
              </a:tblGrid>
              <a:tr h="966775">
                <a:tc>
                  <a:txBody>
                    <a:bodyPr/>
                    <a:lstStyle/>
                    <a:p>
                      <a:pPr indent="0" lvl="0" marL="0" marR="0" rtl="0" algn="l">
                        <a:lnSpc>
                          <a:spcPct val="100000"/>
                        </a:lnSpc>
                        <a:spcBef>
                          <a:spcPts val="0"/>
                        </a:spcBef>
                        <a:spcAft>
                          <a:spcPts val="0"/>
                        </a:spcAft>
                        <a:buClr>
                          <a:srgbClr val="FFFFFF"/>
                        </a:buClr>
                        <a:buSzPts val="1800"/>
                        <a:buFont typeface="Times New Roman"/>
                        <a:buNone/>
                      </a:pPr>
                      <a:r>
                        <a:rPr b="1" i="0" lang="en-US" sz="1800" u="none" cap="none" strike="noStrike">
                          <a:solidFill>
                            <a:srgbClr val="FFFFFF"/>
                          </a:solidFill>
                          <a:latin typeface="Times New Roman"/>
                          <a:ea typeface="Times New Roman"/>
                          <a:cs typeface="Times New Roman"/>
                          <a:sym typeface="Times New Roman"/>
                        </a:rPr>
                        <a:t>Question  to be asked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Times New Roman"/>
                        <a:buNone/>
                      </a:pPr>
                      <a:r>
                        <a:rPr b="1" i="0" lang="en-US" sz="1800" u="none" cap="none" strike="noStrike">
                          <a:solidFill>
                            <a:srgbClr val="FFFFFF"/>
                          </a:solidFill>
                          <a:latin typeface="Times New Roman"/>
                          <a:ea typeface="Times New Roman"/>
                          <a:cs typeface="Times New Roman"/>
                          <a:sym typeface="Times New Roman"/>
                        </a:rPr>
                        <a:t>Steps to be taken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Times New Roman"/>
                        <a:buNone/>
                      </a:pPr>
                      <a:r>
                        <a:rPr b="1" i="0" lang="en-US" sz="1800" u="none" cap="none" strike="noStrike">
                          <a:solidFill>
                            <a:srgbClr val="FFFFFF"/>
                          </a:solidFill>
                          <a:latin typeface="Times New Roman"/>
                          <a:ea typeface="Times New Roman"/>
                          <a:cs typeface="Times New Roman"/>
                          <a:sym typeface="Times New Roman"/>
                        </a:rPr>
                        <a:t>Elements of the step</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966775">
                <a:tc>
                  <a:txBody>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Who will collect and when?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Work plan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114300" lvl="0" marL="0" marR="0" rtl="0" algn="l">
                        <a:lnSpc>
                          <a:spcPct val="100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Personnel, manpower</a:t>
                      </a:r>
                      <a:endParaRPr/>
                    </a:p>
                    <a:p>
                      <a:pPr indent="-114300" lvl="0" marL="0" marR="0" rtl="0" algn="l">
                        <a:lnSpc>
                          <a:spcPct val="100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 Timetable</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1489075">
                <a:tc>
                  <a:txBody>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How will be monitored? </a:t>
                      </a:r>
                      <a:endParaRPr/>
                    </a:p>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How the research findings will be used?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Research administration plan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-Administration</a:t>
                      </a:r>
                      <a:endParaRPr/>
                    </a:p>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 - Monitoring </a:t>
                      </a:r>
                      <a:endParaRPr/>
                    </a:p>
                    <a:p>
                      <a:pPr indent="-114300" lvl="0" marL="0" marR="0" rtl="0" algn="l">
                        <a:lnSpc>
                          <a:spcPct val="100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Identification of potential users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1489075">
                <a:tc>
                  <a:txBody>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What and how much resources are needed?</a:t>
                      </a:r>
                      <a:endParaRPr/>
                    </a:p>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Who will provide the resources ?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Budget</a:t>
                      </a:r>
                      <a:endParaRPr/>
                    </a:p>
                    <a:p>
                      <a:pPr indent="0" lvl="0" marL="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Funding Organizations</a:t>
                      </a:r>
                      <a:endParaRPr/>
                    </a:p>
                    <a:p>
                      <a:pPr indent="0" lvl="0" marL="0" marR="0" rtl="0" algn="l">
                        <a:spcBef>
                          <a:spcPts val="0"/>
                        </a:spcBef>
                        <a:spcAft>
                          <a:spcPts val="0"/>
                        </a:spcAft>
                        <a:buNone/>
                      </a:pPr>
                      <a:r>
                        <a:t/>
                      </a:r>
                      <a:endParaRPr b="0" i="0" sz="1800" u="none">
                        <a:solidFill>
                          <a:srgbClr val="00000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114300" lvl="0" marL="0" marR="0" rtl="0" algn="l">
                        <a:lnSpc>
                          <a:spcPct val="100000"/>
                        </a:lnSpc>
                        <a:spcBef>
                          <a:spcPts val="0"/>
                        </a:spcBef>
                        <a:spcAft>
                          <a:spcPts val="0"/>
                        </a:spcAft>
                        <a:buClr>
                          <a:srgbClr val="000000"/>
                        </a:buClr>
                        <a:buSzPts val="1800"/>
                        <a:buFont typeface="Times New Roman"/>
                        <a:buChar char="-"/>
                      </a:pPr>
                      <a:r>
                        <a:rPr b="0" i="0" lang="en-US" sz="1800" u="none">
                          <a:solidFill>
                            <a:srgbClr val="000000"/>
                          </a:solidFill>
                          <a:latin typeface="Times New Roman"/>
                          <a:ea typeface="Times New Roman"/>
                          <a:cs typeface="Times New Roman"/>
                          <a:sym typeface="Times New Roman"/>
                        </a:rPr>
                        <a:t>3 Ms: Man, materials, money</a:t>
                      </a:r>
                      <a:endParaRPr/>
                    </a:p>
                    <a:p>
                      <a:pPr indent="-114300" lvl="0" marL="0" marR="0" rtl="0" algn="l">
                        <a:lnSpc>
                          <a:spcPct val="100000"/>
                        </a:lnSpc>
                        <a:spcBef>
                          <a:spcPts val="0"/>
                        </a:spcBef>
                        <a:spcAft>
                          <a:spcPts val="0"/>
                        </a:spcAft>
                        <a:buClr>
                          <a:srgbClr val="000000"/>
                        </a:buClr>
                        <a:buSzPts val="1800"/>
                        <a:buFont typeface="Times New Roman"/>
                        <a:buChar char="-"/>
                      </a:pPr>
                      <a:r>
                        <a:rPr b="0" i="0" lang="en-US" sz="1800" u="none">
                          <a:solidFill>
                            <a:srgbClr val="000000"/>
                          </a:solidFill>
                          <a:latin typeface="Times New Roman"/>
                          <a:ea typeface="Times New Roman"/>
                          <a:cs typeface="Times New Roman"/>
                          <a:sym typeface="Times New Roman"/>
                        </a:rPr>
                        <a:t> Fund collection, fund raising</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1489075">
                <a:tc>
                  <a:txBody>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Who will submit?</a:t>
                      </a:r>
                      <a:endParaRPr/>
                    </a:p>
                    <a:p>
                      <a:pPr indent="0" lvl="0" marL="0" marR="0" rtl="0" algn="l">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How to submit? </a:t>
                      </a:r>
                      <a:endParaRPr/>
                    </a:p>
                    <a:p>
                      <a:pPr indent="0" lvl="0" marL="0" marR="0" rtl="0" algn="l">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Where to submit?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Proposal preparation</a:t>
                      </a:r>
                      <a:endParaRPr/>
                    </a:p>
                    <a:p>
                      <a:pPr indent="0" lvl="0" marL="0" marR="0" rtl="0" algn="l">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Proposal presentation</a:t>
                      </a:r>
                      <a:endParaRPr/>
                    </a:p>
                    <a:p>
                      <a:pPr indent="0" lvl="0" marL="0" marR="0" rtl="0" algn="l">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Appropriate authority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114300" lvl="0" marL="0" marR="0" rtl="0" algn="l">
                        <a:lnSpc>
                          <a:spcPct val="100000"/>
                        </a:lnSpc>
                        <a:spcBef>
                          <a:spcPts val="0"/>
                        </a:spcBef>
                        <a:spcAft>
                          <a:spcPts val="0"/>
                        </a:spcAft>
                        <a:buClr>
                          <a:srgbClr val="000000"/>
                        </a:buClr>
                        <a:buSzPts val="1800"/>
                        <a:buFont typeface="Times New Roman"/>
                        <a:buChar char="-"/>
                      </a:pPr>
                      <a:r>
                        <a:rPr b="0" i="0" lang="en-US" sz="1800" u="none">
                          <a:solidFill>
                            <a:srgbClr val="000000"/>
                          </a:solidFill>
                          <a:latin typeface="Times New Roman"/>
                          <a:ea typeface="Times New Roman"/>
                          <a:cs typeface="Times New Roman"/>
                          <a:sym typeface="Times New Roman"/>
                        </a:rPr>
                        <a:t>Researcher</a:t>
                      </a:r>
                      <a:endParaRPr/>
                    </a:p>
                    <a:p>
                      <a:pPr indent="-114300" lvl="0" marL="0" marR="0" rtl="0" algn="l">
                        <a:lnSpc>
                          <a:spcPct val="100000"/>
                        </a:lnSpc>
                        <a:spcBef>
                          <a:spcPts val="0"/>
                        </a:spcBef>
                        <a:spcAft>
                          <a:spcPts val="0"/>
                        </a:spcAft>
                        <a:buClr>
                          <a:srgbClr val="000000"/>
                        </a:buClr>
                        <a:buSzPts val="1800"/>
                        <a:buFont typeface="Times New Roman"/>
                        <a:buChar char="-"/>
                      </a:pPr>
                      <a:r>
                        <a:rPr b="0" i="0" lang="en-US" sz="1800" u="none">
                          <a:solidFill>
                            <a:srgbClr val="000000"/>
                          </a:solidFill>
                          <a:latin typeface="Times New Roman"/>
                          <a:ea typeface="Times New Roman"/>
                          <a:cs typeface="Times New Roman"/>
                          <a:sym typeface="Times New Roman"/>
                        </a:rPr>
                        <a:t> Proposal</a:t>
                      </a:r>
                      <a:endParaRPr/>
                    </a:p>
                    <a:p>
                      <a:pPr indent="-114300" lvl="0" marL="0" marR="0" rtl="0" algn="l">
                        <a:lnSpc>
                          <a:spcPct val="100000"/>
                        </a:lnSpc>
                        <a:spcBef>
                          <a:spcPts val="0"/>
                        </a:spcBef>
                        <a:spcAft>
                          <a:spcPts val="0"/>
                        </a:spcAft>
                        <a:buClr>
                          <a:srgbClr val="000000"/>
                        </a:buClr>
                        <a:buSzPts val="1800"/>
                        <a:buFont typeface="Times New Roman"/>
                        <a:buChar char="-"/>
                      </a:pPr>
                      <a:r>
                        <a:rPr b="0" i="0" lang="en-US" sz="1800" u="none">
                          <a:solidFill>
                            <a:srgbClr val="000000"/>
                          </a:solidFill>
                          <a:latin typeface="Times New Roman"/>
                          <a:ea typeface="Times New Roman"/>
                          <a:cs typeface="Times New Roman"/>
                          <a:sym typeface="Times New Roman"/>
                        </a:rPr>
                        <a:t> Presentation techniques</a:t>
                      </a:r>
                      <a:endParaRPr/>
                    </a:p>
                    <a:p>
                      <a:pPr indent="0" lvl="0" marL="0" marR="0" rtl="0" algn="l">
                        <a:spcBef>
                          <a:spcPts val="0"/>
                        </a:spcBef>
                        <a:spcAft>
                          <a:spcPts val="0"/>
                        </a:spcAft>
                        <a:buNone/>
                      </a:pPr>
                      <a:r>
                        <a:t/>
                      </a:r>
                      <a:endParaRPr b="0" i="0" sz="1800" u="none">
                        <a:solidFill>
                          <a:srgbClr val="00000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RESEARCH QUESTION</a:t>
            </a:r>
            <a:endParaRPr/>
          </a:p>
        </p:txBody>
      </p:sp>
      <p:sp>
        <p:nvSpPr>
          <p:cNvPr id="273" name="Google Shape;273;p41"/>
          <p:cNvSpPr txBox="1"/>
          <p:nvPr>
            <p:ph idx="1" type="body"/>
          </p:nvPr>
        </p:nvSpPr>
        <p:spPr>
          <a:xfrm>
            <a:off x="381000" y="1600200"/>
            <a:ext cx="85344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 A research question is the hypothesis of choice that best states the objective of the research study.</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the choice hypothesis that best states the objective of the research; the answer to this question would provide the manager with the desired information necessary to make a decision with respect to the management dilemma. </a:t>
            </a:r>
            <a:endParaRPr/>
          </a:p>
          <a:p>
            <a:pPr indent="-165100" lvl="0" marL="342900" rtl="0" algn="l">
              <a:spcBef>
                <a:spcPts val="560"/>
              </a:spcBef>
              <a:spcAft>
                <a:spcPts val="0"/>
              </a:spcAft>
              <a:buClr>
                <a:schemeClr val="dk1"/>
              </a:buClr>
              <a:buSzPts val="2800"/>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RESEARCH QUESTION</a:t>
            </a:r>
            <a:endParaRPr/>
          </a:p>
        </p:txBody>
      </p:sp>
      <p:sp>
        <p:nvSpPr>
          <p:cNvPr id="279" name="Google Shape;279;p42"/>
          <p:cNvSpPr txBox="1"/>
          <p:nvPr>
            <p:ph idx="1" type="body"/>
          </p:nvPr>
        </p:nvSpPr>
        <p:spPr>
          <a:xfrm>
            <a:off x="228600" y="1447800"/>
            <a:ext cx="8534400" cy="49530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At this stage, a clear picture of the management and research questions begins to emerge </a:t>
            </a:r>
            <a:endParaRPr/>
          </a:p>
          <a:p>
            <a:pPr indent="-342900" lvl="0" marL="34290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Fine tune the </a:t>
            </a:r>
            <a:r>
              <a:rPr b="0" i="1" lang="en-US" sz="2800" u="none">
                <a:solidFill>
                  <a:srgbClr val="CD0B42"/>
                </a:solidFill>
                <a:latin typeface="Times New Roman"/>
                <a:ea typeface="Times New Roman"/>
                <a:cs typeface="Times New Roman"/>
                <a:sym typeface="Times New Roman"/>
              </a:rPr>
              <a:t>research question</a:t>
            </a:r>
            <a:endParaRPr b="0" i="0" sz="2800" u="none">
              <a:solidFill>
                <a:schemeClr val="dk1"/>
              </a:solidFill>
              <a:latin typeface="Times New Roman"/>
              <a:ea typeface="Times New Roman"/>
              <a:cs typeface="Times New Roman"/>
              <a:sym typeface="Times New Roman"/>
            </a:endParaRPr>
          </a:p>
          <a:p>
            <a:pPr indent="-285750" lvl="1" marL="74295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Examine concepts and constructs </a:t>
            </a:r>
            <a:endParaRPr/>
          </a:p>
          <a:p>
            <a:pPr indent="-285750" lvl="1" marL="74295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Break research questions into specific second-and-third-level questions</a:t>
            </a:r>
            <a:endParaRPr/>
          </a:p>
          <a:p>
            <a:pPr indent="-285750" lvl="1" marL="74295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Verify hypotheses with quality tests</a:t>
            </a:r>
            <a:endParaRPr/>
          </a:p>
          <a:p>
            <a:pPr indent="-285750" lvl="1" marL="74295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Determine what evidence answers the various questions and hypothesis</a:t>
            </a:r>
            <a:endParaRPr/>
          </a:p>
          <a:p>
            <a:pPr indent="-285750" lvl="1" marL="74295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Set the scope of your study</a:t>
            </a:r>
            <a:endParaRPr/>
          </a:p>
          <a:p>
            <a:pPr indent="-165100" lvl="0" marL="342900" rtl="0" algn="l">
              <a:spcBef>
                <a:spcPts val="560"/>
              </a:spcBef>
              <a:spcAft>
                <a:spcPts val="0"/>
              </a:spcAft>
              <a:buClr>
                <a:schemeClr val="dk1"/>
              </a:buClr>
              <a:buSzPts val="2800"/>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Times New Roman"/>
              <a:buNone/>
            </a:pPr>
            <a:r>
              <a:rPr b="0" i="0" lang="en-US" sz="4400" u="none">
                <a:solidFill>
                  <a:schemeClr val="dk1"/>
                </a:solidFill>
                <a:latin typeface="Times New Roman"/>
                <a:ea typeface="Times New Roman"/>
                <a:cs typeface="Times New Roman"/>
                <a:sym typeface="Times New Roman"/>
              </a:rPr>
              <a:t>Research Question</a:t>
            </a:r>
            <a:endParaRPr/>
          </a:p>
        </p:txBody>
      </p:sp>
      <p:sp>
        <p:nvSpPr>
          <p:cNvPr id="285" name="Google Shape;285;p43"/>
          <p:cNvSpPr txBox="1"/>
          <p:nvPr>
            <p:ph idx="1" type="body"/>
          </p:nvPr>
        </p:nvSpPr>
        <p:spPr>
          <a:xfrm>
            <a:off x="152400" y="1447800"/>
            <a:ext cx="8686800" cy="54102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Fine tune the </a:t>
            </a:r>
            <a:r>
              <a:rPr b="0" i="1" lang="en-US" sz="2400" u="none">
                <a:solidFill>
                  <a:srgbClr val="CD0B42"/>
                </a:solidFill>
                <a:latin typeface="Times New Roman"/>
                <a:ea typeface="Times New Roman"/>
                <a:cs typeface="Times New Roman"/>
                <a:sym typeface="Times New Roman"/>
              </a:rPr>
              <a:t>research question</a:t>
            </a:r>
            <a:endParaRPr b="0" i="0" sz="2400" u="none">
              <a:solidFill>
                <a:schemeClr val="dk1"/>
              </a:solidFill>
              <a:latin typeface="Times New Roman"/>
              <a:ea typeface="Times New Roman"/>
              <a:cs typeface="Times New Roman"/>
              <a:sym typeface="Times New Roman"/>
            </a:endParaRPr>
          </a:p>
          <a:p>
            <a:pPr indent="-285750" lvl="1" marL="74295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Examine concepts and constructs.  Are they satisfactorily defined ? Have operational definitions been employed where appropriate ?</a:t>
            </a:r>
            <a:endParaRPr/>
          </a:p>
          <a:p>
            <a:pPr indent="-285750" lvl="1" marL="74295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Review the research questions with the intent of breaking them down into specific second-and-third-level questions</a:t>
            </a:r>
            <a:endParaRPr/>
          </a:p>
          <a:p>
            <a:pPr indent="-285750" lvl="1" marL="74295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If hypotheses are used, be certain they meet the quality tests mentioned in the preceding chapter.</a:t>
            </a:r>
            <a:endParaRPr/>
          </a:p>
          <a:p>
            <a:pPr indent="-285750" lvl="1" marL="74295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Determine what evidence must be collected to answer the various questions and hypothesis</a:t>
            </a:r>
            <a:endParaRPr/>
          </a:p>
          <a:p>
            <a:pPr indent="-285750" lvl="1" marL="74295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Set the scope of the study by stating what is not a part of the research question.  This will establish a boundary to separate contiguous problems from the primary objective</a:t>
            </a:r>
            <a:endParaRPr/>
          </a:p>
          <a:p>
            <a:pPr indent="-190500" lvl="0" marL="342900" rtl="0" algn="l">
              <a:spcBef>
                <a:spcPts val="480"/>
              </a:spcBef>
              <a:spcAft>
                <a:spcPts val="0"/>
              </a:spcAft>
              <a:buClr>
                <a:schemeClr val="dk1"/>
              </a:buClr>
              <a:buSzPts val="2400"/>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4"/>
          <p:cNvSpPr txBox="1"/>
          <p:nvPr>
            <p:ph idx="4294967295" type="title"/>
          </p:nvPr>
        </p:nvSpPr>
        <p:spPr>
          <a:xfrm>
            <a:off x="609600" y="228600"/>
            <a:ext cx="7543800" cy="731837"/>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3600"/>
              <a:buFont typeface="Times New Roman"/>
              <a:buNone/>
            </a:pPr>
            <a:br>
              <a:rPr b="0" i="1" lang="en-US" sz="3600" u="none" cap="none" strike="noStrike">
                <a:solidFill>
                  <a:schemeClr val="dk1"/>
                </a:solidFill>
                <a:latin typeface="Times New Roman"/>
                <a:ea typeface="Times New Roman"/>
                <a:cs typeface="Times New Roman"/>
                <a:sym typeface="Times New Roman"/>
              </a:rPr>
            </a:br>
            <a:r>
              <a:rPr b="1" i="0" lang="en-US" sz="3600" u="none" cap="none" strike="noStrike">
                <a:solidFill>
                  <a:schemeClr val="dk1"/>
                </a:solidFill>
                <a:latin typeface="Times New Roman"/>
                <a:ea typeface="Times New Roman"/>
                <a:cs typeface="Times New Roman"/>
                <a:sym typeface="Times New Roman"/>
              </a:rPr>
              <a:t> RESEARCH: PROPOSAL </a:t>
            </a:r>
            <a:endParaRPr/>
          </a:p>
        </p:txBody>
      </p:sp>
      <p:sp>
        <p:nvSpPr>
          <p:cNvPr id="291" name="Google Shape;291;p44"/>
          <p:cNvSpPr txBox="1"/>
          <p:nvPr>
            <p:ph idx="4294967295" type="body"/>
          </p:nvPr>
        </p:nvSpPr>
        <p:spPr>
          <a:xfrm>
            <a:off x="381000" y="1719262"/>
            <a:ext cx="8610600" cy="44116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 …is format and detailed statement of intent of the researcher</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…..presents and justifies a plan of action and shows the investigation plan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5"/>
          <p:cNvSpPr txBox="1"/>
          <p:nvPr>
            <p:ph type="title"/>
          </p:nvPr>
        </p:nvSpPr>
        <p:spPr>
          <a:xfrm>
            <a:off x="381000" y="277812"/>
            <a:ext cx="8229600" cy="11398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WHAT IS A RESEARCH PROPOSAL?</a:t>
            </a:r>
            <a:br>
              <a:rPr b="1" i="0" lang="en-US" sz="2800" u="none">
                <a:solidFill>
                  <a:schemeClr val="dk1"/>
                </a:solidFill>
                <a:latin typeface="Times New Roman"/>
                <a:ea typeface="Times New Roman"/>
                <a:cs typeface="Times New Roman"/>
                <a:sym typeface="Times New Roman"/>
              </a:rPr>
            </a:br>
            <a:r>
              <a:rPr b="1" i="0" lang="en-US" sz="2800" u="none">
                <a:solidFill>
                  <a:srgbClr val="FF0000"/>
                </a:solidFill>
                <a:latin typeface="Times New Roman"/>
                <a:ea typeface="Times New Roman"/>
                <a:cs typeface="Times New Roman"/>
                <a:sym typeface="Times New Roman"/>
              </a:rPr>
              <a:t>CONTENT BEYOND SYLLABUS  </a:t>
            </a:r>
            <a:endParaRPr/>
          </a:p>
        </p:txBody>
      </p:sp>
      <p:sp>
        <p:nvSpPr>
          <p:cNvPr id="297" name="Google Shape;297;p45"/>
          <p:cNvSpPr txBox="1"/>
          <p:nvPr>
            <p:ph idx="1" type="body"/>
          </p:nvPr>
        </p:nvSpPr>
        <p:spPr>
          <a:xfrm>
            <a:off x="228600" y="1295400"/>
            <a:ext cx="8686800" cy="54102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 Various terminologies are used to mean a research proposal depending on why the research is carried out? </a:t>
            </a:r>
            <a:endParaRPr/>
          </a:p>
          <a:p>
            <a:pPr indent="0" lvl="0" marL="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Research outline</a:t>
            </a:r>
            <a:endParaRPr/>
          </a:p>
          <a:p>
            <a:pPr indent="0" lvl="0" marL="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Synopsis of research</a:t>
            </a:r>
            <a:endParaRPr/>
          </a:p>
          <a:p>
            <a:pPr indent="0" lvl="0" marL="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Plan of research</a:t>
            </a:r>
            <a:endParaRPr/>
          </a:p>
          <a:p>
            <a:pPr indent="0" lvl="0" marL="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Research/project proposal</a:t>
            </a:r>
            <a:endParaRPr/>
          </a:p>
          <a:p>
            <a:pPr indent="0" lvl="0" marL="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Thesis plan</a:t>
            </a:r>
            <a:endParaRPr/>
          </a:p>
          <a:p>
            <a:pPr indent="0" lvl="0" marL="0" marR="0" rtl="0" algn="just">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Etc </a:t>
            </a:r>
            <a:endParaRPr/>
          </a:p>
          <a:p>
            <a:pPr indent="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 ..a blue print of future activities of a research project</a:t>
            </a:r>
            <a:endParaRPr/>
          </a:p>
          <a:p>
            <a:pPr indent="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…..some sort of preconceived framework for starting the activities</a:t>
            </a:r>
            <a:endParaRPr/>
          </a:p>
          <a:p>
            <a:pPr indent="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…..deals with ideas of researcher about what research he/she wants to do, what objectives and methodology he/she has set, how much time and resources are required to complete it, how the research finding are to be reported, and so on. </a:t>
            </a:r>
            <a:endParaRPr/>
          </a:p>
          <a:p>
            <a:pPr indent="152400" lvl="0" marL="0" marR="0" rtl="0" algn="just">
              <a:lnSpc>
                <a:spcPct val="100000"/>
              </a:lnSpc>
              <a:spcBef>
                <a:spcPts val="0"/>
              </a:spcBef>
              <a:spcAft>
                <a:spcPts val="0"/>
              </a:spcAft>
              <a:buClr>
                <a:schemeClr val="dk1"/>
              </a:buClr>
              <a:buSzPts val="2400"/>
              <a:buFont typeface="Noto Sans Symbols"/>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WHAT IS A RESEARCH PROPOSAL?</a:t>
            </a:r>
            <a:br>
              <a:rPr b="1" i="0" lang="en-US" sz="2800" u="none">
                <a:solidFill>
                  <a:schemeClr val="dk1"/>
                </a:solidFill>
                <a:latin typeface="Times New Roman"/>
                <a:ea typeface="Times New Roman"/>
                <a:cs typeface="Times New Roman"/>
                <a:sym typeface="Times New Roman"/>
              </a:rPr>
            </a:br>
            <a:r>
              <a:rPr b="1" i="0" lang="en-US" sz="2800" u="none">
                <a:solidFill>
                  <a:srgbClr val="FF0000"/>
                </a:solidFill>
                <a:latin typeface="Times New Roman"/>
                <a:ea typeface="Times New Roman"/>
                <a:cs typeface="Times New Roman"/>
                <a:sym typeface="Times New Roman"/>
              </a:rPr>
              <a:t>CONTENT BEYOND SYLLABUS</a:t>
            </a:r>
            <a:r>
              <a:rPr b="1" i="0" lang="en-US" sz="2800" u="none">
                <a:solidFill>
                  <a:schemeClr val="dk1"/>
                </a:solidFill>
                <a:latin typeface="Times New Roman"/>
                <a:ea typeface="Times New Roman"/>
                <a:cs typeface="Times New Roman"/>
                <a:sym typeface="Times New Roman"/>
              </a:rPr>
              <a:t> </a:t>
            </a:r>
            <a:endParaRPr/>
          </a:p>
        </p:txBody>
      </p:sp>
      <p:sp>
        <p:nvSpPr>
          <p:cNvPr id="303" name="Google Shape;303;p46"/>
          <p:cNvSpPr txBox="1"/>
          <p:nvPr>
            <p:ph idx="1" type="body"/>
          </p:nvPr>
        </p:nvSpPr>
        <p:spPr>
          <a:xfrm>
            <a:off x="457200" y="1371600"/>
            <a:ext cx="8229600" cy="5181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…..deals with ideas of researcher about </a:t>
            </a:r>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what researcher he/she wants to do</a:t>
            </a:r>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what objectives and methodology he/she has set</a:t>
            </a:r>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how much time and resources are required to complete it</a:t>
            </a:r>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how the research finding are to be reported</a:t>
            </a:r>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and so on. </a:t>
            </a:r>
            <a:endParaRPr/>
          </a:p>
          <a:p>
            <a:pPr indent="-342900" lvl="0" marL="342900" marR="0" rtl="0" algn="just">
              <a:lnSpc>
                <a:spcPct val="100000"/>
              </a:lnSpc>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..is an individual’s or a research institute's formal offer to produce a product or render service to a  client  in response to a request from the client</a:t>
            </a:r>
            <a:endParaRPr/>
          </a:p>
          <a:p>
            <a:pPr indent="-342900" lvl="0" marL="342900" marR="0" rtl="0" algn="just">
              <a:lnSpc>
                <a:spcPct val="10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 work plan, prospectus, outline, and statement of intent ahead. </a:t>
            </a:r>
            <a:endParaRPr/>
          </a:p>
          <a:p>
            <a:pPr indent="-342900" lvl="0" marL="342900" marR="0" rtl="0" algn="just">
              <a:lnSpc>
                <a:spcPct val="10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In short, he/she is proposing a work frame for completing the research</a:t>
            </a:r>
            <a:endParaRPr/>
          </a:p>
          <a:p>
            <a:pPr indent="-215900" lvl="0" marL="342900" marR="0" rtl="0" algn="just">
              <a:lnSpc>
                <a:spcPct val="100000"/>
              </a:lnSpc>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7"/>
          <p:cNvSpPr txBox="1"/>
          <p:nvPr>
            <p:ph type="title"/>
          </p:nvPr>
        </p:nvSpPr>
        <p:spPr>
          <a:xfrm>
            <a:off x="0" y="228600"/>
            <a:ext cx="9144000" cy="11398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HOW TO WRITE RESEARCH PROPOSAL? </a:t>
            </a:r>
            <a:br>
              <a:rPr b="1" i="0" lang="en-US" sz="2800" u="none">
                <a:solidFill>
                  <a:schemeClr val="dk1"/>
                </a:solidFill>
                <a:latin typeface="Times New Roman"/>
                <a:ea typeface="Times New Roman"/>
                <a:cs typeface="Times New Roman"/>
                <a:sym typeface="Times New Roman"/>
              </a:rPr>
            </a:br>
            <a:r>
              <a:rPr b="1" i="0" lang="en-US" sz="2800" u="none">
                <a:solidFill>
                  <a:srgbClr val="FF0000"/>
                </a:solidFill>
                <a:latin typeface="Times New Roman"/>
                <a:ea typeface="Times New Roman"/>
                <a:cs typeface="Times New Roman"/>
                <a:sym typeface="Times New Roman"/>
              </a:rPr>
              <a:t>CONTENT BEYOND SYLLABUS</a:t>
            </a:r>
            <a:endParaRPr/>
          </a:p>
        </p:txBody>
      </p:sp>
      <p:sp>
        <p:nvSpPr>
          <p:cNvPr id="309" name="Google Shape;309;p47"/>
          <p:cNvSpPr txBox="1"/>
          <p:nvPr>
            <p:ph idx="1" type="body"/>
          </p:nvPr>
        </p:nvSpPr>
        <p:spPr>
          <a:xfrm>
            <a:off x="457200" y="1524000"/>
            <a:ext cx="8458200" cy="4602162"/>
          </a:xfrm>
          <a:prstGeom prst="rect">
            <a:avLst/>
          </a:prstGeom>
          <a:noFill/>
          <a:ln>
            <a:noFill/>
          </a:ln>
        </p:spPr>
        <p:txBody>
          <a:bodyPr anchorCtr="0" anchor="t" bIns="45700" lIns="91425" spcFirstLastPara="1" rIns="91425" wrap="square" tIns="45700">
            <a:normAutofit/>
          </a:bodyPr>
          <a:lstStyle/>
          <a:p>
            <a:pPr indent="127000" lvl="0" marL="0" marR="0" rtl="0" algn="just">
              <a:lnSpc>
                <a:spcPct val="100000"/>
              </a:lnSpc>
              <a:spcBef>
                <a:spcPts val="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 research proposal is intended to convince others that you have a worthwhile research project and that you have the competence and the work-plan to complete it. </a:t>
            </a:r>
            <a:endParaRPr/>
          </a:p>
          <a:p>
            <a:pPr indent="0" lvl="0" marL="0" marR="0" rtl="0" algn="just">
              <a:lnSpc>
                <a:spcPct val="100000"/>
              </a:lnSpc>
              <a:spcBef>
                <a:spcPts val="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Generally, a research proposal should contain all the key elements involved in the research process and include sufficient information for the readers to evaluate the proposed study.</a:t>
            </a:r>
            <a:endParaRPr/>
          </a:p>
          <a:p>
            <a:pPr indent="0" lvl="0" marL="0" marR="0" rtl="0" algn="just">
              <a:lnSpc>
                <a:spcPct val="100000"/>
              </a:lnSpc>
              <a:spcBef>
                <a:spcPts val="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Regardless of your research area and the methodology you choose, all research proposals must address the following questions: </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What you plan to accomplish</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why you want to do it and </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how you are going to do it. </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8"/>
          <p:cNvSpPr txBox="1"/>
          <p:nvPr>
            <p:ph type="title"/>
          </p:nvPr>
        </p:nvSpPr>
        <p:spPr>
          <a:xfrm>
            <a:off x="533400" y="277812"/>
            <a:ext cx="8229600" cy="11398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HOW TO WRITE RESEARCH PROPOSAL? </a:t>
            </a:r>
            <a:br>
              <a:rPr b="1" i="0" lang="en-US" sz="2800" u="none">
                <a:solidFill>
                  <a:schemeClr val="dk1"/>
                </a:solidFill>
                <a:latin typeface="Times New Roman"/>
                <a:ea typeface="Times New Roman"/>
                <a:cs typeface="Times New Roman"/>
                <a:sym typeface="Times New Roman"/>
              </a:rPr>
            </a:br>
            <a:r>
              <a:rPr b="1" i="0" lang="en-US" sz="2800" u="none">
                <a:solidFill>
                  <a:srgbClr val="FF0000"/>
                </a:solidFill>
                <a:latin typeface="Times New Roman"/>
                <a:ea typeface="Times New Roman"/>
                <a:cs typeface="Times New Roman"/>
                <a:sym typeface="Times New Roman"/>
              </a:rPr>
              <a:t>CONTENT BEYOND SYLLABUS</a:t>
            </a:r>
            <a:endParaRPr/>
          </a:p>
        </p:txBody>
      </p:sp>
      <p:sp>
        <p:nvSpPr>
          <p:cNvPr id="315" name="Google Shape;315;p48"/>
          <p:cNvSpPr txBox="1"/>
          <p:nvPr>
            <p:ph idx="1" type="body"/>
          </p:nvPr>
        </p:nvSpPr>
        <p:spPr>
          <a:xfrm>
            <a:off x="457200" y="1600200"/>
            <a:ext cx="8229600" cy="4648200"/>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The proposal should have sufficient information to convince your readers that you have an important research idea, that you have a good grasp of the relevant literature and the major issues, and that your methodology is sound. </a:t>
            </a:r>
            <a:endParaRPr/>
          </a:p>
          <a:p>
            <a:pPr indent="0" lvl="0" marL="0" marR="0" rtl="0" algn="l">
              <a:lnSpc>
                <a:spcPct val="90000"/>
              </a:lnSpc>
              <a:spcBef>
                <a:spcPts val="0"/>
              </a:spcBef>
              <a:spcAft>
                <a:spcPts val="0"/>
              </a:spcAft>
              <a:buClr>
                <a:schemeClr val="dk1"/>
              </a:buClr>
              <a:buSzPts val="2000"/>
              <a:buFont typeface="Arial"/>
              <a:buNone/>
            </a:pPr>
            <a:r>
              <a:t/>
            </a:r>
            <a:endParaRPr b="1" i="0" sz="2000" u="non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Title</a:t>
            </a:r>
            <a:endParaRPr b="0" i="0" sz="2000" u="none">
              <a:solidFill>
                <a:schemeClr val="dk1"/>
              </a:solidFill>
              <a:latin typeface="Times New Roman"/>
              <a:ea typeface="Times New Roman"/>
              <a:cs typeface="Times New Roman"/>
              <a:sym typeface="Times New Roman"/>
            </a:endParaRPr>
          </a:p>
          <a:p>
            <a:pPr indent="0" lvl="0" marL="0" marR="0" rtl="0" algn="just">
              <a:lnSpc>
                <a:spcPct val="9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It should be concise and descriptive. Often titles are stated in terms of a functional relationship, because such titles clearly indicate the independent and dependent variables. However, if possible, think of an informative but catchy title. An effective title not only pricks the reader's interest, but also predisposes him/her favourably towards the proposal. </a:t>
            </a:r>
            <a:endParaRPr/>
          </a:p>
          <a:p>
            <a:pPr indent="127000" lvl="0" marL="0" marR="0" rtl="0" algn="just">
              <a:lnSpc>
                <a:spcPct val="90000"/>
              </a:lnSpc>
              <a:spcBef>
                <a:spcPts val="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0" lvl="0" marL="0" marR="0" rtl="0" algn="just">
              <a:lnSpc>
                <a:spcPct val="9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Abstract</a:t>
            </a:r>
            <a:endParaRPr/>
          </a:p>
          <a:p>
            <a:pPr indent="0" lvl="0" marL="0" marR="0" rtl="0" algn="just">
              <a:lnSpc>
                <a:spcPct val="9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It is a brief summary of approximately 300 words. It should include the research question, the rationale for the study, the hypothesis (if any), the method and the main findings. </a:t>
            </a:r>
            <a:endParaRPr/>
          </a:p>
          <a:p>
            <a:pPr indent="127000" lvl="0" marL="0" marR="0" rtl="0" algn="just">
              <a:lnSpc>
                <a:spcPct val="9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HOW TO WRITE RESEARCH PROPOSAL?</a:t>
            </a:r>
            <a:br>
              <a:rPr b="1" i="0" lang="en-US" sz="2800" u="none">
                <a:solidFill>
                  <a:schemeClr val="dk1"/>
                </a:solidFill>
                <a:latin typeface="Times New Roman"/>
                <a:ea typeface="Times New Roman"/>
                <a:cs typeface="Times New Roman"/>
                <a:sym typeface="Times New Roman"/>
              </a:rPr>
            </a:br>
            <a:r>
              <a:rPr b="1" i="0" lang="en-US" sz="2800" u="none">
                <a:solidFill>
                  <a:srgbClr val="FF0000"/>
                </a:solidFill>
                <a:latin typeface="Times New Roman"/>
                <a:ea typeface="Times New Roman"/>
                <a:cs typeface="Times New Roman"/>
                <a:sym typeface="Times New Roman"/>
              </a:rPr>
              <a:t>CONTENT BEYOND SYLLABUS</a:t>
            </a:r>
            <a:r>
              <a:rPr b="1" i="0" lang="en-US" sz="2800" u="none">
                <a:solidFill>
                  <a:schemeClr val="dk1"/>
                </a:solidFill>
                <a:latin typeface="Times New Roman"/>
                <a:ea typeface="Times New Roman"/>
                <a:cs typeface="Times New Roman"/>
                <a:sym typeface="Times New Roman"/>
              </a:rPr>
              <a:t> </a:t>
            </a:r>
            <a:endParaRPr/>
          </a:p>
        </p:txBody>
      </p:sp>
      <p:sp>
        <p:nvSpPr>
          <p:cNvPr id="321" name="Google Shape;321;p4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0" lvl="0" marL="0" marR="0" rtl="0" algn="just">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Introduction</a:t>
            </a:r>
            <a:endParaRPr/>
          </a:p>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The main purpose of the introduction is to provide the necessary background or context for your research problem. How to frame the research problem is perhaps the biggest problem in proposal writing. </a:t>
            </a:r>
            <a:endParaRPr/>
          </a:p>
          <a:p>
            <a:pPr indent="0" lvl="0" marL="0" marR="0" rtl="0" algn="just">
              <a:lnSpc>
                <a:spcPct val="100000"/>
              </a:lnSpc>
              <a:spcBef>
                <a:spcPts val="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However, try to place your research question in the context of either a current "hot" area, or an older area that remains viable. Secondly, you need to provide a brief but appropriate historical backdrop. Thirdly, provide the contemporary context in which your proposed research question occupies the central stage. Finally, identify "key players" and refer to the most relevant and representative publications. In short, try to paint your research question in broad brushes and at the same time bring out its significance. </a:t>
            </a:r>
            <a:endParaRPr/>
          </a:p>
          <a:p>
            <a:pPr indent="0" lvl="0" marL="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HOW TO WRITE RESEARCH PROPOSAL? </a:t>
            </a:r>
            <a:br>
              <a:rPr b="1" i="0" lang="en-US" sz="2800" u="none">
                <a:solidFill>
                  <a:schemeClr val="dk1"/>
                </a:solidFill>
                <a:latin typeface="Times New Roman"/>
                <a:ea typeface="Times New Roman"/>
                <a:cs typeface="Times New Roman"/>
                <a:sym typeface="Times New Roman"/>
              </a:rPr>
            </a:br>
            <a:r>
              <a:rPr b="1" i="0" lang="en-US" sz="2800" u="none">
                <a:solidFill>
                  <a:srgbClr val="FF0000"/>
                </a:solidFill>
                <a:latin typeface="Times New Roman"/>
                <a:ea typeface="Times New Roman"/>
                <a:cs typeface="Times New Roman"/>
                <a:sym typeface="Times New Roman"/>
              </a:rPr>
              <a:t>CONTENT BEYOND SYLLABUS</a:t>
            </a:r>
            <a:endParaRPr/>
          </a:p>
        </p:txBody>
      </p:sp>
      <p:sp>
        <p:nvSpPr>
          <p:cNvPr id="327" name="Google Shape;327;p50"/>
          <p:cNvSpPr txBox="1"/>
          <p:nvPr>
            <p:ph idx="1" type="body"/>
          </p:nvPr>
        </p:nvSpPr>
        <p:spPr>
          <a:xfrm>
            <a:off x="457200" y="1600200"/>
            <a:ext cx="84582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Times New Roman"/>
                <a:ea typeface="Times New Roman"/>
                <a:cs typeface="Times New Roman"/>
                <a:sym typeface="Times New Roman"/>
              </a:rPr>
              <a:t>The introduction generally covers the following elements: </a:t>
            </a:r>
            <a:endParaRPr/>
          </a:p>
          <a:p>
            <a:pPr indent="-342900" lvl="0" marL="342900" marR="0" rtl="0" algn="l">
              <a:lnSpc>
                <a:spcPct val="100000"/>
              </a:lnSpc>
              <a:spcBef>
                <a:spcPts val="36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State the research problem, which is often referred to as the purpose of the study</a:t>
            </a:r>
            <a:endParaRPr/>
          </a:p>
          <a:p>
            <a:pPr indent="-342900" lvl="0" marL="342900" marR="0" rtl="0" algn="l">
              <a:lnSpc>
                <a:spcPct val="100000"/>
              </a:lnSpc>
              <a:spcBef>
                <a:spcPts val="36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Provide the context and set the stage for your research question in such a way as to show its necessity and importance </a:t>
            </a:r>
            <a:endParaRPr/>
          </a:p>
          <a:p>
            <a:pPr indent="-342900" lvl="0" marL="342900" marR="0" rtl="0" algn="l">
              <a:lnSpc>
                <a:spcPct val="100000"/>
              </a:lnSpc>
              <a:spcBef>
                <a:spcPts val="36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Present the rationale of your proposed study and clearly indicate why it is worth doing</a:t>
            </a:r>
            <a:endParaRPr/>
          </a:p>
          <a:p>
            <a:pPr indent="-342900" lvl="0" marL="342900" marR="0" rtl="0" algn="l">
              <a:lnSpc>
                <a:spcPct val="100000"/>
              </a:lnSpc>
              <a:spcBef>
                <a:spcPts val="36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Briefly describe the major issues and sub-problems to be addressed by your research. </a:t>
            </a:r>
            <a:endParaRPr/>
          </a:p>
          <a:p>
            <a:pPr indent="-342900" lvl="0" marL="342900" marR="0" rtl="0" algn="l">
              <a:lnSpc>
                <a:spcPct val="100000"/>
              </a:lnSpc>
              <a:spcBef>
                <a:spcPts val="36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Identify the key independent and dependent variables of your experiment. Alternatively, specify the phenomenon you want to study </a:t>
            </a:r>
            <a:endParaRPr/>
          </a:p>
          <a:p>
            <a:pPr indent="-342900" lvl="0" marL="342900" marR="0" rtl="0" algn="l">
              <a:lnSpc>
                <a:spcPct val="100000"/>
              </a:lnSpc>
              <a:spcBef>
                <a:spcPts val="36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State your hypothesis or theory, if any. For exploratory or phenomenological research, you may not have any hypotheses. (Please do not confuse the hypothesis with the statistical null hypothesis.) </a:t>
            </a:r>
            <a:endParaRPr/>
          </a:p>
          <a:p>
            <a:pPr indent="-342900" lvl="0" marL="342900" marR="0" rtl="0" algn="l">
              <a:lnSpc>
                <a:spcPct val="100000"/>
              </a:lnSpc>
              <a:spcBef>
                <a:spcPts val="36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Set the delimitation or boundaries of your proposed research in order to provide a clear focus. </a:t>
            </a:r>
            <a:endParaRPr/>
          </a:p>
          <a:p>
            <a:pPr indent="-342900" lvl="0" marL="342900" marR="0" rtl="0" algn="l">
              <a:lnSpc>
                <a:spcPct val="100000"/>
              </a:lnSpc>
              <a:spcBef>
                <a:spcPts val="36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Provide definitions of key concepts. (This is optional.) </a:t>
            </a:r>
            <a:endParaRPr/>
          </a:p>
          <a:p>
            <a:pPr indent="-228600" lvl="0" marL="342900" marR="0" rtl="0" algn="l">
              <a:spcBef>
                <a:spcPts val="360"/>
              </a:spcBef>
              <a:spcAft>
                <a:spcPts val="0"/>
              </a:spcAft>
              <a:buClr>
                <a:schemeClr val="dk1"/>
              </a:buClr>
              <a:buSzPts val="1800"/>
              <a:buFont typeface="Arial"/>
              <a:buNone/>
            </a:pPr>
            <a:r>
              <a:t/>
            </a:r>
            <a:endParaRPr b="0" i="0" sz="1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HOW TO WRITE RESEARCH PROPOSAL? </a:t>
            </a:r>
            <a:endParaRPr/>
          </a:p>
        </p:txBody>
      </p:sp>
      <p:sp>
        <p:nvSpPr>
          <p:cNvPr id="333" name="Google Shape;333;p51"/>
          <p:cNvSpPr txBox="1"/>
          <p:nvPr>
            <p:ph idx="1" type="body"/>
          </p:nvPr>
        </p:nvSpPr>
        <p:spPr>
          <a:xfrm>
            <a:off x="457200" y="1447800"/>
            <a:ext cx="8229600" cy="51054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Literature Review</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most professors prefer a separate section, which allows a more thorough review of the literature</a:t>
            </a:r>
            <a:endParaRPr/>
          </a:p>
          <a:p>
            <a:pPr indent="-342900" lvl="0" marL="34290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The literature review serves several important functions: </a:t>
            </a:r>
            <a:endParaRPr/>
          </a:p>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Ensures that you are not "reinventing the wheel“ </a:t>
            </a:r>
            <a:endParaRPr/>
          </a:p>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Gives credits to those who have laid the groundwork for your research </a:t>
            </a:r>
            <a:endParaRPr/>
          </a:p>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Demonstrates your knowledge of the research problem </a:t>
            </a:r>
            <a:endParaRPr/>
          </a:p>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Demonstrates your understanding of the theoretical and research issues related to your research question </a:t>
            </a:r>
            <a:endParaRPr/>
          </a:p>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Shows your ability to critically evaluate relevant literature information </a:t>
            </a:r>
            <a:endParaRPr/>
          </a:p>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Indicates your ability to integrate and synthesize the existing literature </a:t>
            </a:r>
            <a:endParaRPr/>
          </a:p>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Provides new theoretical insights or develops a new model as the conceptual framework for your research </a:t>
            </a:r>
            <a:endParaRPr/>
          </a:p>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Convinces your reader that your proposed research will make a significant and substantial contribution to the literature (i.e., resolving an important theoretical issue or filling a major gap in the literature). </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2"/>
          <p:cNvSpPr txBox="1"/>
          <p:nvPr>
            <p:ph type="title"/>
          </p:nvPr>
        </p:nvSpPr>
        <p:spPr>
          <a:xfrm>
            <a:off x="457200" y="277812"/>
            <a:ext cx="8229600" cy="7889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HOW TO WRITE RESEARCH PROPOSAL? </a:t>
            </a:r>
            <a:endParaRPr/>
          </a:p>
        </p:txBody>
      </p:sp>
      <p:sp>
        <p:nvSpPr>
          <p:cNvPr id="339" name="Google Shape;339;p52"/>
          <p:cNvSpPr txBox="1"/>
          <p:nvPr>
            <p:ph idx="1" type="body"/>
          </p:nvPr>
        </p:nvSpPr>
        <p:spPr>
          <a:xfrm>
            <a:off x="457200" y="1600200"/>
            <a:ext cx="8229600" cy="48006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Methods</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The Method section is very important because it tells your Research Committee how you plan to tackle your research problem. It will provide your work plan and describe the activities necessary for the completion of your project</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The guiding principle for writing the Method section is that it should contain sufficient information for the reader to determine whether methodology is sound </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Furthermore, since there are no well-established and widely accepted canons in qualitative analysis, your method section needs to be more elaborate than what is required for traditional quantitative research</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More importantly, the data collection process in qualitative research has a far greater impact on the results as compared to quantitative research. </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HOW TO WRITE RESEARCH PROPOSAL? </a:t>
            </a:r>
            <a:endParaRPr/>
          </a:p>
        </p:txBody>
      </p:sp>
      <p:sp>
        <p:nvSpPr>
          <p:cNvPr id="345" name="Google Shape;345;p5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For quantitative studies, the method section typically consists of the following sections: </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Design -Is it a questionnaire study or a laboratory experiment? What kind of design do you choose? </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Subjects or participants - Who will take part in your study ? What kind of sampling procedure do you use? </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Instruments - What kind of measuring instruments or questionnaires do you use? Why do you choose them? Are they valid and reliable? </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Procedure - How do you plan to carry out your study? What activities are involved? How long does it take? </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HOW TO WRITE RESEARCH PROPOSAL? </a:t>
            </a:r>
            <a:endParaRPr/>
          </a:p>
        </p:txBody>
      </p:sp>
      <p:sp>
        <p:nvSpPr>
          <p:cNvPr id="351" name="Google Shape;351;p5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Results </a:t>
            </a:r>
            <a:endParaRPr/>
          </a:p>
          <a:p>
            <a:pPr indent="-342900" lvl="0" marL="34290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Obviously you do not have results at the proposal stage. However, you need to have some idea about what kind of data you will be collecting, and what statistical procedures will be used in order to answer your research question or test you hypothesis. </a:t>
            </a:r>
            <a:endParaRPr/>
          </a:p>
          <a:p>
            <a:pPr indent="-342900" lvl="0" marL="342900" marR="0" rtl="0" algn="just">
              <a:lnSpc>
                <a:spcPct val="100000"/>
              </a:lnSpc>
              <a:spcBef>
                <a:spcPts val="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Discussion</a:t>
            </a:r>
            <a:endParaRPr/>
          </a:p>
          <a:p>
            <a:pPr indent="-342900" lvl="0" marL="34290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It is important to convince your reader of the potential impact of your proposed research. You need to communicate a sense of enthusiasm and confidence without exaggerating the merits of your proposal. That is why you also need to mention the limitations and weaknesses of the proposed research, which may be justified by time and financial constraints as well as by the early developmental stage of your research area. </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br>
              <a:rPr b="1" i="0" lang="en-US" sz="3600" u="none">
                <a:solidFill>
                  <a:schemeClr val="dk1"/>
                </a:solidFill>
                <a:latin typeface="Times New Roman"/>
                <a:ea typeface="Times New Roman"/>
                <a:cs typeface="Times New Roman"/>
                <a:sym typeface="Times New Roman"/>
              </a:rPr>
            </a:br>
            <a:r>
              <a:rPr b="1" i="0" lang="en-US" sz="3600" u="none">
                <a:solidFill>
                  <a:schemeClr val="dk1"/>
                </a:solidFill>
                <a:latin typeface="Times New Roman"/>
                <a:ea typeface="Times New Roman"/>
                <a:cs typeface="Times New Roman"/>
                <a:sym typeface="Times New Roman"/>
              </a:rPr>
              <a:t>GUIDELINES ON WRITING A RESEARCH PROPOSAL </a:t>
            </a:r>
            <a:br>
              <a:rPr b="0" i="0" lang="en-US" sz="3600" u="none">
                <a:solidFill>
                  <a:schemeClr val="dk1"/>
                </a:solidFill>
                <a:latin typeface="Times New Roman"/>
                <a:ea typeface="Times New Roman"/>
                <a:cs typeface="Times New Roman"/>
                <a:sym typeface="Times New Roman"/>
              </a:rPr>
            </a:br>
            <a:endParaRPr/>
          </a:p>
        </p:txBody>
      </p:sp>
      <p:sp>
        <p:nvSpPr>
          <p:cNvPr id="357" name="Google Shape;357;p55"/>
          <p:cNvSpPr txBox="1"/>
          <p:nvPr>
            <p:ph idx="1" type="body"/>
          </p:nvPr>
        </p:nvSpPr>
        <p:spPr>
          <a:xfrm>
            <a:off x="457200" y="1295400"/>
            <a:ext cx="8458200" cy="51816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Proposal writing is important to your pursuit of a graduate degree. The proposal is, in effect, an intellectual scholastic (not legal) contract between you and your committee. </a:t>
            </a:r>
            <a:endParaRPr/>
          </a:p>
          <a:p>
            <a:pPr indent="0" lvl="0" marL="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It specifies what you will do, how you will do it, and how you will interpret the results. </a:t>
            </a:r>
            <a:endParaRPr/>
          </a:p>
          <a:p>
            <a:pPr indent="0" lvl="0" marL="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The objective in writing a proposal is to describe what you will do, why it should be done, how you will do it and what you expect will result. Being clear about these things from the beginning will help you complete your thesis in a timely fashion. </a:t>
            </a:r>
            <a:endParaRPr/>
          </a:p>
          <a:p>
            <a:pPr indent="0" lvl="0" marL="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 vague, weak or fuzzy proposal can lead to a long, painful, and often unsuccessful thesis writing exercise. </a:t>
            </a:r>
            <a:endParaRPr/>
          </a:p>
          <a:p>
            <a:pPr indent="0" lvl="0" marL="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 clean, well thought-out, proposal forms the backbone for the thesis itself. The structures are identical and through the miracle of word-processing, your proposal will probably become your thesis. </a:t>
            </a:r>
            <a:endParaRPr/>
          </a:p>
          <a:p>
            <a:pPr indent="0" lvl="0" marL="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 good thesis proposal hinges on a good idea. Once you have a good idea, you can draft the proposal in an evening. </a:t>
            </a:r>
            <a:endParaRPr/>
          </a:p>
          <a:p>
            <a:pPr indent="0" lvl="0" marL="0" marR="0" rtl="0" algn="just">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Proposals help you estimate the size of a project. Don't make the project too big. </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GUIDELINES ON WRITING A RESEARCH PROPOSAL </a:t>
            </a:r>
            <a:br>
              <a:rPr b="0" i="0" lang="en-US" sz="3600" u="none">
                <a:solidFill>
                  <a:schemeClr val="dk1"/>
                </a:solidFill>
                <a:latin typeface="Times New Roman"/>
                <a:ea typeface="Times New Roman"/>
                <a:cs typeface="Times New Roman"/>
                <a:sym typeface="Times New Roman"/>
              </a:rPr>
            </a:br>
            <a:endParaRPr/>
          </a:p>
        </p:txBody>
      </p:sp>
      <p:sp>
        <p:nvSpPr>
          <p:cNvPr id="363" name="Google Shape;363;p56"/>
          <p:cNvSpPr txBox="1"/>
          <p:nvPr>
            <p:ph idx="1" type="body"/>
          </p:nvPr>
        </p:nvSpPr>
        <p:spPr>
          <a:xfrm>
            <a:off x="457200" y="1371600"/>
            <a:ext cx="8229600" cy="47545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The (Longer) Standard Model </a:t>
            </a:r>
            <a:endParaRPr b="0" i="0" sz="20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FF0000"/>
              </a:buClr>
              <a:buSzPts val="2000"/>
              <a:buFont typeface="Arial"/>
              <a:buNone/>
            </a:pPr>
            <a:r>
              <a:rPr b="0" i="0" lang="en-US" sz="2000" u="none">
                <a:solidFill>
                  <a:srgbClr val="FF0000"/>
                </a:solidFill>
                <a:latin typeface="Times New Roman"/>
                <a:ea typeface="Times New Roman"/>
                <a:cs typeface="Times New Roman"/>
                <a:sym typeface="Times New Roman"/>
              </a:rPr>
              <a:t>A Basic Proposal Outline:</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	Introduction</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Topic area </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Research question </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Significance to knowledge</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	Literature review</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  Previous research others &amp; yours   </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  Interlocking findings and Unanswered questions</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  Your preliminary work on the topic</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  The remaining questions and inter-locking logic</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  Reprise of your research question(s) in this context</a:t>
            </a:r>
            <a:endParaRPr/>
          </a:p>
          <a:p>
            <a:pPr indent="-342900" lvl="0" marL="34290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New Roman"/>
              <a:buNone/>
            </a:pPr>
            <a:br>
              <a:rPr b="1" i="0" lang="en-US" sz="4000" u="none">
                <a:solidFill>
                  <a:schemeClr val="dk1"/>
                </a:solidFill>
                <a:latin typeface="Times New Roman"/>
                <a:ea typeface="Times New Roman"/>
                <a:cs typeface="Times New Roman"/>
                <a:sym typeface="Times New Roman"/>
              </a:rPr>
            </a:br>
            <a:r>
              <a:rPr b="1" i="0" lang="en-US" sz="3600" u="none">
                <a:solidFill>
                  <a:schemeClr val="dk1"/>
                </a:solidFill>
                <a:latin typeface="Times New Roman"/>
                <a:ea typeface="Times New Roman"/>
                <a:cs typeface="Times New Roman"/>
                <a:sym typeface="Times New Roman"/>
              </a:rPr>
              <a:t>GUIDELINES ON WRITING A RESEARCH PROPOSAL </a:t>
            </a:r>
            <a:br>
              <a:rPr b="0" i="0" lang="en-US" sz="3600" u="none">
                <a:solidFill>
                  <a:schemeClr val="dk1"/>
                </a:solidFill>
                <a:latin typeface="Times New Roman"/>
                <a:ea typeface="Times New Roman"/>
                <a:cs typeface="Times New Roman"/>
                <a:sym typeface="Times New Roman"/>
              </a:rPr>
            </a:br>
            <a:endParaRPr/>
          </a:p>
        </p:txBody>
      </p:sp>
      <p:sp>
        <p:nvSpPr>
          <p:cNvPr id="369" name="Google Shape;369;p5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Methodology</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Approach </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Data needs</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Analytic techniques</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 Plan for interpreting results</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Expected results</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Budget</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Bibliography (or References) </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GUIDELINES ON WRITING A RESEARCH PROPOSAL </a:t>
            </a:r>
            <a:br>
              <a:rPr b="0" i="0" lang="en-US" sz="3600" u="none">
                <a:solidFill>
                  <a:schemeClr val="dk1"/>
                </a:solidFill>
                <a:latin typeface="Times New Roman"/>
                <a:ea typeface="Times New Roman"/>
                <a:cs typeface="Times New Roman"/>
                <a:sym typeface="Times New Roman"/>
              </a:rPr>
            </a:br>
            <a:endParaRPr/>
          </a:p>
        </p:txBody>
      </p:sp>
      <p:sp>
        <p:nvSpPr>
          <p:cNvPr id="375" name="Google Shape;375;p5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FF0000"/>
              </a:buClr>
              <a:buSzPts val="2000"/>
              <a:buFont typeface="Arial"/>
              <a:buNone/>
            </a:pPr>
            <a:r>
              <a:rPr b="0" i="0" lang="en-US" sz="2000" u="none">
                <a:solidFill>
                  <a:srgbClr val="FF0000"/>
                </a:solidFill>
                <a:latin typeface="Times New Roman"/>
                <a:ea typeface="Times New Roman"/>
                <a:cs typeface="Times New Roman"/>
                <a:sym typeface="Times New Roman"/>
              </a:rPr>
              <a:t>The Basic Thesis Outline</a:t>
            </a:r>
            <a:endParaRPr/>
          </a:p>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Introduction</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Topic area </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Research question  (finding?)</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Significance to knowledge</a:t>
            </a:r>
            <a:endParaRPr/>
          </a:p>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Literature review</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Previous research others &amp; yours </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Interlocking findings and Unanswered questions</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Your preliminary work on the topic</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 The remaining questions and inter-locking logic</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Reprise of your research question(s) in this context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GUIDELINES ON WRITING A RESEARCH PROPOSAL </a:t>
            </a:r>
            <a:br>
              <a:rPr b="0" i="0" lang="en-US" sz="3600" u="none">
                <a:solidFill>
                  <a:schemeClr val="dk1"/>
                </a:solidFill>
                <a:latin typeface="Times New Roman"/>
                <a:ea typeface="Times New Roman"/>
                <a:cs typeface="Times New Roman"/>
                <a:sym typeface="Times New Roman"/>
              </a:rPr>
            </a:br>
            <a:endParaRPr/>
          </a:p>
        </p:txBody>
      </p:sp>
      <p:sp>
        <p:nvSpPr>
          <p:cNvPr id="381" name="Google Shape;381;p5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Methodology</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Approach </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Data needs</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Analytic techniques</a:t>
            </a:r>
            <a:endParaRPr/>
          </a:p>
          <a:p>
            <a:pPr indent="0" lvl="0" marL="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Plan for interpreting results</a:t>
            </a:r>
            <a:endParaRPr/>
          </a:p>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Results</a:t>
            </a:r>
            <a:endParaRPr/>
          </a:p>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Discussion and Conclusions</a:t>
            </a:r>
            <a:endParaRPr/>
          </a:p>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Bibliography </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COMPONENTS/ELEMENTS OF RESEARCH PROPOSAL </a:t>
            </a:r>
            <a:endParaRPr/>
          </a:p>
        </p:txBody>
      </p:sp>
      <p:sp>
        <p:nvSpPr>
          <p:cNvPr id="387" name="Google Shape;387;p6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Title </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Introduction</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Statement of the problem</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Rationale/justification/significance of the research </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Scope and limitations of the study</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Review of literature</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Objectives of the research</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Operational definitions of terms used</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Hypothesis</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Methodology Used</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Time schedule/work plan</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Budget/estimated cost built up </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Organization of the report/chapter outline</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Bibliography/References </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Conclusions </a:t>
            </a:r>
            <a:endParaRPr/>
          </a:p>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Appendix</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 </a:t>
            </a:r>
            <a:endParaRPr/>
          </a:p>
          <a:p>
            <a:pPr indent="127000" lvl="0" marL="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127000" lvl="0" marL="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1"/>
          <p:cNvSpPr txBox="1"/>
          <p:nvPr>
            <p:ph type="title"/>
          </p:nvPr>
        </p:nvSpPr>
        <p:spPr>
          <a:xfrm>
            <a:off x="457200" y="307975"/>
            <a:ext cx="8229600" cy="11398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COMPONENTS/ELEMENTS OF RESEARCH PROPOSAL </a:t>
            </a:r>
            <a:endParaRPr/>
          </a:p>
        </p:txBody>
      </p:sp>
      <p:sp>
        <p:nvSpPr>
          <p:cNvPr id="393" name="Google Shape;393;p6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Title</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First page – title of the research; researcher’s name; name of institute/organization where the researcher belongs; name of the sponsoring organization, name of the supervisor, co-supervisor; date; etc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In selecting the title, the following points should be taken care of: </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Reflect the theme of the research</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Be self-explanatory</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Be brief</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Language be simple and unambiguous</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Be specific to a   particular domain</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Bracket; arithmetic figures, etc be avoided</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Avoid confusing meaning</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COMPONENTS/ELEMENTS OF RESEARCH PROPOSAL </a:t>
            </a:r>
            <a:endParaRPr/>
          </a:p>
        </p:txBody>
      </p:sp>
      <p:sp>
        <p:nvSpPr>
          <p:cNvPr id="399" name="Google Shape;399;p6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Introduction</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Thereoretical background</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Background of the problem</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Etc </a:t>
            </a:r>
            <a:endParaRPr/>
          </a:p>
          <a:p>
            <a:pPr indent="-342900" lvl="0" marL="34290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Statement of the problem</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Definition</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Nature</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Extent</a:t>
            </a:r>
            <a:endParaRPr/>
          </a:p>
          <a:p>
            <a:pPr indent="-215900" lvl="0" marL="342900" marR="0" rtl="0" algn="l">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1"/>
              </a:buClr>
              <a:buSzPts val="2000"/>
              <a:buFont typeface="Noto Sans Symbols"/>
              <a:buNone/>
            </a:pPr>
            <a:r>
              <a:t/>
            </a:r>
            <a:endParaRPr b="1"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1"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COMPONENTS/ELEMENTS OF RESEARCH PROPOSAL </a:t>
            </a:r>
            <a:endParaRPr/>
          </a:p>
        </p:txBody>
      </p:sp>
      <p:sp>
        <p:nvSpPr>
          <p:cNvPr id="405" name="Google Shape;405;p6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Rationale/justification/significance of the research </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Importance</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Addressing  the national context problem</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Bridging the knowledge gaps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Useful to the society/community </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Present state of affairs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Affected stakeholders</a:t>
            </a:r>
            <a:endParaRPr/>
          </a:p>
          <a:p>
            <a:pPr indent="0" lvl="0" marL="0" marR="0" rtl="0" algn="l">
              <a:lnSpc>
                <a:spcPct val="100000"/>
              </a:lnSpc>
              <a:spcBef>
                <a:spcPts val="0"/>
              </a:spcBef>
              <a:spcAft>
                <a:spcPts val="0"/>
              </a:spcAft>
              <a:buClr>
                <a:schemeClr val="dk1"/>
              </a:buClr>
              <a:buSzPts val="2000"/>
              <a:buFont typeface="Arial"/>
              <a:buNone/>
            </a:pPr>
            <a:r>
              <a:t/>
            </a:r>
            <a:endParaRPr b="1" i="0" sz="20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Scope and limitations of the study</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Boundaries of the research</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Aspects and issues addressed</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Shortcomings of the research – resource and time constraints </a:t>
            </a:r>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chemeClr val="dk1"/>
              </a:buClr>
              <a:buSzPts val="2000"/>
              <a:buFont typeface="Noto Sans Symbols"/>
              <a:buNone/>
            </a:pPr>
            <a:r>
              <a:t/>
            </a:r>
            <a:endParaRPr b="1" i="0" sz="2000" u="none">
              <a:solidFill>
                <a:schemeClr val="dk1"/>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chemeClr val="dk1"/>
              </a:buClr>
              <a:buSzPts val="2000"/>
              <a:buFont typeface="Noto Sans Symbols"/>
              <a:buNone/>
            </a:pPr>
            <a:r>
              <a:t/>
            </a:r>
            <a:endParaRPr b="1"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1"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COMPONENTS/ELEMENTS OF RESEARCH PROPOSAL </a:t>
            </a:r>
            <a:endParaRPr/>
          </a:p>
        </p:txBody>
      </p:sp>
      <p:sp>
        <p:nvSpPr>
          <p:cNvPr id="411" name="Google Shape;411;p6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Review of literature</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Researches so conducted; vital information </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Issues discussed; unaddressed issues </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Relevancy  to the present research</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Finding out information/knowledge gaps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Objectives of the research</a:t>
            </a:r>
            <a:endParaRPr/>
          </a:p>
          <a:p>
            <a:pPr indent="0" lvl="0" marL="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Contextual/consistent  to the  title</a:t>
            </a:r>
            <a:endParaRPr/>
          </a:p>
          <a:p>
            <a:pPr indent="0" lvl="0" marL="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Concise, clear-cut, expressed in simple language, precise, self-explanatory</a:t>
            </a:r>
            <a:endParaRPr/>
          </a:p>
          <a:p>
            <a:pPr indent="0" lvl="0" marL="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Distinctive, quantifiable , measurable</a:t>
            </a:r>
            <a:endParaRPr/>
          </a:p>
          <a:p>
            <a:pPr indent="0" lvl="0" marL="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Two types of objectives : general/broad/overall; specific</a:t>
            </a:r>
            <a:endParaRPr/>
          </a:p>
          <a:p>
            <a:pPr indent="127000" lvl="0" marL="0" marR="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COMPONENTS/ELEMENTS OF RESEARCH PROPOSAL </a:t>
            </a:r>
            <a:endParaRPr/>
          </a:p>
        </p:txBody>
      </p:sp>
      <p:sp>
        <p:nvSpPr>
          <p:cNvPr id="417" name="Google Shape;417;p6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Operational definitions of terms used</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Clear-cut meaning of the terms used</a:t>
            </a:r>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Hypothesis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Proposition subject to verification</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May be null, accepted, rejected</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Guide/lead the research </a:t>
            </a:r>
            <a:endParaRPr/>
          </a:p>
          <a:p>
            <a:pPr indent="127000" lvl="0" marL="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Methodology Used</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Selection of appropriate approach</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Tools/techniques to be used</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Data collection techniques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Data processing, analysis, interpretation techniques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Data/information presentation techniques</a:t>
            </a:r>
            <a:endParaRPr/>
          </a:p>
          <a:p>
            <a:pPr indent="127000" lvl="0" marL="0" marR="0" rtl="0" algn="l">
              <a:lnSpc>
                <a:spcPct val="100000"/>
              </a:lnSpc>
              <a:spcBef>
                <a:spcPts val="0"/>
              </a:spcBef>
              <a:spcAft>
                <a:spcPts val="0"/>
              </a:spcAft>
              <a:buClr>
                <a:schemeClr val="dk1"/>
              </a:buClr>
              <a:buSzPts val="2000"/>
              <a:buFont typeface="Noto Sans Symbols"/>
              <a:buNone/>
            </a:pPr>
            <a:r>
              <a:t/>
            </a:r>
            <a:endParaRPr b="1" i="0" sz="2000" u="none">
              <a:solidFill>
                <a:schemeClr val="dk1"/>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6"/>
          <p:cNvSpPr txBox="1"/>
          <p:nvPr>
            <p:ph type="title"/>
          </p:nvPr>
        </p:nvSpPr>
        <p:spPr>
          <a:xfrm>
            <a:off x="457200" y="277812"/>
            <a:ext cx="8229600" cy="10175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COMPONENTS/ELEMENTS OF RESEARCH PROPOSAL </a:t>
            </a:r>
            <a:endParaRPr/>
          </a:p>
        </p:txBody>
      </p:sp>
      <p:sp>
        <p:nvSpPr>
          <p:cNvPr id="423" name="Google Shape;423;p6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Times New Roman"/>
                <a:ea typeface="Times New Roman"/>
                <a:cs typeface="Times New Roman"/>
                <a:sym typeface="Times New Roman"/>
              </a:rPr>
              <a:t>Time schedule/work plan</a:t>
            </a:r>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Time line of the assigned tasks</a:t>
            </a:r>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 Time line of the resource flow – 3Ms</a:t>
            </a:r>
            <a:endParaRPr/>
          </a:p>
          <a:p>
            <a:pPr indent="0" lvl="0" marL="0" marR="0" rtl="0" algn="l">
              <a:lnSpc>
                <a:spcPct val="100000"/>
              </a:lnSpc>
              <a:spcBef>
                <a:spcPts val="0"/>
              </a:spcBef>
              <a:spcAft>
                <a:spcPts val="0"/>
              </a:spcAft>
              <a:buClr>
                <a:schemeClr val="dk1"/>
              </a:buClr>
              <a:buSzPts val="900"/>
              <a:buFont typeface="Arial"/>
              <a:buNone/>
            </a:pPr>
            <a:r>
              <a:t/>
            </a:r>
            <a:endParaRPr b="1" i="0" sz="9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Times New Roman"/>
                <a:ea typeface="Times New Roman"/>
                <a:cs typeface="Times New Roman"/>
                <a:sym typeface="Times New Roman"/>
              </a:rPr>
              <a:t>Budget/estimated cost built up </a:t>
            </a:r>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Cost built up – resource personnel, support staff,  stationery, transport, utilities,  house rents, miscellaneous, etc   </a:t>
            </a:r>
            <a:endParaRPr/>
          </a:p>
          <a:p>
            <a:pPr indent="0" lvl="0" marL="0" marR="0" rtl="0" algn="l">
              <a:lnSpc>
                <a:spcPct val="100000"/>
              </a:lnSpc>
              <a:spcBef>
                <a:spcPts val="0"/>
              </a:spcBef>
              <a:spcAft>
                <a:spcPts val="0"/>
              </a:spcAft>
              <a:buClr>
                <a:schemeClr val="dk1"/>
              </a:buClr>
              <a:buSzPts val="700"/>
              <a:buFont typeface="Arial"/>
              <a:buNone/>
            </a:pPr>
            <a:r>
              <a:t/>
            </a:r>
            <a:endParaRPr b="0" i="0" sz="7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Times New Roman"/>
                <a:ea typeface="Times New Roman"/>
                <a:cs typeface="Times New Roman"/>
                <a:sym typeface="Times New Roman"/>
              </a:rPr>
              <a:t>Organization of the report/chapter outline</a:t>
            </a:r>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Outline of the dissertation/report</a:t>
            </a:r>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a:solidFill>
                  <a:schemeClr val="dk1"/>
                </a:solidFill>
                <a:latin typeface="Times New Roman"/>
                <a:ea typeface="Times New Roman"/>
                <a:cs typeface="Times New Roman"/>
                <a:sym typeface="Times New Roman"/>
              </a:rPr>
              <a:t>Four major parts of the report: introductory, findings and discussion, summary, and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Times New Roman"/>
                <a:ea typeface="Times New Roman"/>
                <a:cs typeface="Times New Roman"/>
                <a:sym typeface="Times New Roman"/>
              </a:rPr>
              <a:t>      conclusion</a:t>
            </a:r>
            <a:endParaRPr/>
          </a:p>
          <a:p>
            <a:pPr indent="0" lvl="0" marL="0" marR="0" rtl="0" algn="l">
              <a:lnSpc>
                <a:spcPct val="100000"/>
              </a:lnSpc>
              <a:spcBef>
                <a:spcPts val="0"/>
              </a:spcBef>
              <a:spcAft>
                <a:spcPts val="0"/>
              </a:spcAft>
              <a:buClr>
                <a:schemeClr val="dk1"/>
              </a:buClr>
              <a:buSzPts val="1100"/>
              <a:buFont typeface="Arial"/>
              <a:buNone/>
            </a:pPr>
            <a:r>
              <a:t/>
            </a:r>
            <a:endParaRPr b="0" i="0" sz="1100" u="none">
              <a:solidFill>
                <a:schemeClr val="dk1"/>
              </a:solidFill>
              <a:latin typeface="Times New Roman"/>
              <a:ea typeface="Times New Roman"/>
              <a:cs typeface="Times New Roman"/>
              <a:sym typeface="Times New Roman"/>
            </a:endParaRPr>
          </a:p>
          <a:p>
            <a:pPr indent="114300" lvl="0" marL="0" marR="0" rtl="0" algn="l">
              <a:lnSpc>
                <a:spcPct val="100000"/>
              </a:lnSpc>
              <a:spcBef>
                <a:spcPts val="0"/>
              </a:spcBef>
              <a:spcAft>
                <a:spcPts val="0"/>
              </a:spcAft>
              <a:buClr>
                <a:schemeClr val="dk1"/>
              </a:buClr>
              <a:buSzPts val="1800"/>
              <a:buFont typeface="Noto Sans Symbols"/>
              <a:buNone/>
            </a:pPr>
            <a:r>
              <a:t/>
            </a:r>
            <a:endParaRPr b="0" i="0" sz="1800" u="none">
              <a:solidFill>
                <a:schemeClr val="dk1"/>
              </a:solidFill>
              <a:latin typeface="Times New Roman"/>
              <a:ea typeface="Times New Roman"/>
              <a:cs typeface="Times New Roman"/>
              <a:sym typeface="Times New Roman"/>
            </a:endParaRPr>
          </a:p>
          <a:p>
            <a:pPr indent="114300" lvl="0" marL="0" marR="0" rtl="0" algn="l">
              <a:lnSpc>
                <a:spcPct val="100000"/>
              </a:lnSpc>
              <a:spcBef>
                <a:spcPts val="0"/>
              </a:spcBef>
              <a:spcAft>
                <a:spcPts val="0"/>
              </a:spcAft>
              <a:buClr>
                <a:schemeClr val="dk1"/>
              </a:buClr>
              <a:buSzPts val="1800"/>
              <a:buFont typeface="Noto Sans Symbols"/>
              <a:buNone/>
            </a:pPr>
            <a:r>
              <a:t/>
            </a:r>
            <a:endParaRPr b="1" i="0" sz="1800" u="none">
              <a:solidFill>
                <a:schemeClr val="dk1"/>
              </a:solidFill>
              <a:latin typeface="Times New Roman"/>
              <a:ea typeface="Times New Roman"/>
              <a:cs typeface="Times New Roman"/>
              <a:sym typeface="Times New Roman"/>
            </a:endParaRPr>
          </a:p>
          <a:p>
            <a:pPr indent="-228600" lvl="0" marL="342900" marR="0" rtl="0" algn="l">
              <a:spcBef>
                <a:spcPts val="360"/>
              </a:spcBef>
              <a:spcAft>
                <a:spcPts val="0"/>
              </a:spcAft>
              <a:buClr>
                <a:schemeClr val="dk1"/>
              </a:buClr>
              <a:buSzPts val="1800"/>
              <a:buFont typeface="Arial"/>
              <a:buNone/>
            </a:pPr>
            <a:r>
              <a:t/>
            </a:r>
            <a:endParaRPr b="1" i="0" sz="1800" u="none">
              <a:solidFill>
                <a:schemeClr val="dk1"/>
              </a:solidFill>
              <a:latin typeface="Times New Roman"/>
              <a:ea typeface="Times New Roman"/>
              <a:cs typeface="Times New Roman"/>
              <a:sym typeface="Times New Roman"/>
            </a:endParaRPr>
          </a:p>
        </p:txBody>
      </p:sp>
      <p:graphicFrame>
        <p:nvGraphicFramePr>
          <p:cNvPr id="424" name="Google Shape;424;p66"/>
          <p:cNvGraphicFramePr/>
          <p:nvPr/>
        </p:nvGraphicFramePr>
        <p:xfrm>
          <a:off x="533400" y="4800600"/>
          <a:ext cx="3000000" cy="3000000"/>
        </p:xfrm>
        <a:graphic>
          <a:graphicData uri="http://schemas.openxmlformats.org/drawingml/2006/table">
            <a:tbl>
              <a:tblPr>
                <a:noFill/>
                <a:tableStyleId>{07631165-B9DA-4790-9F95-20D87538478B}</a:tableStyleId>
              </a:tblPr>
              <a:tblGrid>
                <a:gridCol w="2641600"/>
                <a:gridCol w="2565400"/>
                <a:gridCol w="2565400"/>
              </a:tblGrid>
              <a:tr h="334950">
                <a:tc>
                  <a:txBody>
                    <a:bodyPr/>
                    <a:lstStyle/>
                    <a:p>
                      <a:pPr indent="0" lvl="0" marL="0" marR="0" rtl="0" algn="ctr">
                        <a:lnSpc>
                          <a:spcPct val="100000"/>
                        </a:lnSpc>
                        <a:spcBef>
                          <a:spcPts val="0"/>
                        </a:spcBef>
                        <a:spcAft>
                          <a:spcPts val="0"/>
                        </a:spcAft>
                        <a:buClr>
                          <a:srgbClr val="FFFFFF"/>
                        </a:buClr>
                        <a:buSzPts val="1600"/>
                        <a:buFont typeface="Times New Roman"/>
                        <a:buNone/>
                      </a:pPr>
                      <a:r>
                        <a:rPr b="1" i="0" lang="en-US" sz="1600" u="none">
                          <a:solidFill>
                            <a:srgbClr val="FFFFFF"/>
                          </a:solidFill>
                          <a:latin typeface="Times New Roman"/>
                          <a:ea typeface="Times New Roman"/>
                          <a:cs typeface="Times New Roman"/>
                          <a:sym typeface="Times New Roman"/>
                        </a:rPr>
                        <a:t>Part</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1600"/>
                        <a:buFont typeface="Times New Roman"/>
                        <a:buNone/>
                      </a:pPr>
                      <a:r>
                        <a:rPr b="1" i="0" lang="en-US" sz="1600" u="none">
                          <a:solidFill>
                            <a:srgbClr val="FFFFFF"/>
                          </a:solidFill>
                          <a:latin typeface="Times New Roman"/>
                          <a:ea typeface="Times New Roman"/>
                          <a:cs typeface="Times New Roman"/>
                          <a:sym typeface="Times New Roman"/>
                        </a:rPr>
                        <a:t>Desired share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1600"/>
                        <a:buFont typeface="Times New Roman"/>
                        <a:buNone/>
                      </a:pPr>
                      <a:r>
                        <a:rPr b="1" i="0" lang="en-US" sz="1600" u="none">
                          <a:solidFill>
                            <a:srgbClr val="FFFFFF"/>
                          </a:solidFill>
                          <a:latin typeface="Times New Roman"/>
                          <a:ea typeface="Times New Roman"/>
                          <a:cs typeface="Times New Roman"/>
                          <a:sym typeface="Times New Roman"/>
                        </a:rPr>
                        <a:t>Acceptable share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34950">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Introductory</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10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15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336550">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Findings and Discussion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80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70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334950">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Summary and Conclusion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10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15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334950">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Total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100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100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COMPONENTS/ELEMENTS OF RESEARCH PROPOSAL </a:t>
            </a:r>
            <a:endParaRPr/>
          </a:p>
        </p:txBody>
      </p:sp>
      <p:sp>
        <p:nvSpPr>
          <p:cNvPr id="430" name="Google Shape;430;p6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Bibliography/References </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Related documents to be consulted/studies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Follow technicalities in  writing  bibliography/references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To be presented in alphabetic order</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To be presented in classified manner  viz., manuscripts, books, journals, commission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       reports, newspapers, etc  </a:t>
            </a:r>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Times New Roman"/>
                <a:ea typeface="Times New Roman"/>
                <a:cs typeface="Times New Roman"/>
                <a:sym typeface="Times New Roman"/>
              </a:rPr>
              <a:t>Conclusion </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State about the feasibility of the proposed research/study </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Upcoming challenges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Upcoming treats, difficulties, hindrances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Make a conclusive remak</a:t>
            </a:r>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Times New Roman"/>
                <a:ea typeface="Times New Roman"/>
                <a:cs typeface="Times New Roman"/>
                <a:sym typeface="Times New Roman"/>
              </a:rPr>
              <a:t> </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DO’S AND DONT’S</a:t>
            </a:r>
            <a:endParaRPr/>
          </a:p>
        </p:txBody>
      </p:sp>
      <p:sp>
        <p:nvSpPr>
          <p:cNvPr id="436" name="Google Shape;436;p6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DO</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Produce/prepare a professional looking proposal</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Make it interesting</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Make it informative, meaningful</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Write easy way to read</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Present content in a page</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Use clear headings/sub-headings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Be concise, precise</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Check spelling, grammar</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Present in accurate/acceptable format</a:t>
            </a:r>
            <a:endParaRPr/>
          </a:p>
          <a:p>
            <a:pPr indent="127000" lvl="0" marL="0" marR="0" rtl="0" algn="l">
              <a:lnSpc>
                <a:spcPct val="100000"/>
              </a:lnSpc>
              <a:spcBef>
                <a:spcPts val="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DO NOTs</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Use no ward which you do not understand</a:t>
            </a:r>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Use of difficult ward unimpressive to the readers/supervisor/authority   </a:t>
            </a:r>
            <a:endParaRPr/>
          </a:p>
          <a:p>
            <a:pPr indent="-215900" lvl="0" marL="342900" marR="0" rtl="0" algn="l">
              <a:spcBef>
                <a:spcPts val="400"/>
              </a:spcBef>
              <a:spcAft>
                <a:spcPts val="0"/>
              </a:spcAft>
              <a:buClr>
                <a:schemeClr val="dk1"/>
              </a:buClr>
              <a:buSzPts val="2000"/>
              <a:buFont typeface="Arial"/>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9"/>
          <p:cNvSpPr txBox="1"/>
          <p:nvPr>
            <p:ph type="title"/>
          </p:nvPr>
        </p:nvSpPr>
        <p:spPr>
          <a:xfrm>
            <a:off x="457200" y="28956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Times New Roman"/>
              <a:buNone/>
            </a:pPr>
            <a:r>
              <a:rPr b="0" i="0" lang="en-US" sz="4400" u="none">
                <a:solidFill>
                  <a:schemeClr val="dk1"/>
                </a:solidFill>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