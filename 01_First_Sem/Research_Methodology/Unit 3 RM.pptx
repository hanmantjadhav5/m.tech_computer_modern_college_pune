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sz="3600" b="1" dirty="0" err="1">
                <a:latin typeface="Times New Roman" pitchFamily="18" charset="0"/>
                <a:cs typeface="Times New Roman" pitchFamily="18" charset="0"/>
              </a:rPr>
              <a:t>Skewness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 err="1"/>
              <a:t>Skewness</a:t>
            </a:r>
            <a:r>
              <a:rPr lang="en-US" sz="2800" dirty="0"/>
              <a:t> is a statistical measure that describes the asymmetry of a distribution around its mean. It provides insights into the shape of the data distribution, particularly how data points are distributed in relation to the mean</a:t>
            </a:r>
            <a:r>
              <a:rPr lang="en-US" sz="2800" dirty="0" smtClean="0"/>
              <a:t>.</a:t>
            </a:r>
          </a:p>
          <a:p>
            <a:pPr algn="just"/>
            <a:r>
              <a:rPr lang="en-US" sz="2800" dirty="0" smtClean="0"/>
              <a:t>When the curve does not get the symmetry</a:t>
            </a:r>
          </a:p>
          <a:p>
            <a:pPr algn="just"/>
            <a:r>
              <a:rPr lang="en-US" sz="2800" dirty="0" smtClean="0"/>
              <a:t>When the data is given, you draw a curve on the basis of that data.</a:t>
            </a:r>
          </a:p>
          <a:p>
            <a:pPr algn="just"/>
            <a:r>
              <a:rPr lang="en-US" sz="2800" dirty="0" smtClean="0"/>
              <a:t>When the curve is not symmetric, it is called </a:t>
            </a:r>
            <a:r>
              <a:rPr lang="en-US" sz="2800" dirty="0" err="1" smtClean="0"/>
              <a:t>skewness</a:t>
            </a:r>
            <a:r>
              <a:rPr lang="en-US" sz="2800" dirty="0" smtClean="0"/>
              <a:t>.</a:t>
            </a:r>
          </a:p>
          <a:p>
            <a:pPr marL="0" indent="0" algn="just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5235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12" t="32082" r="60943" b="27494"/>
          <a:stretch/>
        </p:blipFill>
        <p:spPr bwMode="auto">
          <a:xfrm>
            <a:off x="2438400" y="228600"/>
            <a:ext cx="4495800" cy="2770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26" t="34564" r="32537" b="27178"/>
          <a:stretch/>
        </p:blipFill>
        <p:spPr bwMode="auto">
          <a:xfrm>
            <a:off x="838200" y="3048000"/>
            <a:ext cx="746760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9943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62000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Types of </a:t>
            </a:r>
            <a:r>
              <a:rPr lang="en-US" sz="3600" b="1" dirty="0" err="1">
                <a:latin typeface="Times New Roman" pitchFamily="18" charset="0"/>
                <a:cs typeface="Times New Roman" pitchFamily="18" charset="0"/>
              </a:rPr>
              <a:t>Skewness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8763000" cy="61722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2400" b="1" dirty="0" smtClean="0"/>
          </a:p>
          <a:p>
            <a:pPr marL="0" indent="0" algn="just">
              <a:buNone/>
            </a:pPr>
            <a:r>
              <a:rPr lang="en-US" sz="2400" b="1" dirty="0" smtClean="0"/>
              <a:t>Positive </a:t>
            </a:r>
            <a:r>
              <a:rPr lang="en-US" sz="2400" b="1" dirty="0" err="1"/>
              <a:t>Skewness</a:t>
            </a:r>
            <a:r>
              <a:rPr lang="en-US" sz="2400" b="1" dirty="0"/>
              <a:t> (Right-Skewed):</a:t>
            </a:r>
            <a:endParaRPr lang="en-US" sz="2400" dirty="0"/>
          </a:p>
          <a:p>
            <a:pPr algn="just"/>
            <a:r>
              <a:rPr lang="en-US" sz="2400" dirty="0"/>
              <a:t>The tail on the right side of the distribution is longer or fatter than the left</a:t>
            </a:r>
            <a:r>
              <a:rPr lang="en-US" sz="2400" dirty="0" smtClean="0"/>
              <a:t>. If the frequency curve of a distribution has a longer ‘Tail’ to the right of the central maximum than to the left, the distribution is said to be skewed to the right or to have a </a:t>
            </a:r>
            <a:r>
              <a:rPr lang="en-US" sz="2400" dirty="0" err="1" smtClean="0"/>
              <a:t>psitive</a:t>
            </a:r>
            <a:r>
              <a:rPr lang="en-US" sz="2400" dirty="0" smtClean="0"/>
              <a:t> </a:t>
            </a:r>
            <a:r>
              <a:rPr lang="en-US" sz="2400" dirty="0" err="1" smtClean="0"/>
              <a:t>skewness</a:t>
            </a:r>
            <a:r>
              <a:rPr lang="en-US" sz="2400" dirty="0" smtClean="0"/>
              <a:t>.</a:t>
            </a:r>
            <a:endParaRPr lang="en-US" sz="2400" dirty="0"/>
          </a:p>
          <a:p>
            <a:pPr algn="just"/>
            <a:r>
              <a:rPr lang="en-US" sz="2400" dirty="0"/>
              <a:t>Most of the data values are concentrated on the left of the mean.</a:t>
            </a:r>
          </a:p>
          <a:p>
            <a:pPr algn="just"/>
            <a:r>
              <a:rPr lang="en-US" sz="2400" dirty="0"/>
              <a:t>The mean is greater than the median</a:t>
            </a:r>
            <a:r>
              <a:rPr lang="en-US" sz="2400" dirty="0" smtClean="0"/>
              <a:t>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 smtClean="0"/>
              <a:t>Mean&gt;Median&gt;Mode</a:t>
            </a:r>
          </a:p>
          <a:p>
            <a:pPr marL="0" indent="0" algn="just">
              <a:buNone/>
            </a:pPr>
            <a:endParaRPr lang="en-US" sz="2400" dirty="0"/>
          </a:p>
          <a:p>
            <a:pPr algn="just"/>
            <a:r>
              <a:rPr lang="en-US" sz="2400" dirty="0"/>
              <a:t>Example: Income distribution, where a few individuals have very high incomes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63552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304800"/>
            <a:ext cx="8915400" cy="6400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/>
              <a:t>Negative </a:t>
            </a:r>
            <a:r>
              <a:rPr lang="en-US" sz="2400" b="1" dirty="0" err="1"/>
              <a:t>Skewness</a:t>
            </a:r>
            <a:r>
              <a:rPr lang="en-US" sz="2400" b="1" dirty="0"/>
              <a:t> (Left-Skewed</a:t>
            </a:r>
            <a:r>
              <a:rPr lang="en-US" sz="2400" b="1" dirty="0" smtClean="0"/>
              <a:t>)</a:t>
            </a:r>
            <a:endParaRPr lang="en-US" sz="2400" dirty="0"/>
          </a:p>
          <a:p>
            <a:pPr algn="just"/>
            <a:r>
              <a:rPr lang="en-US" sz="2400" dirty="0"/>
              <a:t>The tail on the left side of the distribution is longer or fatter than the right</a:t>
            </a:r>
            <a:r>
              <a:rPr lang="en-US" sz="2400" dirty="0" smtClean="0"/>
              <a:t>.</a:t>
            </a:r>
          </a:p>
          <a:p>
            <a:pPr algn="just"/>
            <a:r>
              <a:rPr lang="en-US" sz="2400" dirty="0" smtClean="0"/>
              <a:t>If the frequency curve of a distribution has a longer ‘Tail’ to the left of the central maximum than to the right, the distribution is said to be skewed  to the left or to have a negative </a:t>
            </a:r>
            <a:r>
              <a:rPr lang="en-US" sz="2400" dirty="0" err="1" smtClean="0"/>
              <a:t>skewness</a:t>
            </a:r>
            <a:r>
              <a:rPr lang="en-US" sz="2400" dirty="0" smtClean="0"/>
              <a:t>.</a:t>
            </a:r>
            <a:endParaRPr lang="en-US" sz="2400" dirty="0"/>
          </a:p>
          <a:p>
            <a:pPr algn="just"/>
            <a:r>
              <a:rPr lang="en-US" sz="2400" dirty="0"/>
              <a:t>Most of the data values are concentrated on the right of the mean.</a:t>
            </a:r>
          </a:p>
          <a:p>
            <a:pPr algn="just"/>
            <a:r>
              <a:rPr lang="en-US" sz="2400" dirty="0"/>
              <a:t>The mean is less than the median</a:t>
            </a:r>
            <a:r>
              <a:rPr lang="en-US" sz="2400" dirty="0" smtClean="0"/>
              <a:t>.</a:t>
            </a:r>
          </a:p>
          <a:p>
            <a:pPr algn="just"/>
            <a:r>
              <a:rPr lang="en-US" sz="2400" dirty="0"/>
              <a:t>Mean&lt;Median&lt;Mode</a:t>
            </a:r>
          </a:p>
          <a:p>
            <a:pPr algn="just"/>
            <a:r>
              <a:rPr lang="en-US" sz="2400" dirty="0"/>
              <a:t>Example: Age at retirement, where most people retire around the same age, but a few retire earlier</a:t>
            </a:r>
            <a:r>
              <a:rPr lang="en-US" sz="2400" dirty="0" smtClean="0"/>
              <a:t>.</a:t>
            </a:r>
            <a:endParaRPr lang="en-US" sz="2400" b="1" dirty="0"/>
          </a:p>
          <a:p>
            <a:pPr marL="0" indent="0" algn="just">
              <a:buNone/>
            </a:pPr>
            <a:r>
              <a:rPr lang="en-US" sz="2400" b="1" dirty="0" smtClean="0"/>
              <a:t>Zero </a:t>
            </a:r>
            <a:r>
              <a:rPr lang="en-US" sz="2400" b="1" dirty="0" err="1"/>
              <a:t>Skewness</a:t>
            </a:r>
            <a:r>
              <a:rPr lang="en-US" sz="2400" b="1" dirty="0"/>
              <a:t> (Symmetrical):</a:t>
            </a:r>
            <a:endParaRPr lang="en-US" sz="2400" dirty="0"/>
          </a:p>
          <a:p>
            <a:pPr algn="just"/>
            <a:r>
              <a:rPr lang="en-US" sz="2400" dirty="0"/>
              <a:t>The distribution is perfectly symmetrical.</a:t>
            </a:r>
          </a:p>
          <a:p>
            <a:pPr algn="just"/>
            <a:r>
              <a:rPr lang="en-US" sz="2400" dirty="0"/>
              <a:t>The mean, median, and mode are equal.</a:t>
            </a:r>
          </a:p>
          <a:p>
            <a:pPr algn="just"/>
            <a:r>
              <a:rPr lang="en-US" sz="2400" dirty="0"/>
              <a:t>Example: A perfectly normal distribution</a:t>
            </a:r>
            <a:r>
              <a:rPr lang="en-US" sz="2400" dirty="0" smtClean="0"/>
              <a:t>.</a:t>
            </a:r>
          </a:p>
          <a:p>
            <a:pPr marL="0" indent="0" algn="just">
              <a:buNone/>
            </a:pPr>
            <a:endParaRPr lang="en-US" sz="2400" dirty="0"/>
          </a:p>
          <a:p>
            <a:pPr algn="just"/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79793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81000"/>
            <a:ext cx="8763000" cy="6248400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Interpreting </a:t>
            </a:r>
            <a:r>
              <a:rPr lang="en-US" b="1" dirty="0" err="1"/>
              <a:t>Skewness</a:t>
            </a:r>
            <a:r>
              <a:rPr lang="en-US" b="1" dirty="0"/>
              <a:t> Values</a:t>
            </a:r>
          </a:p>
          <a:p>
            <a:pPr algn="just"/>
            <a:r>
              <a:rPr lang="en-US" b="1" dirty="0" err="1"/>
              <a:t>Skewness</a:t>
            </a:r>
            <a:r>
              <a:rPr lang="en-US" b="1" dirty="0"/>
              <a:t> &gt; 0</a:t>
            </a:r>
            <a:r>
              <a:rPr lang="en-US" dirty="0"/>
              <a:t>: Positive skew.</a:t>
            </a:r>
          </a:p>
          <a:p>
            <a:pPr algn="just"/>
            <a:r>
              <a:rPr lang="en-US" b="1" dirty="0" err="1"/>
              <a:t>Skewness</a:t>
            </a:r>
            <a:r>
              <a:rPr lang="en-US" b="1" dirty="0"/>
              <a:t> &lt; 0</a:t>
            </a:r>
            <a:r>
              <a:rPr lang="en-US" dirty="0"/>
              <a:t>: Negative skew.</a:t>
            </a:r>
          </a:p>
          <a:p>
            <a:pPr algn="just"/>
            <a:r>
              <a:rPr lang="en-US" b="1" dirty="0" err="1"/>
              <a:t>Skewness</a:t>
            </a:r>
            <a:r>
              <a:rPr lang="en-US" b="1" dirty="0"/>
              <a:t> ≈ 0</a:t>
            </a:r>
            <a:r>
              <a:rPr lang="en-US" dirty="0"/>
              <a:t>: Symmetrical distribution.</a:t>
            </a:r>
          </a:p>
          <a:p>
            <a:pPr algn="just"/>
            <a:r>
              <a:rPr lang="en-US" b="1" dirty="0"/>
              <a:t>Applications of </a:t>
            </a:r>
            <a:r>
              <a:rPr lang="en-US" b="1" dirty="0" err="1"/>
              <a:t>Skewness</a:t>
            </a:r>
            <a:endParaRPr lang="en-US" b="1" dirty="0"/>
          </a:p>
          <a:p>
            <a:pPr algn="just"/>
            <a:r>
              <a:rPr lang="en-US" dirty="0"/>
              <a:t>Helps in identifying trends in data.</a:t>
            </a:r>
          </a:p>
          <a:p>
            <a:pPr algn="just"/>
            <a:r>
              <a:rPr lang="en-US" dirty="0"/>
              <a:t>Guides decision-making in finance, economics, and research by highlighting data asymmetry.</a:t>
            </a:r>
          </a:p>
          <a:p>
            <a:pPr algn="just"/>
            <a:r>
              <a:rPr lang="en-US" dirty="0"/>
              <a:t>Useful in risk management and forecasting.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287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Test of </a:t>
            </a:r>
            <a:r>
              <a:rPr lang="en-US" sz="3600" b="1" dirty="0" err="1" smtClean="0">
                <a:latin typeface="Times New Roman" pitchFamily="18" charset="0"/>
                <a:cs typeface="Times New Roman" pitchFamily="18" charset="0"/>
              </a:rPr>
              <a:t>Skewness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If the values of Mean, Median &amp; Mode do not coincide (if they are not equal, then it is </a:t>
            </a:r>
            <a:r>
              <a:rPr lang="en-US" dirty="0" err="1" smtClean="0"/>
              <a:t>skewness</a:t>
            </a:r>
            <a:r>
              <a:rPr lang="en-US" dirty="0" smtClean="0"/>
              <a:t>)</a:t>
            </a:r>
          </a:p>
          <a:p>
            <a:pPr algn="just"/>
            <a:r>
              <a:rPr lang="en-US" dirty="0" smtClean="0"/>
              <a:t>The frequency curve of the distribution is not a symmetric bell shaped curve but stretched more towards one side than other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239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Kurtosis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Kurtosis measures the "</a:t>
            </a:r>
            <a:r>
              <a:rPr lang="en-US" dirty="0" err="1"/>
              <a:t>tailedness</a:t>
            </a:r>
            <a:r>
              <a:rPr lang="en-US" dirty="0"/>
              <a:t>" or sharpness of a data distribution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It indicates the </a:t>
            </a:r>
            <a:r>
              <a:rPr lang="en-US" dirty="0" err="1" smtClean="0"/>
              <a:t>peakness</a:t>
            </a:r>
            <a:r>
              <a:rPr lang="en-US" dirty="0" smtClean="0"/>
              <a:t> of the curve</a:t>
            </a:r>
          </a:p>
          <a:p>
            <a:pPr algn="just"/>
            <a:r>
              <a:rPr lang="en-US" dirty="0" smtClean="0"/>
              <a:t>The normal curve is called as </a:t>
            </a:r>
            <a:r>
              <a:rPr lang="en-US" dirty="0" err="1" smtClean="0"/>
              <a:t>Mesokurtic</a:t>
            </a:r>
            <a:endParaRPr lang="en-US" dirty="0" smtClean="0"/>
          </a:p>
          <a:p>
            <a:pPr algn="just"/>
            <a:r>
              <a:rPr lang="en-US" dirty="0" smtClean="0"/>
              <a:t>The highest sharp peak is called as </a:t>
            </a:r>
            <a:r>
              <a:rPr lang="en-US" dirty="0" err="1" smtClean="0"/>
              <a:t>Platonurtic</a:t>
            </a:r>
            <a:endParaRPr lang="en-US" dirty="0" smtClean="0"/>
          </a:p>
          <a:p>
            <a:pPr algn="just"/>
            <a:r>
              <a:rPr lang="en-US" dirty="0" smtClean="0"/>
              <a:t>The more flattened curve is called as Leptokurtic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491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Measure of Dispersion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/>
              <a:t>Measure of Dispersion</a:t>
            </a:r>
            <a:r>
              <a:rPr lang="en-US" dirty="0"/>
              <a:t> refers to how spread out or varied the data is. It shows how much individual data points differ from the central value (mean, median, or mode).</a:t>
            </a:r>
          </a:p>
        </p:txBody>
      </p:sp>
    </p:spTree>
    <p:extLst>
      <p:ext uri="{BB962C8B-B14F-4D97-AF65-F5344CB8AC3E}">
        <p14:creationId xmlns:p14="http://schemas.microsoft.com/office/powerpoint/2010/main" val="1163523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Key Measures of 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Dispersion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782" y="1600200"/>
            <a:ext cx="8285018" cy="4525963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Range:</a:t>
            </a:r>
            <a:endParaRPr lang="en-US" dirty="0"/>
          </a:p>
          <a:p>
            <a:pPr algn="just"/>
            <a:r>
              <a:rPr lang="en-US" dirty="0"/>
              <a:t>The difference between the highest and lowest values in a dataset.</a:t>
            </a:r>
          </a:p>
          <a:p>
            <a:pPr algn="just"/>
            <a:r>
              <a:rPr lang="en-US" b="1" dirty="0"/>
              <a:t>Formula:</a:t>
            </a:r>
            <a:r>
              <a:rPr lang="en-US" dirty="0"/>
              <a:t> </a:t>
            </a:r>
            <a:endParaRPr lang="en-US" dirty="0" smtClean="0"/>
          </a:p>
          <a:p>
            <a:pPr algn="just"/>
            <a:r>
              <a:rPr lang="en-US" dirty="0"/>
              <a:t>Range=Highest value−Lowest value</a:t>
            </a:r>
          </a:p>
          <a:p>
            <a:pPr algn="just"/>
            <a:r>
              <a:rPr lang="en-US" dirty="0" smtClean="0"/>
              <a:t>Example</a:t>
            </a:r>
            <a:r>
              <a:rPr lang="en-US" dirty="0"/>
              <a:t>: In the set {2, 4, 7, 10}, the range is 10−2=810 - 2 = 810−2=8.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687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Variance:</a:t>
            </a:r>
            <a:endParaRPr lang="en-US" dirty="0"/>
          </a:p>
          <a:p>
            <a:r>
              <a:rPr lang="en-US" dirty="0"/>
              <a:t>Measures the average squared deviation from the mean.</a:t>
            </a:r>
          </a:p>
          <a:p>
            <a:r>
              <a:rPr lang="en-US" dirty="0"/>
              <a:t>A larger variance means the data is more spread out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/>
              <a:t>Standard Deviation:</a:t>
            </a:r>
            <a:endParaRPr lang="en-US" dirty="0"/>
          </a:p>
          <a:p>
            <a:r>
              <a:rPr lang="en-US" dirty="0"/>
              <a:t>The square root of variance. It shows the average distance of each data point from the mean.</a:t>
            </a:r>
          </a:p>
          <a:p>
            <a:r>
              <a:rPr lang="en-US" b="1" dirty="0" smtClean="0"/>
              <a:t>Formula:</a:t>
            </a:r>
          </a:p>
          <a:p>
            <a:r>
              <a:rPr lang="en-US" dirty="0" smtClean="0"/>
              <a:t>Standard deviation =square root Variance​</a:t>
            </a:r>
            <a:endParaRPr lang="en-US" dirty="0"/>
          </a:p>
          <a:p>
            <a:r>
              <a:rPr lang="en-US" dirty="0"/>
              <a:t>Example: If the standard deviation is 3, most data points are within 3 units from the mean.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230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Why It’s Important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Helps understand how consistent or spread out data is.</a:t>
            </a:r>
          </a:p>
          <a:p>
            <a:pPr algn="just"/>
            <a:r>
              <a:rPr lang="en-US" dirty="0"/>
              <a:t>Larger dispersion means more variability, while smaller dispersion means the data points are closer to the mean.</a:t>
            </a:r>
          </a:p>
          <a:p>
            <a:pPr algn="just"/>
            <a:r>
              <a:rPr lang="en-US" dirty="0"/>
              <a:t>In simple terms, </a:t>
            </a:r>
            <a:r>
              <a:rPr lang="en-US" b="1" dirty="0"/>
              <a:t>dispersion</a:t>
            </a:r>
            <a:r>
              <a:rPr lang="en-US" dirty="0"/>
              <a:t> tells us whether the data is tightly packed or widely spread out.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155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645</Words>
  <Application>Microsoft Office PowerPoint</Application>
  <PresentationFormat>On-screen Show (4:3)</PresentationFormat>
  <Paragraphs>64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Skewness</vt:lpstr>
      <vt:lpstr>PowerPoint Presentation</vt:lpstr>
      <vt:lpstr>Types of Skewness</vt:lpstr>
      <vt:lpstr>PowerPoint Presentation</vt:lpstr>
      <vt:lpstr>PowerPoint Presentation</vt:lpstr>
      <vt:lpstr>Test of Skewness</vt:lpstr>
      <vt:lpstr>Kurtosis</vt:lpstr>
      <vt:lpstr>Measure of Dispersion</vt:lpstr>
      <vt:lpstr>Key Measures of Dispersion</vt:lpstr>
      <vt:lpstr>PowerPoint Presentation</vt:lpstr>
      <vt:lpstr>Why It’s Important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Skewness</dc:title>
  <dc:creator>lenovo</dc:creator>
  <cp:lastModifiedBy>lenovo</cp:lastModifiedBy>
  <cp:revision>17</cp:revision>
  <dcterms:created xsi:type="dcterms:W3CDTF">2006-08-16T00:00:00Z</dcterms:created>
  <dcterms:modified xsi:type="dcterms:W3CDTF">2024-12-04T17:11:20Z</dcterms:modified>
</cp:coreProperties>
</file>