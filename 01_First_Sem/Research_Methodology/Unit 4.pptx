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endParaRPr lang="en-US" sz="3600" dirty="0" smtClean="0">
              <a:latin typeface="Algerian" pitchFamily="82" charset="0"/>
            </a:endParaRPr>
          </a:p>
          <a:p>
            <a:pPr marL="0" indent="0" algn="ctr">
              <a:buNone/>
            </a:pPr>
            <a:r>
              <a:rPr lang="en-US" sz="3600" dirty="0" smtClean="0">
                <a:latin typeface="Algerian" pitchFamily="82" charset="0"/>
              </a:rPr>
              <a:t>Report </a:t>
            </a:r>
            <a:r>
              <a:rPr lang="en-US" sz="3600" dirty="0">
                <a:latin typeface="Algerian" pitchFamily="82" charset="0"/>
              </a:rPr>
              <a:t>Writing &amp; Ethical Considerations in Research </a:t>
            </a:r>
            <a:r>
              <a:rPr lang="en-US" sz="3600" dirty="0" smtClean="0">
                <a:latin typeface="Algerian" pitchFamily="82" charset="0"/>
              </a:rPr>
              <a:t>Design</a:t>
            </a:r>
          </a:p>
          <a:p>
            <a:pPr marL="0" indent="0" algn="ctr">
              <a:buNone/>
            </a:pPr>
            <a:r>
              <a:rPr lang="en-US" sz="3600" dirty="0" smtClean="0">
                <a:latin typeface="Algerian" pitchFamily="82" charset="0"/>
              </a:rPr>
              <a:t>Unit-4</a:t>
            </a:r>
          </a:p>
          <a:p>
            <a:pPr marL="0" indent="0" algn="ctr">
              <a:buNone/>
            </a:pPr>
            <a:endParaRPr lang="en-US" sz="3600" dirty="0" smtClean="0">
              <a:latin typeface="Algerian" pitchFamily="82" charset="0"/>
            </a:endParaRPr>
          </a:p>
          <a:p>
            <a:pPr marL="0" indent="0" algn="ctr">
              <a:buNone/>
            </a:pPr>
            <a:r>
              <a:rPr lang="en-US" sz="3600" dirty="0" smtClean="0">
                <a:latin typeface="Algerian" pitchFamily="82" charset="0"/>
              </a:rPr>
              <a:t>MBA Department, </a:t>
            </a:r>
            <a:r>
              <a:rPr lang="en-US" sz="3600" dirty="0">
                <a:latin typeface="Algerian" pitchFamily="82" charset="0"/>
              </a:rPr>
              <a:t>PES’s Modern College of </a:t>
            </a:r>
            <a:r>
              <a:rPr lang="en-US" sz="3600" dirty="0" smtClean="0">
                <a:latin typeface="Algerian" pitchFamily="82" charset="0"/>
              </a:rPr>
              <a:t>Engineering.</a:t>
            </a:r>
          </a:p>
          <a:p>
            <a:pPr marL="0" indent="0" algn="ctr">
              <a:buNone/>
            </a:pPr>
            <a:endParaRPr lang="en-US" sz="3600" dirty="0" smtClean="0">
              <a:latin typeface="Algerian" pitchFamily="82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Algerian" pitchFamily="82" charset="0"/>
              </a:rPr>
              <a:t>Presentation by Dr. </a:t>
            </a:r>
            <a:r>
              <a:rPr lang="en-US" sz="3600" dirty="0" err="1">
                <a:latin typeface="Algerian" pitchFamily="82" charset="0"/>
              </a:rPr>
              <a:t>Deepali</a:t>
            </a:r>
            <a:r>
              <a:rPr lang="en-US" sz="3600" dirty="0">
                <a:latin typeface="Algerian" pitchFamily="82" charset="0"/>
              </a:rPr>
              <a:t> </a:t>
            </a:r>
            <a:r>
              <a:rPr lang="en-US" sz="3600" dirty="0" err="1">
                <a:latin typeface="Algerian" pitchFamily="82" charset="0"/>
              </a:rPr>
              <a:t>Ubale</a:t>
            </a:r>
            <a:endParaRPr lang="en-US" sz="36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Introduction to Report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Definition:</a:t>
            </a:r>
            <a:r>
              <a:rPr lang="en-US" dirty="0"/>
              <a:t> Organized and structured way of presenting research findings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Significance: </a:t>
            </a:r>
            <a:r>
              <a:rPr lang="en-US" dirty="0" smtClean="0"/>
              <a:t>Facilitates </a:t>
            </a:r>
            <a:r>
              <a:rPr lang="en-US" dirty="0"/>
              <a:t>decision-making.</a:t>
            </a:r>
          </a:p>
          <a:p>
            <a:pPr algn="just"/>
            <a:r>
              <a:rPr lang="en-US" dirty="0"/>
              <a:t>Provides a record of research.</a:t>
            </a:r>
          </a:p>
          <a:p>
            <a:pPr algn="just"/>
            <a:r>
              <a:rPr lang="en-US" dirty="0"/>
              <a:t>Enhances knowledge dissemination.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060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Steps in Report </a:t>
            </a:r>
            <a:r>
              <a:rPr lang="en-US" sz="3600" dirty="0" smtClean="0"/>
              <a:t>Writing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1:</a:t>
            </a:r>
            <a:r>
              <a:rPr lang="en-US" dirty="0"/>
              <a:t> Identifying the Purpose </a:t>
            </a:r>
            <a:r>
              <a:rPr lang="en-US" dirty="0" smtClean="0"/>
              <a:t>and Audience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Step </a:t>
            </a:r>
            <a:r>
              <a:rPr lang="en-US" b="1" dirty="0"/>
              <a:t>2:</a:t>
            </a:r>
            <a:r>
              <a:rPr lang="en-US" dirty="0"/>
              <a:t> Research Planning and Data Collection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Step </a:t>
            </a:r>
            <a:r>
              <a:rPr lang="en-US" b="1" dirty="0"/>
              <a:t>3:</a:t>
            </a:r>
            <a:r>
              <a:rPr lang="en-US" dirty="0"/>
              <a:t> Organizing Information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Step </a:t>
            </a:r>
            <a:r>
              <a:rPr lang="en-US" b="1" dirty="0"/>
              <a:t>4:</a:t>
            </a:r>
            <a:r>
              <a:rPr lang="en-US" dirty="0"/>
              <a:t> Drafting the Report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Step </a:t>
            </a:r>
            <a:r>
              <a:rPr lang="en-US" b="1" dirty="0"/>
              <a:t>5:</a:t>
            </a:r>
            <a:r>
              <a:rPr lang="en-US" dirty="0"/>
              <a:t> Reviewing and Revising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Step </a:t>
            </a:r>
            <a:r>
              <a:rPr lang="en-US" b="1" dirty="0"/>
              <a:t>6:</a:t>
            </a:r>
            <a:r>
              <a:rPr lang="en-US" dirty="0"/>
              <a:t> Finalizing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23188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Types of </a:t>
            </a:r>
            <a:r>
              <a:rPr lang="en-US" sz="3600" dirty="0" smtClean="0"/>
              <a:t>Reports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/>
            <a:r>
              <a:rPr lang="en-US" b="1" dirty="0" smtClean="0"/>
              <a:t>Formal </a:t>
            </a:r>
            <a:r>
              <a:rPr lang="en-US" b="1" dirty="0"/>
              <a:t>Reports:</a:t>
            </a:r>
            <a:r>
              <a:rPr lang="en-US" dirty="0"/>
              <a:t> In-depth and long (e.g., Annual Reports).</a:t>
            </a:r>
          </a:p>
          <a:p>
            <a:pPr algn="just"/>
            <a:r>
              <a:rPr lang="en-US" b="1" dirty="0"/>
              <a:t>Informal Reports:</a:t>
            </a:r>
            <a:r>
              <a:rPr lang="en-US" dirty="0"/>
              <a:t> Brief and internal communication (e.g., Memos).</a:t>
            </a:r>
          </a:p>
          <a:p>
            <a:pPr algn="just"/>
            <a:r>
              <a:rPr lang="en-US" b="1" dirty="0"/>
              <a:t>Technical Reports:</a:t>
            </a:r>
            <a:r>
              <a:rPr lang="en-US" dirty="0"/>
              <a:t> Detailed technical findings.</a:t>
            </a:r>
          </a:p>
          <a:p>
            <a:pPr algn="just"/>
            <a:r>
              <a:rPr lang="en-US" b="1" dirty="0"/>
              <a:t>Research Reports:</a:t>
            </a:r>
            <a:r>
              <a:rPr lang="en-US" dirty="0"/>
              <a:t> Academic or scientific findings.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2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Writing </a:t>
            </a:r>
            <a:r>
              <a:rPr lang="en-US" sz="3200" dirty="0" smtClean="0"/>
              <a:t>Mechanics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6462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Language</a:t>
            </a:r>
            <a:r>
              <a:rPr lang="en-US" b="1" dirty="0"/>
              <a:t>:</a:t>
            </a:r>
            <a:r>
              <a:rPr lang="en-US" dirty="0"/>
              <a:t> Clear, concise, and grammatically correct.</a:t>
            </a:r>
          </a:p>
          <a:p>
            <a:r>
              <a:rPr lang="en-US" b="1" dirty="0"/>
              <a:t>Structure:</a:t>
            </a:r>
            <a:endParaRPr lang="en-US" dirty="0"/>
          </a:p>
          <a:p>
            <a:pPr lvl="1"/>
            <a:r>
              <a:rPr lang="en-US" dirty="0"/>
              <a:t>Title Page</a:t>
            </a:r>
          </a:p>
          <a:p>
            <a:pPr lvl="1"/>
            <a:r>
              <a:rPr lang="en-US" dirty="0"/>
              <a:t>Table of Contents</a:t>
            </a:r>
          </a:p>
          <a:p>
            <a:pPr lvl="1"/>
            <a:r>
              <a:rPr lang="en-US" dirty="0"/>
              <a:t>Executive Summary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Findings and Analysis</a:t>
            </a:r>
          </a:p>
          <a:p>
            <a:pPr lvl="1"/>
            <a:r>
              <a:rPr lang="en-US" dirty="0"/>
              <a:t>Conclusion and Recommendations</a:t>
            </a:r>
          </a:p>
          <a:p>
            <a:pPr lvl="1"/>
            <a:r>
              <a:rPr lang="en-US" dirty="0"/>
              <a:t>References</a:t>
            </a:r>
          </a:p>
          <a:p>
            <a:r>
              <a:rPr lang="en-US" b="1" dirty="0"/>
              <a:t>Formatting:</a:t>
            </a:r>
            <a:r>
              <a:rPr lang="en-US" dirty="0"/>
              <a:t> Font size, alignment, and visuals (graphs, charts).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60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Oral Presentation of </a:t>
            </a:r>
            <a:r>
              <a:rPr lang="en-US" sz="3200" dirty="0" smtClean="0"/>
              <a:t>Reports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just"/>
            <a:r>
              <a:rPr lang="en-US" b="1" dirty="0" smtClean="0"/>
              <a:t>Importance</a:t>
            </a:r>
            <a:r>
              <a:rPr lang="en-US" b="1" dirty="0"/>
              <a:t>:</a:t>
            </a:r>
            <a:r>
              <a:rPr lang="en-US" dirty="0"/>
              <a:t> Effective communication of findings.</a:t>
            </a:r>
          </a:p>
          <a:p>
            <a:pPr algn="just"/>
            <a:r>
              <a:rPr lang="en-US" b="1" dirty="0"/>
              <a:t>Techniques:</a:t>
            </a:r>
            <a:endParaRPr lang="en-US" dirty="0"/>
          </a:p>
          <a:p>
            <a:pPr lvl="1" algn="just"/>
            <a:r>
              <a:rPr lang="en-US" dirty="0"/>
              <a:t>Structure your presentation.</a:t>
            </a:r>
          </a:p>
          <a:p>
            <a:pPr lvl="1" algn="just"/>
            <a:r>
              <a:rPr lang="en-US" dirty="0"/>
              <a:t>Use visuals (slides, </a:t>
            </a:r>
            <a:r>
              <a:rPr lang="en-US" dirty="0" err="1"/>
              <a:t>infographics</a:t>
            </a:r>
            <a:r>
              <a:rPr lang="en-US" dirty="0"/>
              <a:t>).</a:t>
            </a:r>
          </a:p>
          <a:p>
            <a:pPr lvl="1" algn="just"/>
            <a:r>
              <a:rPr lang="en-US" dirty="0"/>
              <a:t>Engage the audience with questions and clear delivery.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94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Ethical Considerations in Research </a:t>
            </a:r>
            <a:r>
              <a:rPr lang="en-US" sz="3600" dirty="0" smtClean="0"/>
              <a:t>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534400" cy="56388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Ethical considerations in research design are the foundational principles that govern how research should be conducted to ensure:</a:t>
            </a:r>
          </a:p>
          <a:p>
            <a:r>
              <a:rPr lang="en-US" b="1" dirty="0"/>
              <a:t>Integrity:</a:t>
            </a:r>
            <a:r>
              <a:rPr lang="en-US" dirty="0"/>
              <a:t> Adherence to moral and professional standards in every phase of the research.</a:t>
            </a:r>
          </a:p>
          <a:p>
            <a:r>
              <a:rPr lang="en-US" b="1" dirty="0"/>
              <a:t>Honesty:</a:t>
            </a:r>
            <a:r>
              <a:rPr lang="en-US" dirty="0"/>
              <a:t> Accurate representation of findings without manipulation or fabrication.</a:t>
            </a:r>
          </a:p>
          <a:p>
            <a:r>
              <a:rPr lang="en-US" b="1" dirty="0"/>
              <a:t>Respect:</a:t>
            </a:r>
            <a:r>
              <a:rPr lang="en-US" dirty="0"/>
              <a:t> Safeguarding the dignity, rights, and welfare of all participants involved in the research.</a:t>
            </a:r>
          </a:p>
        </p:txBody>
      </p:sp>
    </p:spTree>
    <p:extLst>
      <p:ext uri="{BB962C8B-B14F-4D97-AF65-F5344CB8AC3E}">
        <p14:creationId xmlns:p14="http://schemas.microsoft.com/office/powerpoint/2010/main" val="17512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01980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/>
              <a:t>Importance</a:t>
            </a:r>
          </a:p>
          <a:p>
            <a:pPr marL="0" indent="0" algn="just">
              <a:buNone/>
            </a:pPr>
            <a:r>
              <a:rPr lang="en-US" sz="2800" b="1" dirty="0" smtClean="0"/>
              <a:t>1. Protects </a:t>
            </a:r>
            <a:r>
              <a:rPr lang="en-US" sz="2800" b="1" dirty="0"/>
              <a:t>Participants and Data</a:t>
            </a:r>
            <a:endParaRPr lang="en-US" sz="2800" dirty="0"/>
          </a:p>
          <a:p>
            <a:pPr lvl="1" algn="just"/>
            <a:r>
              <a:rPr lang="en-US" b="1" dirty="0"/>
              <a:t>Informed Consent:</a:t>
            </a:r>
            <a:r>
              <a:rPr lang="en-US" dirty="0"/>
              <a:t> Participants should be fully informed about the research objectives, methods, potential risks, and benefits before agreeing to take part.</a:t>
            </a:r>
          </a:p>
          <a:p>
            <a:pPr lvl="1" algn="just"/>
            <a:r>
              <a:rPr lang="en-US" b="1" dirty="0"/>
              <a:t>Confidentiality:</a:t>
            </a:r>
            <a:r>
              <a:rPr lang="en-US" dirty="0"/>
              <a:t> Safeguarding personal data and ensuring it is used solely for research purposes.</a:t>
            </a:r>
          </a:p>
          <a:p>
            <a:pPr lvl="1" algn="just"/>
            <a:r>
              <a:rPr lang="en-US" b="1" dirty="0"/>
              <a:t>Minimizing Harm:</a:t>
            </a:r>
            <a:r>
              <a:rPr lang="en-US" dirty="0"/>
              <a:t> Ensuring physical, psychological, or emotional risks to participants are minimized.</a:t>
            </a:r>
          </a:p>
          <a:p>
            <a:pPr lvl="1" algn="just"/>
            <a:r>
              <a:rPr lang="en-US" b="1" dirty="0"/>
              <a:t>Voluntary Participation:</a:t>
            </a:r>
            <a:r>
              <a:rPr lang="en-US" dirty="0"/>
              <a:t> Allowing participants the right to withdraw from the study at any time without penalties.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1511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2. Maintains </a:t>
            </a:r>
            <a:r>
              <a:rPr lang="en-US" b="1" dirty="0"/>
              <a:t>Researcher Credibility</a:t>
            </a:r>
            <a:endParaRPr lang="en-US" dirty="0"/>
          </a:p>
          <a:p>
            <a:pPr algn="just"/>
            <a:r>
              <a:rPr lang="en-US" b="1" dirty="0"/>
              <a:t>Transparency:</a:t>
            </a:r>
            <a:r>
              <a:rPr lang="en-US" dirty="0"/>
              <a:t> Clearly documenting methodologies and acknowledging all sources to avoid plagiarism.</a:t>
            </a:r>
          </a:p>
          <a:p>
            <a:pPr algn="just"/>
            <a:r>
              <a:rPr lang="en-US" b="1" dirty="0"/>
              <a:t>Accountability:</a:t>
            </a:r>
            <a:r>
              <a:rPr lang="en-US" dirty="0"/>
              <a:t> Researchers should take responsibility for their actions and decisions throughout the research process.</a:t>
            </a:r>
          </a:p>
          <a:p>
            <a:pPr algn="just"/>
            <a:r>
              <a:rPr lang="en-US" b="1" dirty="0"/>
              <a:t>Professional Reputation:</a:t>
            </a:r>
            <a:r>
              <a:rPr lang="en-US" dirty="0"/>
              <a:t> Ethical behavior enhances trust among peers, stakeholders, and the research community.</a:t>
            </a:r>
          </a:p>
          <a:p>
            <a:pPr algn="just"/>
            <a:r>
              <a:rPr lang="en-US" b="1" dirty="0"/>
              <a:t>Compliance with Regulations:</a:t>
            </a:r>
            <a:r>
              <a:rPr lang="en-US" dirty="0"/>
              <a:t> Adhering to ethical guidelines from institutional review boards (IRBs) or ethical committees to avoid legal or professional repercussions.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2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3. Upholds </a:t>
            </a:r>
            <a:r>
              <a:rPr lang="en-US" b="1" dirty="0"/>
              <a:t>the Value of Findings</a:t>
            </a:r>
            <a:endParaRPr lang="en-US" dirty="0"/>
          </a:p>
          <a:p>
            <a:pPr lvl="1"/>
            <a:r>
              <a:rPr lang="en-US" b="1" dirty="0"/>
              <a:t>Reliability of Results:</a:t>
            </a:r>
            <a:r>
              <a:rPr lang="en-US" dirty="0"/>
              <a:t> Ethical practices ensure data is accurate, unbiased, and replicable, making the findings trustworthy.</a:t>
            </a:r>
          </a:p>
          <a:p>
            <a:pPr lvl="1"/>
            <a:r>
              <a:rPr lang="en-US" b="1" dirty="0"/>
              <a:t>Social Impact:</a:t>
            </a:r>
            <a:r>
              <a:rPr lang="en-US" dirty="0"/>
              <a:t> Research conducted ethically has the potential to contribute positively to society without causing harm.</a:t>
            </a:r>
          </a:p>
          <a:p>
            <a:pPr lvl="1"/>
            <a:r>
              <a:rPr lang="en-US" b="1" dirty="0"/>
              <a:t>Avoiding Misuse:</a:t>
            </a:r>
            <a:r>
              <a:rPr lang="en-US" dirty="0"/>
              <a:t> Preventing results from being distorted or misapplied in harmful or unethical ways.</a:t>
            </a:r>
          </a:p>
          <a:p>
            <a:pPr lvl="1"/>
            <a:r>
              <a:rPr lang="en-US" b="1" dirty="0"/>
              <a:t>Scientific Progress:</a:t>
            </a:r>
            <a:r>
              <a:rPr lang="en-US" dirty="0"/>
              <a:t> Fosters a culture of integrity that supports meaningful advancements in knowledge and innovation.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38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143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/>
              <a:t>Intellectual Property Rights (IPR)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Introduction to IPR</a:t>
            </a:r>
          </a:p>
          <a:p>
            <a:pPr algn="just"/>
            <a:r>
              <a:rPr lang="en-US" sz="2400" b="1" dirty="0"/>
              <a:t>Definition:</a:t>
            </a:r>
            <a:r>
              <a:rPr lang="en-US" sz="2400" dirty="0"/>
              <a:t> Intellectual Property Rights (IPR) are legal rights granted to creators and inventors to protect their innovations and creations of the mind.</a:t>
            </a:r>
          </a:p>
          <a:p>
            <a:pPr algn="just"/>
            <a:r>
              <a:rPr lang="en-US" sz="2400" b="1" dirty="0"/>
              <a:t>Purpose:</a:t>
            </a:r>
            <a:endParaRPr lang="en-US" sz="2400" dirty="0"/>
          </a:p>
          <a:p>
            <a:pPr lvl="1" algn="just"/>
            <a:r>
              <a:rPr lang="en-US" sz="2400" dirty="0"/>
              <a:t>To encourage creativity and innovation by granting exclusive rights.</a:t>
            </a:r>
          </a:p>
          <a:p>
            <a:pPr lvl="1" algn="just"/>
            <a:r>
              <a:rPr lang="en-US" sz="2400" dirty="0"/>
              <a:t>To ensure creators can benefit financially or </a:t>
            </a:r>
            <a:r>
              <a:rPr lang="en-US" sz="2400" dirty="0" err="1"/>
              <a:t>reputationally</a:t>
            </a:r>
            <a:r>
              <a:rPr lang="en-US" sz="2400" dirty="0"/>
              <a:t> from their work.</a:t>
            </a:r>
          </a:p>
          <a:p>
            <a:pPr lvl="1" algn="just"/>
            <a:r>
              <a:rPr lang="en-US" sz="2400" dirty="0"/>
              <a:t>To provide legal protection against unauthorized use or exploitation of intellectual property (IP).</a:t>
            </a:r>
          </a:p>
          <a:p>
            <a:pPr algn="just"/>
            <a:r>
              <a:rPr lang="en-US" sz="2400" b="1" dirty="0"/>
              <a:t>Scope of IPR:</a:t>
            </a:r>
            <a:r>
              <a:rPr lang="en-US" sz="2400" dirty="0"/>
              <a:t> Applies to artistic, scientific, industrial, and technological creations, fostering a fair and competitive economy.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351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14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/>
              <a:t>Key Types of Intellectual Property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449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+mj-lt"/>
              </a:rPr>
              <a:t>1. Patents</a:t>
            </a:r>
            <a:r>
              <a:rPr lang="en-US" sz="2800" b="1" dirty="0">
                <a:latin typeface="+mj-lt"/>
              </a:rPr>
              <a:t>: Protecting Inventions</a:t>
            </a:r>
            <a:endParaRPr lang="en-US" sz="2800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Definition:</a:t>
            </a:r>
            <a:r>
              <a:rPr lang="en-US" sz="2800" dirty="0">
                <a:latin typeface="+mj-lt"/>
              </a:rPr>
              <a:t> A patent grants exclusive rights to an inventor for a specified period, allowing them to manufacture, sell, and license their invention.</a:t>
            </a:r>
          </a:p>
          <a:p>
            <a:r>
              <a:rPr lang="en-US" sz="2800" b="1" dirty="0">
                <a:latin typeface="+mj-lt"/>
              </a:rPr>
              <a:t>Examples:</a:t>
            </a:r>
            <a:r>
              <a:rPr lang="en-US" sz="2800" dirty="0">
                <a:latin typeface="+mj-lt"/>
              </a:rPr>
              <a:t> Machines, processes, chemical compositions, and technological innovations (e.g., new pharmaceutical drugs</a:t>
            </a:r>
            <a:r>
              <a:rPr lang="en-US" sz="2800" dirty="0" smtClean="0">
                <a:latin typeface="+mj-lt"/>
              </a:rPr>
              <a:t>).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668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b="1" dirty="0" smtClean="0">
                <a:latin typeface="+mj-lt"/>
              </a:rPr>
              <a:t>Requirements for Patentability:</a:t>
            </a:r>
            <a:endParaRPr lang="en-US" sz="2800" dirty="0" smtClean="0">
              <a:latin typeface="+mj-lt"/>
            </a:endParaRPr>
          </a:p>
          <a:p>
            <a:pPr lvl="1" algn="just"/>
            <a:r>
              <a:rPr lang="en-US" b="1" dirty="0" smtClean="0">
                <a:latin typeface="+mj-lt"/>
              </a:rPr>
              <a:t>Novelty:</a:t>
            </a:r>
            <a:r>
              <a:rPr lang="en-US" dirty="0" smtClean="0">
                <a:latin typeface="+mj-lt"/>
              </a:rPr>
              <a:t> The invention must be new and not previously disclosed.</a:t>
            </a:r>
          </a:p>
          <a:p>
            <a:pPr lvl="1" algn="just"/>
            <a:r>
              <a:rPr lang="en-US" b="1" dirty="0" smtClean="0">
                <a:latin typeface="+mj-lt"/>
              </a:rPr>
              <a:t>Utility:</a:t>
            </a:r>
            <a:r>
              <a:rPr lang="en-US" dirty="0" smtClean="0">
                <a:latin typeface="+mj-lt"/>
              </a:rPr>
              <a:t> The invention must be useful and solve a specific problem.</a:t>
            </a:r>
          </a:p>
          <a:p>
            <a:pPr lvl="1" algn="just"/>
            <a:r>
              <a:rPr lang="en-US" b="1" dirty="0" smtClean="0">
                <a:latin typeface="+mj-lt"/>
              </a:rPr>
              <a:t>Non-Obviousness:</a:t>
            </a:r>
            <a:r>
              <a:rPr lang="en-US" dirty="0" smtClean="0">
                <a:latin typeface="+mj-lt"/>
              </a:rPr>
              <a:t> The invention should not be an obvious improvement to existing technology.</a:t>
            </a:r>
          </a:p>
          <a:p>
            <a:pPr algn="just"/>
            <a:r>
              <a:rPr lang="en-US" sz="2800" b="1" dirty="0" smtClean="0">
                <a:latin typeface="+mj-lt"/>
              </a:rPr>
              <a:t>Duration:</a:t>
            </a:r>
            <a:r>
              <a:rPr lang="en-US" sz="2800" dirty="0" smtClean="0">
                <a:latin typeface="+mj-lt"/>
              </a:rPr>
              <a:t> Generally valid for 20 years from the filing date.</a:t>
            </a:r>
          </a:p>
          <a:p>
            <a:pPr algn="just"/>
            <a:r>
              <a:rPr lang="en-US" sz="2800" b="1" dirty="0" smtClean="0">
                <a:latin typeface="+mj-lt"/>
              </a:rPr>
              <a:t>Importance:</a:t>
            </a:r>
            <a:endParaRPr lang="en-US" sz="2800" dirty="0" smtClean="0">
              <a:latin typeface="+mj-lt"/>
            </a:endParaRPr>
          </a:p>
          <a:p>
            <a:pPr lvl="1" algn="just"/>
            <a:r>
              <a:rPr lang="en-US" dirty="0" smtClean="0">
                <a:latin typeface="+mj-lt"/>
              </a:rPr>
              <a:t>Protects innovation and investments in research and development.</a:t>
            </a:r>
          </a:p>
          <a:p>
            <a:pPr lvl="1" algn="just"/>
            <a:r>
              <a:rPr lang="en-US" dirty="0" smtClean="0">
                <a:latin typeface="+mj-lt"/>
              </a:rPr>
              <a:t>Encourages the sharing of knowledge through public disclosure.</a:t>
            </a:r>
          </a:p>
          <a:p>
            <a:pPr algn="just"/>
            <a:endParaRPr lang="en-US" sz="2800" dirty="0" smtClean="0">
              <a:latin typeface="+mj-lt"/>
            </a:endParaRPr>
          </a:p>
          <a:p>
            <a:pPr algn="just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6578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3246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2. </a:t>
            </a:r>
            <a:r>
              <a:rPr lang="en-US" sz="3100" b="1" dirty="0" smtClean="0"/>
              <a:t>Copyrights</a:t>
            </a:r>
            <a:r>
              <a:rPr lang="en-US" sz="3100" b="1" dirty="0"/>
              <a:t>: Protecting Creative Works</a:t>
            </a:r>
            <a:endParaRPr lang="en-US" sz="3100" dirty="0"/>
          </a:p>
          <a:p>
            <a:pPr algn="just"/>
            <a:r>
              <a:rPr lang="en-US" sz="3100" b="1" dirty="0"/>
              <a:t>Definition:</a:t>
            </a:r>
            <a:r>
              <a:rPr lang="en-US" sz="3100" dirty="0"/>
              <a:t> Copyright provides exclusive rights to authors, artists, and creators for their original works, such as literature, music, films, and software.</a:t>
            </a:r>
          </a:p>
          <a:p>
            <a:pPr algn="just"/>
            <a:r>
              <a:rPr lang="en-US" sz="3100" b="1" dirty="0"/>
              <a:t>Examples:</a:t>
            </a:r>
            <a:endParaRPr lang="en-US" sz="3100" dirty="0"/>
          </a:p>
          <a:p>
            <a:pPr lvl="1" algn="just"/>
            <a:r>
              <a:rPr lang="en-US" sz="3100" dirty="0"/>
              <a:t>Literary works (books, articles).</a:t>
            </a:r>
          </a:p>
          <a:p>
            <a:pPr lvl="1" algn="just"/>
            <a:r>
              <a:rPr lang="en-US" sz="3100" dirty="0"/>
              <a:t>Artistic works (paintings, photographs).</a:t>
            </a:r>
          </a:p>
          <a:p>
            <a:pPr lvl="1" algn="just"/>
            <a:r>
              <a:rPr lang="en-US" sz="3100" dirty="0"/>
              <a:t>Digital content (websites, apps).</a:t>
            </a:r>
          </a:p>
          <a:p>
            <a:pPr algn="just"/>
            <a:r>
              <a:rPr lang="en-US" sz="3100" b="1" dirty="0"/>
              <a:t>Rights Granted:</a:t>
            </a:r>
            <a:endParaRPr lang="en-US" sz="3100" dirty="0"/>
          </a:p>
          <a:p>
            <a:pPr lvl="1" algn="just"/>
            <a:r>
              <a:rPr lang="en-US" sz="3100" dirty="0"/>
              <a:t>Reproduce and distribute the work.</a:t>
            </a:r>
          </a:p>
          <a:p>
            <a:pPr lvl="1" algn="just"/>
            <a:r>
              <a:rPr lang="en-US" sz="3100" dirty="0"/>
              <a:t>Create derivative works.</a:t>
            </a:r>
          </a:p>
          <a:p>
            <a:pPr lvl="1" algn="just"/>
            <a:r>
              <a:rPr lang="en-US" sz="3100" dirty="0"/>
              <a:t>Perform or display the work publicly.</a:t>
            </a:r>
          </a:p>
          <a:p>
            <a:pPr algn="just"/>
            <a:r>
              <a:rPr lang="en-US" sz="3100" b="1" dirty="0"/>
              <a:t>Duration:</a:t>
            </a:r>
            <a:r>
              <a:rPr lang="en-US" sz="3100" dirty="0"/>
              <a:t> Typically lasts for the creator's lifetime plus 50–70 years, depending on the jurisdiction.</a:t>
            </a:r>
          </a:p>
          <a:p>
            <a:pPr algn="just"/>
            <a:r>
              <a:rPr lang="en-US" sz="3100" b="1" dirty="0"/>
              <a:t>Importance:</a:t>
            </a:r>
            <a:r>
              <a:rPr lang="en-US" sz="3100" dirty="0"/>
              <a:t> Ensures that creators can control how their works are used and benefit financially from them.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39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b="1" dirty="0" smtClean="0"/>
              <a:t>3. Trademarks</a:t>
            </a:r>
            <a:r>
              <a:rPr lang="en-US" sz="2300" b="1" dirty="0"/>
              <a:t>: Protecting Brand Identity</a:t>
            </a:r>
            <a:endParaRPr lang="en-US" sz="2300" dirty="0"/>
          </a:p>
          <a:p>
            <a:r>
              <a:rPr lang="en-US" sz="2300" b="1" dirty="0"/>
              <a:t>Definition:</a:t>
            </a:r>
            <a:r>
              <a:rPr lang="en-US" sz="2300" dirty="0"/>
              <a:t> A trademark is a recognizable sign, design, or expression that identifies products or services as originating from a specific company.</a:t>
            </a:r>
          </a:p>
          <a:p>
            <a:r>
              <a:rPr lang="en-US" sz="2300" b="1" dirty="0"/>
              <a:t>Examples:</a:t>
            </a:r>
            <a:endParaRPr lang="en-US" sz="2300" dirty="0"/>
          </a:p>
          <a:p>
            <a:pPr lvl="1"/>
            <a:r>
              <a:rPr lang="en-US" sz="2300" dirty="0"/>
              <a:t>Logos (Nike Swoosh, Apple logo).</a:t>
            </a:r>
          </a:p>
          <a:p>
            <a:pPr lvl="1"/>
            <a:r>
              <a:rPr lang="en-US" sz="2300" dirty="0"/>
              <a:t>Brand names (Coca-Cola, Google).</a:t>
            </a:r>
          </a:p>
          <a:p>
            <a:pPr lvl="1"/>
            <a:r>
              <a:rPr lang="en-US" sz="2300" dirty="0"/>
              <a:t>Slogans (“Just Do It”).</a:t>
            </a:r>
          </a:p>
          <a:p>
            <a:r>
              <a:rPr lang="en-US" sz="2300" b="1" dirty="0"/>
              <a:t>Key Characteristics:</a:t>
            </a:r>
            <a:endParaRPr lang="en-US" sz="2300" dirty="0"/>
          </a:p>
          <a:p>
            <a:pPr lvl="1"/>
            <a:r>
              <a:rPr lang="en-US" sz="2300" dirty="0"/>
              <a:t>Must be distinctive and non-generic.</a:t>
            </a:r>
          </a:p>
          <a:p>
            <a:pPr lvl="1"/>
            <a:r>
              <a:rPr lang="en-US" sz="2300" dirty="0"/>
              <a:t>Can include symbols, words, colors, or sounds associated with a brand.</a:t>
            </a:r>
          </a:p>
          <a:p>
            <a:r>
              <a:rPr lang="en-US" sz="2300" b="1" dirty="0"/>
              <a:t>Duration:</a:t>
            </a:r>
            <a:endParaRPr lang="en-US" sz="2300" dirty="0"/>
          </a:p>
          <a:p>
            <a:pPr lvl="1"/>
            <a:r>
              <a:rPr lang="en-US" sz="2300" dirty="0"/>
              <a:t>Can be renewed indefinitely, usually in 10-year intervals.</a:t>
            </a:r>
          </a:p>
          <a:p>
            <a:r>
              <a:rPr lang="en-US" sz="2300" b="1" dirty="0"/>
              <a:t>Importance:</a:t>
            </a:r>
            <a:endParaRPr lang="en-US" sz="2300" dirty="0"/>
          </a:p>
          <a:p>
            <a:pPr lvl="1"/>
            <a:r>
              <a:rPr lang="en-US" sz="2300" dirty="0"/>
              <a:t>Protects the reputation of businesses and prevents consumer confusion.</a:t>
            </a:r>
          </a:p>
          <a:p>
            <a:pPr lvl="1"/>
            <a:r>
              <a:rPr lang="en-US" sz="2300" dirty="0"/>
              <a:t>Helps businesses differentiate their products in the marketplace.</a:t>
            </a:r>
          </a:p>
          <a:p>
            <a:pPr marL="0" indent="0">
              <a:buNone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010057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154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b="1" dirty="0" smtClean="0"/>
              <a:t>4. Trade </a:t>
            </a:r>
            <a:r>
              <a:rPr lang="en-US" sz="2300" b="1" dirty="0"/>
              <a:t>Secrets: Protecting Confidential Business Information</a:t>
            </a:r>
            <a:endParaRPr lang="en-US" sz="2300" dirty="0"/>
          </a:p>
          <a:p>
            <a:r>
              <a:rPr lang="en-US" sz="2300" b="1" dirty="0"/>
              <a:t>Definition:</a:t>
            </a:r>
            <a:r>
              <a:rPr lang="en-US" sz="2300" dirty="0"/>
              <a:t> Trade secrets refer to practices, processes, formulas, or information that provide a competitive edge and are not disclosed publicly.</a:t>
            </a:r>
          </a:p>
          <a:p>
            <a:r>
              <a:rPr lang="en-US" sz="2300" b="1" dirty="0"/>
              <a:t>Examples:</a:t>
            </a:r>
            <a:endParaRPr lang="en-US" sz="2300" dirty="0"/>
          </a:p>
          <a:p>
            <a:pPr lvl="1"/>
            <a:r>
              <a:rPr lang="en-US" sz="2300" dirty="0"/>
              <a:t>Coca-Cola formula.</a:t>
            </a:r>
          </a:p>
          <a:p>
            <a:pPr lvl="1"/>
            <a:r>
              <a:rPr lang="en-US" sz="2300" dirty="0"/>
              <a:t>Google's search algorithm.</a:t>
            </a:r>
          </a:p>
          <a:p>
            <a:pPr lvl="1"/>
            <a:r>
              <a:rPr lang="en-US" sz="2300" dirty="0"/>
              <a:t>Manufacturing techniques.</a:t>
            </a:r>
          </a:p>
          <a:p>
            <a:r>
              <a:rPr lang="en-US" sz="2300" b="1" dirty="0"/>
              <a:t>Requirements for Protection:</a:t>
            </a:r>
            <a:endParaRPr lang="en-US" sz="2300" dirty="0"/>
          </a:p>
          <a:p>
            <a:pPr lvl="1"/>
            <a:r>
              <a:rPr lang="en-US" sz="2300" dirty="0"/>
              <a:t>Information must be secret and not readily accessible.</a:t>
            </a:r>
          </a:p>
          <a:p>
            <a:pPr lvl="1"/>
            <a:r>
              <a:rPr lang="en-US" sz="2300" dirty="0"/>
              <a:t>Reasonable measures must be taken to maintain secrecy.</a:t>
            </a:r>
          </a:p>
          <a:p>
            <a:r>
              <a:rPr lang="en-US" sz="2300" b="1" dirty="0"/>
              <a:t>Duration:</a:t>
            </a:r>
            <a:r>
              <a:rPr lang="en-US" sz="2300" dirty="0"/>
              <a:t> Protection lasts as long as the information remains confidential.</a:t>
            </a:r>
          </a:p>
          <a:p>
            <a:r>
              <a:rPr lang="en-US" sz="2300" b="1" dirty="0" smtClean="0"/>
              <a:t>Importance:</a:t>
            </a:r>
            <a:endParaRPr lang="en-US" sz="2300" dirty="0"/>
          </a:p>
          <a:p>
            <a:r>
              <a:rPr lang="en-US" sz="2300" dirty="0" smtClean="0"/>
              <a:t>Helps </a:t>
            </a:r>
            <a:r>
              <a:rPr lang="en-US" sz="2300" dirty="0"/>
              <a:t>businesses maintain their competitive </a:t>
            </a:r>
            <a:r>
              <a:rPr lang="en-US" sz="2300" dirty="0" smtClean="0"/>
              <a:t>advantage.</a:t>
            </a:r>
          </a:p>
          <a:p>
            <a:r>
              <a:rPr lang="en-US" sz="2300" dirty="0" smtClean="0"/>
              <a:t>Avoids </a:t>
            </a:r>
            <a:r>
              <a:rPr lang="en-US" sz="2300" dirty="0"/>
              <a:t>unauthorized use or disclosure by competitors or employees.</a:t>
            </a:r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648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28600"/>
            <a:ext cx="8229600" cy="598819"/>
          </a:xfrm>
        </p:spPr>
        <p:txBody>
          <a:bodyPr>
            <a:normAutofit/>
          </a:bodyPr>
          <a:lstStyle/>
          <a:p>
            <a:r>
              <a:rPr lang="en-US" sz="3200" dirty="0"/>
              <a:t>Benefits of IPR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21732"/>
            <a:ext cx="8610600" cy="580766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Encourages innovation and creativity by providing incentives.</a:t>
            </a:r>
          </a:p>
          <a:p>
            <a:pPr algn="just"/>
            <a:r>
              <a:rPr lang="en-US" dirty="0"/>
              <a:t>Enhances economic growth by fostering entrepreneurship.</a:t>
            </a:r>
          </a:p>
          <a:p>
            <a:pPr algn="just"/>
            <a:r>
              <a:rPr lang="en-US" dirty="0"/>
              <a:t>Protects consumers by ensuring authenticity and quality in the marketplace.</a:t>
            </a:r>
          </a:p>
          <a:p>
            <a:pPr algn="just"/>
            <a:r>
              <a:rPr lang="en-US" dirty="0"/>
              <a:t>Promotes international trade by establishing a framework for IP protection across borders.</a:t>
            </a:r>
          </a:p>
          <a:p>
            <a:pPr algn="just"/>
            <a:r>
              <a:rPr lang="en-US" dirty="0"/>
              <a:t>By understanding and leveraging IPR, individuals and businesses can safeguard their creative and innovative endeavors while contributing to societal and technological advancement.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52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7200"/>
            <a:ext cx="8763000" cy="1020762"/>
          </a:xfrm>
        </p:spPr>
        <p:txBody>
          <a:bodyPr>
            <a:noAutofit/>
          </a:bodyPr>
          <a:lstStyle/>
          <a:p>
            <a:r>
              <a:rPr lang="en-US" sz="3600" dirty="0"/>
              <a:t>Ethical Use of Intellectual Property Rights (IPR)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209800"/>
            <a:ext cx="8458200" cy="35814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Ethical use of IPR ensures fair and responsible practices in handling intellectual property, promoting respect for creators’ rights while fostering </a:t>
            </a:r>
            <a:r>
              <a:rPr lang="en-US" dirty="0" smtClean="0"/>
              <a:t>innovation.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3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563562"/>
          </a:xfrm>
        </p:spPr>
        <p:txBody>
          <a:bodyPr>
            <a:noAutofit/>
          </a:bodyPr>
          <a:lstStyle/>
          <a:p>
            <a:r>
              <a:rPr lang="en-US" sz="2400" dirty="0" smtClean="0"/>
              <a:t>1.Avoid </a:t>
            </a:r>
            <a:r>
              <a:rPr lang="en-US" sz="2400" dirty="0"/>
              <a:t>Plagiarism: Ensuring Proper Citations and Originality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8674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smtClean="0"/>
              <a:t>Avoid </a:t>
            </a:r>
            <a:r>
              <a:rPr lang="en-US" sz="2000" b="1" dirty="0"/>
              <a:t>Plagiarism: Ensuring Proper Citations and Originality</a:t>
            </a:r>
          </a:p>
          <a:p>
            <a:pPr algn="just"/>
            <a:r>
              <a:rPr lang="en-US" sz="2000" b="1" dirty="0"/>
              <a:t>Definition of Plagiarism:</a:t>
            </a:r>
            <a:r>
              <a:rPr lang="en-US" sz="2000" dirty="0"/>
              <a:t> Using someone else’s ideas, work, or creations without proper acknowledgment or authorization.</a:t>
            </a:r>
          </a:p>
          <a:p>
            <a:pPr algn="just"/>
            <a:r>
              <a:rPr lang="en-US" sz="2000" b="1" dirty="0"/>
              <a:t>Ethical Practices:</a:t>
            </a:r>
            <a:endParaRPr lang="en-US" sz="2000" dirty="0"/>
          </a:p>
          <a:p>
            <a:pPr lvl="1" algn="just"/>
            <a:r>
              <a:rPr lang="en-US" sz="2000" b="1" dirty="0"/>
              <a:t>Proper Attribution:</a:t>
            </a:r>
            <a:r>
              <a:rPr lang="en-US" sz="2000" dirty="0"/>
              <a:t> Always credit the original creator through citations or references when using copyrighted or patented materials.</a:t>
            </a:r>
          </a:p>
          <a:p>
            <a:pPr lvl="2" algn="just"/>
            <a:r>
              <a:rPr lang="en-US" sz="2000" dirty="0"/>
              <a:t>Example: Academic papers should include citations for all borrowed ideas, graphs, and quotes.</a:t>
            </a:r>
          </a:p>
          <a:p>
            <a:pPr lvl="1" algn="just"/>
            <a:r>
              <a:rPr lang="en-US" sz="2000" b="1" dirty="0"/>
              <a:t>Original Work:</a:t>
            </a:r>
            <a:r>
              <a:rPr lang="en-US" sz="2000" dirty="0"/>
              <a:t> Ensure that your creations—be it inventions, research, or creative content—are genuinely original and not copied from existing works.</a:t>
            </a:r>
          </a:p>
          <a:p>
            <a:pPr lvl="1" algn="just"/>
            <a:r>
              <a:rPr lang="en-US" sz="2000" b="1" dirty="0"/>
              <a:t>Fair Use Doctrine:</a:t>
            </a:r>
            <a:r>
              <a:rPr lang="en-US" sz="2000" dirty="0"/>
              <a:t> Understand and adhere to fair use policies, which allow limited use of copyrighted material for purposes like education or criticism without infringing on rights.</a:t>
            </a:r>
          </a:p>
          <a:p>
            <a:pPr algn="just"/>
            <a:r>
              <a:rPr lang="en-US" sz="2000" b="1" dirty="0"/>
              <a:t>Consequences of Plagiarism:</a:t>
            </a:r>
            <a:endParaRPr lang="en-US" sz="2000" dirty="0"/>
          </a:p>
          <a:p>
            <a:pPr lvl="1" algn="just"/>
            <a:r>
              <a:rPr lang="en-US" sz="2000" dirty="0"/>
              <a:t>Legal repercussions, such as fines or lawsuits.</a:t>
            </a:r>
          </a:p>
          <a:p>
            <a:pPr lvl="1" algn="just"/>
            <a:r>
              <a:rPr lang="en-US" sz="2000" dirty="0"/>
              <a:t>Damage to professional reputation and credibility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9489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261789"/>
            <a:ext cx="8991600" cy="824345"/>
          </a:xfrm>
        </p:spPr>
        <p:txBody>
          <a:bodyPr>
            <a:noAutofit/>
          </a:bodyPr>
          <a:lstStyle/>
          <a:p>
            <a:r>
              <a:rPr lang="en-US" sz="3200" dirty="0" smtClean="0"/>
              <a:t>2. Respect </a:t>
            </a:r>
            <a:r>
              <a:rPr lang="en-US" sz="3200" dirty="0"/>
              <a:t>for Rights: Obtaining Permissions for Copyrighted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8610600" cy="4191000"/>
          </a:xfrm>
        </p:spPr>
        <p:txBody>
          <a:bodyPr/>
          <a:lstStyle/>
          <a:p>
            <a:pPr algn="just"/>
            <a:r>
              <a:rPr lang="en-US" dirty="0" smtClean="0"/>
              <a:t>Why Permissions Are Necessary:</a:t>
            </a:r>
          </a:p>
          <a:p>
            <a:pPr algn="just"/>
            <a:r>
              <a:rPr lang="en-US" dirty="0" smtClean="0"/>
              <a:t>Using copyrighted material (e.g., music, images, software) without authorization breaches the creator’s exclusive rights.</a:t>
            </a:r>
          </a:p>
          <a:p>
            <a:pPr algn="just"/>
            <a:r>
              <a:rPr lang="en-US" dirty="0" smtClean="0"/>
              <a:t>Permissions demonstrate respect for the intellectual effort and financial investment of creators.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64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15400" cy="6553200"/>
          </a:xfrm>
        </p:spPr>
        <p:txBody>
          <a:bodyPr>
            <a:noAutofit/>
          </a:bodyPr>
          <a:lstStyle/>
          <a:p>
            <a:r>
              <a:rPr lang="en-US" sz="2800" b="1" dirty="0"/>
              <a:t>Steps to Use Copyrighted Material Ethically:</a:t>
            </a:r>
            <a:endParaRPr lang="en-US" sz="2800" dirty="0"/>
          </a:p>
          <a:p>
            <a:pPr marL="457200" lvl="1" indent="0">
              <a:buNone/>
            </a:pPr>
            <a:r>
              <a:rPr lang="en-US" b="1" dirty="0"/>
              <a:t>Contact the Copyright Holder:</a:t>
            </a:r>
            <a:r>
              <a:rPr lang="en-US" dirty="0"/>
              <a:t> Obtain explicit permission or licenses to use the </a:t>
            </a:r>
            <a:r>
              <a:rPr lang="en-US" dirty="0" smtClean="0"/>
              <a:t>material.</a:t>
            </a:r>
          </a:p>
          <a:p>
            <a:pPr marL="457200" lvl="1" indent="0">
              <a:buNone/>
            </a:pPr>
            <a:r>
              <a:rPr lang="en-US" sz="2800" dirty="0" smtClean="0"/>
              <a:t>Example</a:t>
            </a:r>
            <a:r>
              <a:rPr lang="en-US" sz="2800" dirty="0"/>
              <a:t>: Request permission to use an artist's photograph in a publication.</a:t>
            </a:r>
          </a:p>
          <a:p>
            <a:pPr marL="457200" lvl="1" indent="0">
              <a:buNone/>
            </a:pPr>
            <a:r>
              <a:rPr lang="en-US" b="1" dirty="0"/>
              <a:t>Use Open-Source or Public Domain Content:</a:t>
            </a:r>
            <a:r>
              <a:rPr lang="en-US" dirty="0"/>
              <a:t> Utilize works that are explicitly released for public use or licensed under Creative Commons.</a:t>
            </a:r>
          </a:p>
          <a:p>
            <a:pPr marL="457200" lvl="1" indent="0">
              <a:buNone/>
            </a:pPr>
            <a:r>
              <a:rPr lang="en-US" b="1" dirty="0"/>
              <a:t>Acknowledgment:</a:t>
            </a:r>
            <a:r>
              <a:rPr lang="en-US" dirty="0"/>
              <a:t> Even with permissions, acknowledge the original creator as a sign of respect.</a:t>
            </a:r>
          </a:p>
          <a:p>
            <a:r>
              <a:rPr lang="en-US" sz="2800" b="1" dirty="0"/>
              <a:t>Consequences of Misuse:</a:t>
            </a: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Legal penalties, including lawsuits and monetary fines.</a:t>
            </a:r>
          </a:p>
          <a:p>
            <a:pPr marL="457200" lvl="1" indent="0">
              <a:buNone/>
            </a:pPr>
            <a:r>
              <a:rPr lang="en-US" dirty="0"/>
              <a:t>Revocation of licenses or restricted access to resources.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47220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91600" cy="64770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 smtClean="0"/>
              <a:t>3. Responsibility</a:t>
            </a:r>
            <a:r>
              <a:rPr lang="en-US" sz="2800" dirty="0"/>
              <a:t>: Balancing Innovation with Ethical </a:t>
            </a:r>
            <a:r>
              <a:rPr lang="en-US" sz="2800" dirty="0" smtClean="0"/>
              <a:t>Usage:</a:t>
            </a:r>
          </a:p>
          <a:p>
            <a:pPr algn="just"/>
            <a:r>
              <a:rPr lang="en-US" sz="2800" b="1" dirty="0"/>
              <a:t>Promoting Innovation While Avoiding </a:t>
            </a:r>
            <a:r>
              <a:rPr lang="en-US" sz="2800" b="1" dirty="0" smtClean="0"/>
              <a:t>Exploitation: </a:t>
            </a:r>
            <a:r>
              <a:rPr lang="en-US" sz="2800" dirty="0" smtClean="0"/>
              <a:t>Innovators </a:t>
            </a:r>
            <a:r>
              <a:rPr lang="en-US" sz="2800" dirty="0"/>
              <a:t>should respect existing IPR while creating new ideas, ensuring that their work doesn’t violate others' rights.</a:t>
            </a:r>
          </a:p>
          <a:p>
            <a:pPr algn="just"/>
            <a:r>
              <a:rPr lang="en-US" sz="2800" dirty="0"/>
              <a:t>Examples of Ethical Innovation:</a:t>
            </a:r>
          </a:p>
          <a:p>
            <a:pPr lvl="1" algn="just"/>
            <a:r>
              <a:rPr lang="en-US" dirty="0"/>
              <a:t>Improving upon existing technologies without duplicating patented methods.</a:t>
            </a:r>
          </a:p>
          <a:p>
            <a:pPr lvl="1" algn="just"/>
            <a:r>
              <a:rPr lang="en-US" dirty="0"/>
              <a:t>Creating derivative works with the original creator’s permission</a:t>
            </a:r>
            <a:r>
              <a:rPr lang="en-US" dirty="0" smtClean="0"/>
              <a:t>.</a:t>
            </a:r>
          </a:p>
          <a:p>
            <a:pPr algn="just"/>
            <a:r>
              <a:rPr lang="en-US" sz="2800" b="1" dirty="0"/>
              <a:t>Avoiding Misuse of IPR Laws:</a:t>
            </a:r>
            <a:endParaRPr lang="en-US" sz="2800" dirty="0"/>
          </a:p>
          <a:p>
            <a:pPr marL="457200" lvl="1" indent="0" algn="just">
              <a:buNone/>
            </a:pPr>
            <a:r>
              <a:rPr lang="en-US" b="1" dirty="0"/>
              <a:t>No Frivolous Patenting:</a:t>
            </a:r>
            <a:r>
              <a:rPr lang="en-US" dirty="0"/>
              <a:t> Do not file patents solely to block competitors or exploit loopholes in the system.</a:t>
            </a:r>
          </a:p>
          <a:p>
            <a:pPr marL="457200" lvl="1" indent="0" algn="just">
              <a:buNone/>
            </a:pPr>
            <a:r>
              <a:rPr lang="en-US" b="1" dirty="0"/>
              <a:t>No Trademark Hoarding:</a:t>
            </a:r>
            <a:r>
              <a:rPr lang="en-US" dirty="0"/>
              <a:t> Avoid registering trademarks unrelated to your business to restrict others unfairly.</a:t>
            </a:r>
          </a:p>
          <a:p>
            <a:pPr lvl="1"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427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86800" cy="58674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 smtClean="0"/>
              <a:t>Sharing </a:t>
            </a:r>
            <a:r>
              <a:rPr lang="en-US" sz="2800" b="1" dirty="0"/>
              <a:t>Knowledge Responsibly:</a:t>
            </a:r>
            <a:endParaRPr lang="en-US" sz="2800" dirty="0"/>
          </a:p>
          <a:p>
            <a:pPr lvl="1" algn="just"/>
            <a:r>
              <a:rPr lang="en-US" dirty="0"/>
              <a:t>While protecting your own IP, consider sharing knowledge for societal benefits.</a:t>
            </a:r>
          </a:p>
          <a:p>
            <a:pPr lvl="2" algn="just"/>
            <a:r>
              <a:rPr lang="en-US" sz="2800" dirty="0"/>
              <a:t>Example: Open patents during emergencies (e.g., COVID-19 vaccines).</a:t>
            </a:r>
          </a:p>
          <a:p>
            <a:pPr algn="just"/>
            <a:r>
              <a:rPr lang="en-US" sz="2800" b="1" dirty="0"/>
              <a:t>Collaboration and Licensing:</a:t>
            </a:r>
            <a:endParaRPr lang="en-US" sz="2800" dirty="0"/>
          </a:p>
          <a:p>
            <a:pPr lvl="1" algn="just"/>
            <a:r>
              <a:rPr lang="en-US" dirty="0"/>
              <a:t>Partner ethically with other organizations to license IP in a way that benefits both parties without exploitation.</a:t>
            </a:r>
          </a:p>
          <a:p>
            <a:pPr lvl="2" algn="just"/>
            <a:r>
              <a:rPr lang="en-US" sz="2800" dirty="0"/>
              <a:t>Example: Technology transfer agreements for sustainable development.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7097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715962"/>
          </a:xfrm>
        </p:spPr>
        <p:txBody>
          <a:bodyPr>
            <a:noAutofit/>
          </a:bodyPr>
          <a:lstStyle/>
          <a:p>
            <a:r>
              <a:rPr lang="en-US" sz="3200" dirty="0" smtClean="0"/>
              <a:t>4.Ethical </a:t>
            </a:r>
            <a:r>
              <a:rPr lang="en-US" sz="3200" dirty="0"/>
              <a:t>Awareness in Digital and Global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562600"/>
          </a:xfrm>
        </p:spPr>
        <p:txBody>
          <a:bodyPr/>
          <a:lstStyle/>
          <a:p>
            <a:pPr algn="just"/>
            <a:r>
              <a:rPr lang="en-US" b="1" dirty="0"/>
              <a:t>Combatting Piracy:</a:t>
            </a:r>
            <a:r>
              <a:rPr lang="en-US" dirty="0"/>
              <a:t> Avoid downloading or distributing unauthorized copies of movies, music, software, or </a:t>
            </a:r>
            <a:r>
              <a:rPr lang="en-US" dirty="0" err="1"/>
              <a:t>books.</a:t>
            </a:r>
            <a:r>
              <a:rPr lang="en-US" b="1" dirty="0" err="1"/>
              <a:t>Data</a:t>
            </a:r>
            <a:r>
              <a:rPr lang="en-US" b="1" dirty="0"/>
              <a:t> Ownership in the Digital Age:</a:t>
            </a:r>
            <a:r>
              <a:rPr lang="en-US" dirty="0"/>
              <a:t> Respect the digital copyrights of online creators, such as bloggers, </a:t>
            </a:r>
            <a:r>
              <a:rPr lang="en-US" dirty="0" err="1"/>
              <a:t>YouTubers</a:t>
            </a:r>
            <a:r>
              <a:rPr lang="en-US" dirty="0"/>
              <a:t>, and software </a:t>
            </a:r>
            <a:r>
              <a:rPr lang="en-US" dirty="0" smtClean="0"/>
              <a:t>developers. </a:t>
            </a:r>
            <a:r>
              <a:rPr lang="en-US" b="1" dirty="0" smtClean="0"/>
              <a:t>Adherence </a:t>
            </a:r>
            <a:r>
              <a:rPr lang="en-US" b="1" dirty="0"/>
              <a:t>to International IP Laws</a:t>
            </a:r>
            <a:r>
              <a:rPr lang="en-US" b="1" dirty="0" smtClean="0"/>
              <a:t>: </a:t>
            </a:r>
            <a:r>
              <a:rPr lang="en-US" dirty="0" smtClean="0"/>
              <a:t>Comply </a:t>
            </a:r>
            <a:r>
              <a:rPr lang="en-US" dirty="0"/>
              <a:t>with the laws of various jurisdictions when operating globally.</a:t>
            </a:r>
          </a:p>
          <a:p>
            <a:pPr algn="just"/>
            <a:r>
              <a:rPr lang="en-US" dirty="0"/>
              <a:t>Ensure patents and trademarks align with international agreements like the TRIPS (Trade-Related Aspects of Intellectual Property Rights).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82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/>
              <a:t>Benefits of Ethical IPR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Encourages a culture of respect and fairness in the creative and innovative ecosystem.</a:t>
            </a:r>
          </a:p>
          <a:p>
            <a:pPr algn="just"/>
            <a:r>
              <a:rPr lang="en-US" dirty="0"/>
              <a:t>Builds trust and credibility among peers, collaborators, and the public.</a:t>
            </a:r>
          </a:p>
          <a:p>
            <a:pPr algn="just"/>
            <a:r>
              <a:rPr lang="en-US" dirty="0"/>
              <a:t>Ensures compliance with laws, preventing legal issues.</a:t>
            </a:r>
          </a:p>
          <a:p>
            <a:pPr algn="just"/>
            <a:r>
              <a:rPr lang="en-US" dirty="0"/>
              <a:t>Supports societal progress by balancing protection with access to knowledge and innovation.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648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000" dirty="0" smtClean="0"/>
          </a:p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r>
              <a:rPr lang="en-IN" sz="4400" i="1" dirty="0" smtClean="0">
                <a:solidFill>
                  <a:srgbClr val="C00000"/>
                </a:solidFill>
                <a:latin typeface="Algerian" panose="04020705040A02060702" pitchFamily="82" charset="0"/>
              </a:rPr>
              <a:t>Thank you</a:t>
            </a:r>
            <a:endParaRPr lang="en-IN" sz="4400" i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93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1774</Words>
  <Application>Microsoft Office PowerPoint</Application>
  <PresentationFormat>On-screen Show (4:3)</PresentationFormat>
  <Paragraphs>180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Algerian</vt:lpstr>
      <vt:lpstr>Arial</vt:lpstr>
      <vt:lpstr>Calibri</vt:lpstr>
      <vt:lpstr>Office Theme</vt:lpstr>
      <vt:lpstr>PowerPoint Presentation</vt:lpstr>
      <vt:lpstr>Introduction to Report Writing</vt:lpstr>
      <vt:lpstr>Steps in Report Writing</vt:lpstr>
      <vt:lpstr>Types of Reports</vt:lpstr>
      <vt:lpstr>Writing Mechanics</vt:lpstr>
      <vt:lpstr>Oral Presentation of Reports</vt:lpstr>
      <vt:lpstr>Ethical Considerations in Research Design</vt:lpstr>
      <vt:lpstr>PowerPoint Presentation</vt:lpstr>
      <vt:lpstr>PowerPoint Presentation</vt:lpstr>
      <vt:lpstr>PowerPoint Presentation</vt:lpstr>
      <vt:lpstr>Intellectual Property Rights (IPR)</vt:lpstr>
      <vt:lpstr>Key Types of Intellectual Property Rights</vt:lpstr>
      <vt:lpstr>PowerPoint Presentation</vt:lpstr>
      <vt:lpstr>PowerPoint Presentation</vt:lpstr>
      <vt:lpstr>PowerPoint Presentation</vt:lpstr>
      <vt:lpstr>PowerPoint Presentation</vt:lpstr>
      <vt:lpstr>Benefits of IPR</vt:lpstr>
      <vt:lpstr>Ethical Use of Intellectual Property Rights (IPR)</vt:lpstr>
      <vt:lpstr>1.Avoid Plagiarism: Ensuring Proper Citations and Originality</vt:lpstr>
      <vt:lpstr>2. Respect for Rights: Obtaining Permissions for Copyrighted Material</vt:lpstr>
      <vt:lpstr>PowerPoint Presentation</vt:lpstr>
      <vt:lpstr>PowerPoint Presentation</vt:lpstr>
      <vt:lpstr>PowerPoint Presentation</vt:lpstr>
      <vt:lpstr>4.Ethical Awareness in Digital and Global Contexts</vt:lpstr>
      <vt:lpstr>Benefits of Ethical IPR Usage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Choudaki, Deepali</cp:lastModifiedBy>
  <cp:revision>16</cp:revision>
  <dcterms:created xsi:type="dcterms:W3CDTF">2006-08-16T00:00:00Z</dcterms:created>
  <dcterms:modified xsi:type="dcterms:W3CDTF">2024-12-17T11:17:06Z</dcterms:modified>
</cp:coreProperties>
</file>